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056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3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4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3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53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59.png"/><Relationship Id="rId4" Type="http://schemas.openxmlformats.org/officeDocument/2006/relationships/image" Target="../media/image4.png"/><Relationship Id="rId9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65.png"/><Relationship Id="rId4" Type="http://schemas.openxmlformats.org/officeDocument/2006/relationships/image" Target="../media/image4.png"/><Relationship Id="rId9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7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3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78.png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4.png"/><Relationship Id="rId9" Type="http://schemas.openxmlformats.org/officeDocument/2006/relationships/image" Target="../media/image6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jpg"/><Relationship Id="rId5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377440"/>
            <a:ext cx="7498080" cy="7498080"/>
          </a:xfrm>
          <a:prstGeom prst="ellipse">
            <a:avLst/>
          </a:prstGeom>
          <a:solidFill>
            <a:srgbClr val="1F6BE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875520" y="2926080"/>
            <a:ext cx="4572000" cy="4572000"/>
          </a:xfrm>
          <a:prstGeom prst="ellipse">
            <a:avLst/>
          </a:prstGeom>
          <a:solidFill>
            <a:srgbClr val="2BA6F0">
              <a:alpha val="1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778240" y="640080"/>
            <a:ext cx="4480560" cy="4480560"/>
          </a:xfrm>
          <a:prstGeom prst="ellipse">
            <a:avLst/>
          </a:prstGeom>
          <a:noFill/>
          <a:ln w="12700">
            <a:solidFill>
              <a:srgbClr val="BCD6FF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sangfo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378805" cy="402336"/>
          </a:xfrm>
          <a:prstGeom prst="rect">
            <a:avLst/>
          </a:prstGeom>
        </p:spPr>
      </p:pic>
      <p:pic>
        <p:nvPicPr>
          <p:cNvPr id="7" name="Image 2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8575" y="475488"/>
            <a:ext cx="1554480" cy="43751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66928" y="2212848"/>
            <a:ext cx="1645920" cy="4572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548640" y="23957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</a:t>
            </a:r>
            <a:r>
              <a:rPr lang="en-US" sz="1550" dirty="0" err="1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渠道合作</a:t>
            </a:r>
            <a:r>
              <a:rPr lang="en-US" sz="15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致深信服渠道伙伴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8640" y="2816352"/>
            <a:ext cx="11338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</a:t>
            </a:r>
            <a:r>
              <a:rPr lang="en-US" sz="60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用到「</a:t>
            </a:r>
            <a:r>
              <a:rPr lang="en-US" sz="6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离不开</a:t>
            </a: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6000" dirty="0"/>
          </a:p>
        </p:txBody>
      </p:sp>
      <p:sp>
        <p:nvSpPr>
          <p:cNvPr id="11" name="Text 6"/>
          <p:cNvSpPr/>
          <p:nvPr/>
        </p:nvSpPr>
        <p:spPr>
          <a:xfrm>
            <a:off x="548640" y="396849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企业真正用起来的标志，是「离不开」—— 而离不开，需要 FDE 扶上马、送一程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4526280"/>
            <a:ext cx="1920240" cy="402336"/>
          </a:xfrm>
          <a:prstGeom prst="roundRect">
            <a:avLst>
              <a:gd name="adj" fmla="val 50000"/>
            </a:avLst>
          </a:prstGeom>
          <a:ln w="12700">
            <a:solidFill>
              <a:srgbClr val="BCD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548640" y="45262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最全 16 模型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2670048" y="4526280"/>
            <a:ext cx="1188720" cy="402336"/>
          </a:xfrm>
          <a:prstGeom prst="roundRect">
            <a:avLst>
              <a:gd name="adj" fmla="val 50000"/>
            </a:avLst>
          </a:prstGeom>
          <a:ln w="12700">
            <a:solidFill>
              <a:srgbClr val="BCD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>
            <a:off x="2670048" y="45262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最低折扣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059936" y="4526280"/>
            <a:ext cx="1371600" cy="402336"/>
          </a:xfrm>
          <a:prstGeom prst="roundRect">
            <a:avLst>
              <a:gd name="adj" fmla="val 50000"/>
            </a:avLst>
          </a:prstGeom>
          <a:ln w="12700">
            <a:solidFill>
              <a:srgbClr val="BCD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2"/>
          <p:cNvSpPr/>
          <p:nvPr/>
        </p:nvSpPr>
        <p:spPr>
          <a:xfrm>
            <a:off x="4059936" y="45262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DCE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最强</a:t>
            </a:r>
            <a:r>
              <a:rPr lang="en-US" sz="1150">
                <a:solidFill>
                  <a:srgbClr val="DCE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S2模型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632704" y="4526280"/>
            <a:ext cx="1554480" cy="402336"/>
          </a:xfrm>
          <a:prstGeom prst="roundRect">
            <a:avLst>
              <a:gd name="adj" fmla="val 50000"/>
            </a:avLst>
          </a:prstGeom>
          <a:ln w="12700">
            <a:solidFill>
              <a:srgbClr val="BCD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5632704" y="45262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陪跑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388352" y="4526280"/>
            <a:ext cx="1188720" cy="402336"/>
          </a:xfrm>
          <a:prstGeom prst="roundRect">
            <a:avLst>
              <a:gd name="adj" fmla="val 50000"/>
            </a:avLst>
          </a:prstGeom>
          <a:ln w="12700">
            <a:solidFill>
              <a:srgbClr val="BCD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7388352" y="45262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852160"/>
            <a:ext cx="11094415" cy="0"/>
          </a:xfrm>
          <a:prstGeom prst="line">
            <a:avLst/>
          </a:prstGeom>
          <a:noFill/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548640" y="6016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  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商汤科技 · 大模型事业群</a:t>
            </a:r>
            <a:r>
              <a:rPr lang="en-US" sz="13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和深信服经销商一起，把 AI Token 卖给每一家企业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9814255" y="6016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A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今天的议程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六个部分 · 从「企业怎么用好 AI」到「渠道怎么一起卖好 AI Token」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737360"/>
            <a:ext cx="5364328" cy="1225296"/>
          </a:xfrm>
          <a:prstGeom prst="roundRect">
            <a:avLst>
              <a:gd name="adj" fmla="val 5970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841248" y="2048256"/>
            <a:ext cx="603504" cy="603504"/>
          </a:xfrm>
          <a:prstGeom prst="ellipse">
            <a:avLst/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>
            <a:off x="841248" y="20391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645920" y="1956816"/>
            <a:ext cx="3261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Token：确定性大势与渠道机会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645920" y="2395728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趋势数据 · 会用淘汰不会用 · 高频高量行业 · 渠道高利润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278728" y="1737360"/>
            <a:ext cx="5364328" cy="1225296"/>
          </a:xfrm>
          <a:prstGeom prst="roundRect">
            <a:avLst>
              <a:gd name="adj" fmla="val 5970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4"/>
          <p:cNvSpPr/>
          <p:nvPr/>
        </p:nvSpPr>
        <p:spPr>
          <a:xfrm>
            <a:off x="6571336" y="2048256"/>
            <a:ext cx="603504" cy="603504"/>
          </a:xfrm>
          <a:prstGeom prst="ellipse">
            <a:avLst/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5"/>
          <p:cNvSpPr/>
          <p:nvPr/>
        </p:nvSpPr>
        <p:spPr>
          <a:xfrm>
            <a:off x="6571336" y="20391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7376008" y="1956816"/>
            <a:ext cx="3261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企业用 AI：避开弯路，走对正路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7376008" y="2395728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老板三误区 · 范式之变 · 选对 agent / 模型 · 三个习惯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48640" y="3163824"/>
            <a:ext cx="5364328" cy="1225296"/>
          </a:xfrm>
          <a:prstGeom prst="roundRect">
            <a:avLst>
              <a:gd name="adj" fmla="val 5970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9"/>
          <p:cNvSpPr/>
          <p:nvPr/>
        </p:nvSpPr>
        <p:spPr>
          <a:xfrm>
            <a:off x="841248" y="3474720"/>
            <a:ext cx="603504" cy="603504"/>
          </a:xfrm>
          <a:prstGeom prst="ellipse">
            <a:avLst/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0"/>
          <p:cNvSpPr/>
          <p:nvPr/>
        </p:nvSpPr>
        <p:spPr>
          <a:xfrm>
            <a:off x="841248" y="34655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1645920" y="3383280"/>
            <a:ext cx="3261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商汤范式与路线图</a:t>
            </a:r>
            <a:endParaRPr lang="en-US" sz="1650" dirty="0"/>
          </a:p>
        </p:txBody>
      </p:sp>
      <p:sp>
        <p:nvSpPr>
          <p:cNvPr id="27" name="Text 22"/>
          <p:cNvSpPr/>
          <p:nvPr/>
        </p:nvSpPr>
        <p:spPr>
          <a:xfrm>
            <a:off x="1645920" y="3822192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算力+模型+平台+Agent 完整闭环 · Token 经济三阶段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278728" y="3163824"/>
            <a:ext cx="5364328" cy="1225296"/>
          </a:xfrm>
          <a:prstGeom prst="roundRect">
            <a:avLst>
              <a:gd name="adj" fmla="val 5970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4"/>
          <p:cNvSpPr/>
          <p:nvPr/>
        </p:nvSpPr>
        <p:spPr>
          <a:xfrm>
            <a:off x="6571336" y="3474720"/>
            <a:ext cx="603504" cy="603504"/>
          </a:xfrm>
          <a:prstGeom prst="ellipse">
            <a:avLst/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5"/>
          <p:cNvSpPr/>
          <p:nvPr/>
        </p:nvSpPr>
        <p:spPr>
          <a:xfrm>
            <a:off x="6571336" y="34655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31" name="Text 26"/>
          <p:cNvSpPr/>
          <p:nvPr/>
        </p:nvSpPr>
        <p:spPr>
          <a:xfrm>
            <a:off x="7376008" y="3383280"/>
            <a:ext cx="3261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Token Plan：最好的「货」</a:t>
            </a:r>
            <a:endParaRPr lang="en-US" sz="1650" dirty="0"/>
          </a:p>
        </p:txBody>
      </p:sp>
      <p:sp>
        <p:nvSpPr>
          <p:cNvPr id="32" name="Text 27"/>
          <p:cNvSpPr/>
          <p:nvPr/>
        </p:nvSpPr>
        <p:spPr>
          <a:xfrm>
            <a:off x="7376008" y="3822192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套餐 · 16 模型 · S2 旗舰 · ABCDE · 横评 · 赚钱算法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48640" y="4590288"/>
            <a:ext cx="5364328" cy="1225296"/>
          </a:xfrm>
          <a:prstGeom prst="roundRect">
            <a:avLst>
              <a:gd name="adj" fmla="val 5970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9"/>
          <p:cNvSpPr/>
          <p:nvPr/>
        </p:nvSpPr>
        <p:spPr>
          <a:xfrm>
            <a:off x="841248" y="4901184"/>
            <a:ext cx="603504" cy="603504"/>
          </a:xfrm>
          <a:prstGeom prst="ellipse">
            <a:avLst/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0"/>
          <p:cNvSpPr/>
          <p:nvPr/>
        </p:nvSpPr>
        <p:spPr>
          <a:xfrm>
            <a:off x="841248" y="4892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36" name="Text 31"/>
          <p:cNvSpPr/>
          <p:nvPr/>
        </p:nvSpPr>
        <p:spPr>
          <a:xfrm>
            <a:off x="1645920" y="4809744"/>
            <a:ext cx="3261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FDE：扶上马，送一程</a:t>
            </a:r>
            <a:endParaRPr lang="en-US" sz="1650" dirty="0"/>
          </a:p>
        </p:txBody>
      </p:sp>
      <p:sp>
        <p:nvSpPr>
          <p:cNvPr id="37" name="Text 32"/>
          <p:cNvSpPr/>
          <p:nvPr/>
        </p:nvSpPr>
        <p:spPr>
          <a:xfrm>
            <a:off x="1645920" y="5248656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六大角色与价值 · 五步落地 · 1:5 杠杆 · 客户成功边界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278728" y="4590288"/>
            <a:ext cx="5364328" cy="1225296"/>
          </a:xfrm>
          <a:prstGeom prst="roundRect">
            <a:avLst>
              <a:gd name="adj" fmla="val 5970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4"/>
          <p:cNvSpPr/>
          <p:nvPr/>
        </p:nvSpPr>
        <p:spPr>
          <a:xfrm>
            <a:off x="6571336" y="4901184"/>
            <a:ext cx="603504" cy="603504"/>
          </a:xfrm>
          <a:prstGeom prst="ellipse">
            <a:avLst/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5"/>
          <p:cNvSpPr/>
          <p:nvPr/>
        </p:nvSpPr>
        <p:spPr>
          <a:xfrm>
            <a:off x="6571336" y="4892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41" name="Text 36"/>
          <p:cNvSpPr/>
          <p:nvPr/>
        </p:nvSpPr>
        <p:spPr>
          <a:xfrm>
            <a:off x="7376008" y="4809744"/>
            <a:ext cx="3261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怎么一起卖、怎么一起赚</a:t>
            </a:r>
            <a:endParaRPr lang="en-US" sz="1650" dirty="0"/>
          </a:p>
        </p:txBody>
      </p:sp>
      <p:sp>
        <p:nvSpPr>
          <p:cNvPr id="42" name="Text 37"/>
          <p:cNvSpPr/>
          <p:nvPr/>
        </p:nvSpPr>
        <p:spPr>
          <a:xfrm>
            <a:off x="7376008" y="5248656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经销商打法 · 对标 WorkBuddy · 开放 vs 封闭 · 奥尼软硬件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WE'RE HERE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今天，给深信服经销商讲三件事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用起来、把货看明白、把钱赚到手 —— 一条龙说清楚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345429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828800"/>
            <a:ext cx="3454298" cy="91440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859536" y="2212848"/>
            <a:ext cx="786384" cy="78638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996" y="2417308"/>
            <a:ext cx="377464" cy="3774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088538" y="21396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B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Text 12"/>
          <p:cNvSpPr/>
          <p:nvPr/>
        </p:nvSpPr>
        <p:spPr>
          <a:xfrm>
            <a:off x="859536" y="3127248"/>
            <a:ext cx="28507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企业怎么把 AI 真正用起来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59536" y="3694176"/>
            <a:ext cx="28507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从误区到正路，从个人到 agent team —— 用到「离不开」，需要 FDE 扶上马。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68698" y="1828800"/>
            <a:ext cx="345429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4368698" y="1828800"/>
            <a:ext cx="3454298" cy="9144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6"/>
          <p:cNvSpPr/>
          <p:nvPr/>
        </p:nvSpPr>
        <p:spPr>
          <a:xfrm>
            <a:off x="4679594" y="2212848"/>
            <a:ext cx="786384" cy="78638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4054" y="2417308"/>
            <a:ext cx="377464" cy="377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08597" y="21396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B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Text 18"/>
          <p:cNvSpPr/>
          <p:nvPr/>
        </p:nvSpPr>
        <p:spPr>
          <a:xfrm>
            <a:off x="4679594" y="3127248"/>
            <a:ext cx="31434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Token Plan 是最好的「货」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4679594" y="3694176"/>
            <a:ext cx="28507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模型最全、折扣最低、S2 最强 —— 买商汤一家，等于阿里 + 字节 + 四小龙。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8188757" y="1828800"/>
            <a:ext cx="345429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1"/>
          <p:cNvSpPr/>
          <p:nvPr/>
        </p:nvSpPr>
        <p:spPr>
          <a:xfrm>
            <a:off x="8188757" y="1828800"/>
            <a:ext cx="3454298" cy="91440"/>
          </a:xfrm>
          <a:prstGeom prst="rect">
            <a:avLst/>
          </a:prstGeom>
          <a:solidFill>
            <a:srgbClr val="2BA6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2"/>
          <p:cNvSpPr/>
          <p:nvPr/>
        </p:nvSpPr>
        <p:spPr>
          <a:xfrm>
            <a:off x="8499653" y="2212848"/>
            <a:ext cx="786384" cy="78638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4113" y="2417308"/>
            <a:ext cx="377464" cy="3774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728655" y="21396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B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32" name="Text 24"/>
          <p:cNvSpPr/>
          <p:nvPr/>
        </p:nvSpPr>
        <p:spPr>
          <a:xfrm>
            <a:off x="8499653" y="3127248"/>
            <a:ext cx="28507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渠道怎么一起卖、一起赚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499653" y="3694176"/>
            <a:ext cx="28507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高利润、强需求、开放生态 + 奥尼软硬件打包 —— 商汤供货、深信服经销商卖货。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45720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7"/>
          <p:cNvSpPr/>
          <p:nvPr/>
        </p:nvSpPr>
        <p:spPr>
          <a:xfrm>
            <a:off x="548640" y="4572000"/>
            <a:ext cx="91440" cy="146304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8"/>
          <p:cNvSpPr/>
          <p:nvPr/>
        </p:nvSpPr>
        <p:spPr>
          <a:xfrm>
            <a:off x="914400" y="4754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914400" y="50840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不是要不要用的问题，是早晚和快慢的问题 —— 谁先帮企业用到「离不开」，谁就拿下这个市场。</a:t>
            </a:r>
            <a:endParaRPr lang="en-US" sz="1700" dirty="0"/>
          </a:p>
        </p:txBody>
      </p:sp>
      <p:sp>
        <p:nvSpPr>
          <p:cNvPr id="38" name="Text 30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商汤把「最强的货 + 最实在的服务」交给深信服经销商，由经销商卖进千行百业 —— 这是一门长期、复利、高毛利的生意。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669280" cy="5669280"/>
          </a:xfrm>
          <a:prstGeom prst="ellipse">
            <a:avLst/>
          </a:prstGeom>
          <a:solidFill>
            <a:srgbClr val="1F6BEB">
              <a:alpha val="1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017520"/>
            <a:ext cx="4389120" cy="4389120"/>
          </a:xfrm>
          <a:prstGeom prst="ellipse">
            <a:avLst/>
          </a:prstGeom>
          <a:solidFill>
            <a:srgbClr val="2BA6F0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97680" cy="4297680"/>
          </a:xfrm>
          <a:prstGeom prst="ellipse">
            <a:avLst/>
          </a:prstGeom>
          <a:noFill/>
          <a:ln w="12700">
            <a:solidFill>
              <a:srgbClr val="BCD6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85216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3776" y="184708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03504" y="4114800"/>
            <a:ext cx="1371600" cy="4572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Token：确定性大势与渠道机会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66928" y="50109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TOKEN ECONOMY &amp; YOUR OPPORTUNITY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5394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先看清大势 —— 为什么现在是卖 AI Token 的最好时机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9842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67344" y="18653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确定性大势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24414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67344" y="23225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会用淘汰不会用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28986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67344" y="27797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经济爆发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33558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67344" y="32369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高频高量行业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38130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67344" y="3694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渠道高利润机会</a:t>
            </a:r>
            <a:endParaRPr lang="en-US" sz="1250" dirty="0"/>
          </a:p>
        </p:txBody>
      </p:sp>
      <p:pic>
        <p:nvPicPr>
          <p:cNvPr id="21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2" descr="sangfo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27" name="Text 22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大势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已是确定性大势 —— 不是观点，是数据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国家战略 × 用户规模 × 消耗增速 × 能力跃迁 × 成本下降，五重证据指向同一结论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10512"/>
            <a:ext cx="348477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804672" y="2066544"/>
            <a:ext cx="548640" cy="54864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18" y="2209190"/>
            <a:ext cx="263347" cy="2633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99616" y="2011680"/>
            <a:ext cx="2341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人工智能+</a:t>
            </a:r>
            <a:endParaRPr lang="en-US" sz="2600" dirty="0"/>
          </a:p>
        </p:txBody>
      </p:sp>
      <p:sp>
        <p:nvSpPr>
          <p:cNvPr id="17" name="Text 11"/>
          <p:cNvSpPr/>
          <p:nvPr/>
        </p:nvSpPr>
        <p:spPr>
          <a:xfrm>
            <a:off x="804672" y="2724912"/>
            <a:ext cx="30275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国家战略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04672" y="2999232"/>
            <a:ext cx="30275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国务院「人工智能+」行动：2027 年智能体普及率超 70%</a:t>
            </a:r>
            <a:endParaRPr lang="en-US" sz="980" dirty="0"/>
          </a:p>
        </p:txBody>
      </p:sp>
      <p:sp>
        <p:nvSpPr>
          <p:cNvPr id="19" name="Shape 13"/>
          <p:cNvSpPr/>
          <p:nvPr/>
        </p:nvSpPr>
        <p:spPr>
          <a:xfrm>
            <a:off x="4353458" y="1810512"/>
            <a:ext cx="348477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4"/>
          <p:cNvSpPr/>
          <p:nvPr/>
        </p:nvSpPr>
        <p:spPr>
          <a:xfrm>
            <a:off x="4609490" y="2066544"/>
            <a:ext cx="548640" cy="54864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137" y="2209190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4434" y="2011680"/>
            <a:ext cx="2341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亿+</a:t>
            </a:r>
            <a:endParaRPr lang="en-US" sz="2600" dirty="0"/>
          </a:p>
        </p:txBody>
      </p:sp>
      <p:sp>
        <p:nvSpPr>
          <p:cNvPr id="23" name="Text 16"/>
          <p:cNvSpPr/>
          <p:nvPr/>
        </p:nvSpPr>
        <p:spPr>
          <a:xfrm>
            <a:off x="4609490" y="2724912"/>
            <a:ext cx="30275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用户规模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609490" y="2999232"/>
            <a:ext cx="30275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 AI 助手周活；普及速度超过历史上任何一项技术</a:t>
            </a:r>
            <a:endParaRPr lang="en-US" sz="980" dirty="0"/>
          </a:p>
        </p:txBody>
      </p:sp>
      <p:sp>
        <p:nvSpPr>
          <p:cNvPr id="25" name="Shape 18"/>
          <p:cNvSpPr/>
          <p:nvPr/>
        </p:nvSpPr>
        <p:spPr>
          <a:xfrm>
            <a:off x="8158277" y="1810512"/>
            <a:ext cx="348477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19"/>
          <p:cNvSpPr/>
          <p:nvPr/>
        </p:nvSpPr>
        <p:spPr>
          <a:xfrm>
            <a:off x="8414309" y="2066544"/>
            <a:ext cx="548640" cy="54864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6955" y="2209190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09253" y="2011680"/>
            <a:ext cx="2341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≈100 倍</a:t>
            </a:r>
            <a:endParaRPr lang="en-US" sz="2600" dirty="0"/>
          </a:p>
        </p:txBody>
      </p:sp>
      <p:sp>
        <p:nvSpPr>
          <p:cNvPr id="29" name="Text 21"/>
          <p:cNvSpPr/>
          <p:nvPr/>
        </p:nvSpPr>
        <p:spPr>
          <a:xfrm>
            <a:off x="8414309" y="2724912"/>
            <a:ext cx="30275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消耗增速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8414309" y="2999232"/>
            <a:ext cx="30275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头部平台月处理 Token 量一年增长约百倍 —— 真在被用</a:t>
            </a:r>
            <a:endParaRPr lang="en-US" sz="980" dirty="0"/>
          </a:p>
        </p:txBody>
      </p:sp>
      <p:sp>
        <p:nvSpPr>
          <p:cNvPr id="31" name="Shape 23"/>
          <p:cNvSpPr/>
          <p:nvPr/>
        </p:nvSpPr>
        <p:spPr>
          <a:xfrm>
            <a:off x="548640" y="3767328"/>
            <a:ext cx="348477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4"/>
          <p:cNvSpPr/>
          <p:nvPr/>
        </p:nvSpPr>
        <p:spPr>
          <a:xfrm>
            <a:off x="804672" y="4023360"/>
            <a:ext cx="548640" cy="54864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318" y="4166006"/>
            <a:ext cx="263347" cy="26334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499616" y="3968496"/>
            <a:ext cx="2341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会干活了</a:t>
            </a:r>
            <a:endParaRPr lang="en-US" sz="2600" dirty="0"/>
          </a:p>
        </p:txBody>
      </p:sp>
      <p:sp>
        <p:nvSpPr>
          <p:cNvPr id="35" name="Text 26"/>
          <p:cNvSpPr/>
          <p:nvPr/>
        </p:nvSpPr>
        <p:spPr>
          <a:xfrm>
            <a:off x="804672" y="4681728"/>
            <a:ext cx="30275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能力跃迁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804672" y="4956048"/>
            <a:ext cx="30275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 / 研究 Agent 已能独立完成数小时复杂任务</a:t>
            </a:r>
            <a:endParaRPr lang="en-US" sz="980" dirty="0"/>
          </a:p>
        </p:txBody>
      </p:sp>
      <p:sp>
        <p:nvSpPr>
          <p:cNvPr id="37" name="Shape 28"/>
          <p:cNvSpPr/>
          <p:nvPr/>
        </p:nvSpPr>
        <p:spPr>
          <a:xfrm>
            <a:off x="4353458" y="3767328"/>
            <a:ext cx="348477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29"/>
          <p:cNvSpPr/>
          <p:nvPr/>
        </p:nvSpPr>
        <p:spPr>
          <a:xfrm>
            <a:off x="4609490" y="4023360"/>
            <a:ext cx="548640" cy="54864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2137" y="4166006"/>
            <a:ext cx="263347" cy="263347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304434" y="3968496"/>
            <a:ext cx="2341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-80%/年</a:t>
            </a:r>
            <a:endParaRPr lang="en-US" sz="2600" dirty="0"/>
          </a:p>
        </p:txBody>
      </p:sp>
      <p:sp>
        <p:nvSpPr>
          <p:cNvPr id="41" name="Text 31"/>
          <p:cNvSpPr/>
          <p:nvPr/>
        </p:nvSpPr>
        <p:spPr>
          <a:xfrm>
            <a:off x="4609490" y="4681728"/>
            <a:ext cx="30275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成本下降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4609490" y="4956048"/>
            <a:ext cx="30275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同等能力 Token 价格逐年腰斩 —— AI 从奢侈品变日用品</a:t>
            </a:r>
            <a:endParaRPr lang="en-US" sz="980" dirty="0"/>
          </a:p>
        </p:txBody>
      </p:sp>
      <p:sp>
        <p:nvSpPr>
          <p:cNvPr id="43" name="Shape 33"/>
          <p:cNvSpPr/>
          <p:nvPr/>
        </p:nvSpPr>
        <p:spPr>
          <a:xfrm>
            <a:off x="8158277" y="3767328"/>
            <a:ext cx="348477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4"/>
          <p:cNvSpPr/>
          <p:nvPr/>
        </p:nvSpPr>
        <p:spPr>
          <a:xfrm>
            <a:off x="8414309" y="4023360"/>
            <a:ext cx="548640" cy="54864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6955" y="4166006"/>
            <a:ext cx="263347" cy="263347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109253" y="3968496"/>
            <a:ext cx="2341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+25~40%</a:t>
            </a:r>
            <a:endParaRPr lang="en-US" sz="2600" dirty="0"/>
          </a:p>
        </p:txBody>
      </p:sp>
      <p:sp>
        <p:nvSpPr>
          <p:cNvPr id="47" name="Text 36"/>
          <p:cNvSpPr/>
          <p:nvPr/>
        </p:nvSpPr>
        <p:spPr>
          <a:xfrm>
            <a:off x="8414309" y="4681728"/>
            <a:ext cx="30275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效率实证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8414309" y="4956048"/>
            <a:ext cx="30275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哈佛 × BCG：用 AI 的人，任务速度 +25%、质量 +40%</a:t>
            </a:r>
            <a:endParaRPr lang="en-US" sz="980" dirty="0"/>
          </a:p>
        </p:txBody>
      </p:sp>
      <p:sp>
        <p:nvSpPr>
          <p:cNvPr id="49" name="Shape 38"/>
          <p:cNvSpPr/>
          <p:nvPr/>
        </p:nvSpPr>
        <p:spPr>
          <a:xfrm>
            <a:off x="548640" y="5797296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0" name="Text 39"/>
          <p:cNvSpPr/>
          <p:nvPr/>
        </p:nvSpPr>
        <p:spPr>
          <a:xfrm>
            <a:off x="548640" y="579729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技术成熟、成本可担、战略加持 —— 对企业是早晚快慢的问题，对渠道是「窗口期红利」。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194560"/>
            <a:ext cx="7315200" cy="7315200"/>
          </a:xfrm>
          <a:prstGeom prst="ellipse">
            <a:avLst/>
          </a:prstGeom>
          <a:solidFill>
            <a:srgbClr val="1F6BEB">
              <a:alpha val="16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2011680" y="3291840"/>
            <a:ext cx="5852160" cy="5852160"/>
          </a:xfrm>
          <a:prstGeom prst="ellipse">
            <a:avLst/>
          </a:prstGeom>
          <a:solidFill>
            <a:srgbClr val="C04A42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2" descr="sangfo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0" name="Text 5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566928" y="1371600"/>
            <a:ext cx="1645920" cy="54864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7"/>
          <p:cNvSpPr/>
          <p:nvPr/>
        </p:nvSpPr>
        <p:spPr>
          <a:xfrm>
            <a:off x="548640" y="15727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一个不得不正视的现实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48640" y="219456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 AI 的企业，</a:t>
            </a:r>
            <a:r>
              <a:rPr lang="en-US" sz="3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淘汰</a:t>
            </a: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不会用 AI 的企业；</a:t>
            </a:r>
            <a:endParaRPr lang="en-US" sz="3800" dirty="0"/>
          </a:p>
        </p:txBody>
      </p:sp>
      <p:sp>
        <p:nvSpPr>
          <p:cNvPr id="14" name="Text 9"/>
          <p:cNvSpPr/>
          <p:nvPr/>
        </p:nvSpPr>
        <p:spPr>
          <a:xfrm>
            <a:off x="548640" y="3063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 AI 的员工，</a:t>
            </a:r>
            <a:r>
              <a:rPr lang="en-US" sz="3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淘汰</a:t>
            </a: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不会用 AI 的员工。</a:t>
            </a:r>
            <a:endParaRPr lang="en-US" sz="3800" dirty="0"/>
          </a:p>
        </p:txBody>
      </p:sp>
      <p:sp>
        <p:nvSpPr>
          <p:cNvPr id="15" name="Shape 10"/>
          <p:cNvSpPr/>
          <p:nvPr/>
        </p:nvSpPr>
        <p:spPr>
          <a:xfrm>
            <a:off x="548640" y="4434840"/>
            <a:ext cx="3454298" cy="1371600"/>
          </a:xfrm>
          <a:prstGeom prst="roundRect">
            <a:avLst>
              <a:gd name="adj" fmla="val 5333"/>
            </a:avLst>
          </a:prstGeom>
          <a:solidFill>
            <a:srgbClr val="163A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1"/>
          <p:cNvSpPr/>
          <p:nvPr/>
        </p:nvSpPr>
        <p:spPr>
          <a:xfrm>
            <a:off x="548640" y="4434840"/>
            <a:ext cx="73152" cy="137160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2"/>
          <p:cNvSpPr/>
          <p:nvPr/>
        </p:nvSpPr>
        <p:spPr>
          <a:xfrm>
            <a:off x="822960" y="4654296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AI 取代人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5093208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是「会用 AI 的人」取代「不会用的人」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68698" y="4434840"/>
            <a:ext cx="3454298" cy="1371600"/>
          </a:xfrm>
          <a:prstGeom prst="roundRect">
            <a:avLst>
              <a:gd name="adj" fmla="val 5333"/>
            </a:avLst>
          </a:prstGeom>
          <a:solidFill>
            <a:srgbClr val="163A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4368698" y="4434840"/>
            <a:ext cx="73152" cy="137160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4643018" y="4654296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差距是复利的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643018" y="5093208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每天用一点，半年就拉开一个量级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188757" y="4434840"/>
            <a:ext cx="3454298" cy="1371600"/>
          </a:xfrm>
          <a:prstGeom prst="roundRect">
            <a:avLst>
              <a:gd name="adj" fmla="val 5333"/>
            </a:avLst>
          </a:prstGeom>
          <a:solidFill>
            <a:srgbClr val="163A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9"/>
          <p:cNvSpPr/>
          <p:nvPr/>
        </p:nvSpPr>
        <p:spPr>
          <a:xfrm>
            <a:off x="8188757" y="4434840"/>
            <a:ext cx="73152" cy="137160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0"/>
          <p:cNvSpPr/>
          <p:nvPr/>
        </p:nvSpPr>
        <p:spPr>
          <a:xfrm>
            <a:off x="8463077" y="4654296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企业的选择题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463077" y="5093208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要么组织性地用起来，要么被用起来的同行甩开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TOKEN 经济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为什么是「Token」—— 一门越用越大的生意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软件时代卖 License 一次性；AI 时代卖 Token 按量计费，用得越多、消耗越多、续费越稳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3393338" cy="1600200"/>
          </a:xfrm>
          <a:prstGeom prst="roundRect">
            <a:avLst>
              <a:gd name="adj" fmla="val 4571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9"/>
          <p:cNvSpPr/>
          <p:nvPr/>
        </p:nvSpPr>
        <p:spPr>
          <a:xfrm>
            <a:off x="804672" y="2029968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2017–2022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804672" y="228600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1.0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04672" y="2816352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卖项目 · 定制交付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978554" y="2377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4399178" y="1828800"/>
            <a:ext cx="3393338" cy="1600200"/>
          </a:xfrm>
          <a:prstGeom prst="roundRect">
            <a:avLst>
              <a:gd name="adj" fmla="val 4571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4655210" y="2029968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2023–2025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655210" y="228600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2.0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4655210" y="2816352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卖模型 · 比拼跑分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829093" y="2377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8249717" y="1828800"/>
            <a:ext cx="3393338" cy="1600200"/>
          </a:xfrm>
          <a:prstGeom prst="roundRect">
            <a:avLst>
              <a:gd name="adj" fmla="val 4571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9"/>
          <p:cNvSpPr/>
          <p:nvPr/>
        </p:nvSpPr>
        <p:spPr>
          <a:xfrm>
            <a:off x="8505749" y="2029968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→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505749" y="228600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3.0 ◀ 当前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505749" y="2816352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 Token · 按量消耗、持续续费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3840480"/>
            <a:ext cx="345429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3"/>
          <p:cNvSpPr/>
          <p:nvPr/>
        </p:nvSpPr>
        <p:spPr>
          <a:xfrm>
            <a:off x="841248" y="4133088"/>
            <a:ext cx="713232" cy="713232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21" y="4325661"/>
            <a:ext cx="328087" cy="32808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41248" y="4919472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需求指数级增长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841248" y="5266944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进入每个岗位，Token 消耗只增不减 —— 蛋糕越做越大。</a:t>
            </a:r>
            <a:endParaRPr lang="en-US" sz="1080" dirty="0"/>
          </a:p>
        </p:txBody>
      </p:sp>
      <p:sp>
        <p:nvSpPr>
          <p:cNvPr id="32" name="Shape 26"/>
          <p:cNvSpPr/>
          <p:nvPr/>
        </p:nvSpPr>
        <p:spPr>
          <a:xfrm>
            <a:off x="4368698" y="3840480"/>
            <a:ext cx="345429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7"/>
          <p:cNvSpPr/>
          <p:nvPr/>
        </p:nvSpPr>
        <p:spPr>
          <a:xfrm>
            <a:off x="4661306" y="4133088"/>
            <a:ext cx="713232" cy="713232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879" y="4325661"/>
            <a:ext cx="328087" cy="32808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661306" y="4919472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持续续费、强黏性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4661306" y="5266944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不是一锤子买卖；用顺了就离不开，续费率高、复购稳。</a:t>
            </a:r>
            <a:endParaRPr lang="en-US" sz="1080" dirty="0"/>
          </a:p>
        </p:txBody>
      </p:sp>
      <p:sp>
        <p:nvSpPr>
          <p:cNvPr id="37" name="Shape 30"/>
          <p:cNvSpPr/>
          <p:nvPr/>
        </p:nvSpPr>
        <p:spPr>
          <a:xfrm>
            <a:off x="8188757" y="3840480"/>
            <a:ext cx="345429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1"/>
          <p:cNvSpPr/>
          <p:nvPr/>
        </p:nvSpPr>
        <p:spPr>
          <a:xfrm>
            <a:off x="8481365" y="4133088"/>
            <a:ext cx="713232" cy="713232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3937" y="4325661"/>
            <a:ext cx="328087" cy="328087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481365" y="4919472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高毛利、可复利</a:t>
            </a:r>
            <a:endParaRPr lang="en-US" sz="1500" dirty="0"/>
          </a:p>
        </p:txBody>
      </p:sp>
      <p:sp>
        <p:nvSpPr>
          <p:cNvPr id="41" name="Text 33"/>
          <p:cNvSpPr/>
          <p:nvPr/>
        </p:nvSpPr>
        <p:spPr>
          <a:xfrm>
            <a:off x="8481365" y="5266944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软件不再按套卖，价值集中到 Token；渠道分成空间大。</a:t>
            </a:r>
            <a:endParaRPr lang="en-US" sz="1080" dirty="0"/>
          </a:p>
        </p:txBody>
      </p:sp>
      <p:sp>
        <p:nvSpPr>
          <p:cNvPr id="42" name="Shape 34"/>
          <p:cNvSpPr/>
          <p:nvPr/>
        </p:nvSpPr>
        <p:spPr>
          <a:xfrm>
            <a:off x="548640" y="5870448"/>
            <a:ext cx="11094415" cy="384048"/>
          </a:xfrm>
          <a:prstGeom prst="roundRect">
            <a:avLst>
              <a:gd name="adj" fmla="val 19048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5"/>
          <p:cNvSpPr/>
          <p:nvPr/>
        </p:nvSpPr>
        <p:spPr>
          <a:xfrm>
            <a:off x="548640" y="587044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对深信服经销商：卖 License 是一次性收入，卖 Token 是「躺着复利」的长期现金流。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落点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各行业「高频 + 高量」的刚需场景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这些场景每天发生、每次都吃 Token —— 正是 Sowork + Token Plan 最容易切入、最容易见效的入口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755648"/>
            <a:ext cx="11094415" cy="420624"/>
          </a:xfrm>
          <a:prstGeom prst="roundRect">
            <a:avLst>
              <a:gd name="adj" fmla="val 13043"/>
            </a:avLst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9"/>
          <p:cNvSpPr/>
          <p:nvPr/>
        </p:nvSpPr>
        <p:spPr>
          <a:xfrm>
            <a:off x="713232" y="17556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999232" y="175564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 · 高量场景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394192" y="175564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为什么吃 Token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2249424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3"/>
          <p:cNvSpPr/>
          <p:nvPr/>
        </p:nvSpPr>
        <p:spPr>
          <a:xfrm>
            <a:off x="694944" y="236829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559" y="2442911"/>
            <a:ext cx="161666" cy="16166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15568" y="224942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/ 传媒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2980944" y="2249424"/>
            <a:ext cx="5175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图文/短视频脚本、海报文案、社媒矩阵日更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8375904" y="2249424"/>
            <a:ext cx="3191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多平台、多条、每日重复生成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548640" y="2825496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8"/>
          <p:cNvSpPr/>
          <p:nvPr/>
        </p:nvSpPr>
        <p:spPr>
          <a:xfrm>
            <a:off x="694944" y="294436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559" y="3018983"/>
            <a:ext cx="161666" cy="16166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15568" y="282549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 / 零售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2980944" y="2825496"/>
            <a:ext cx="5175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商品详情、营销话术、智能客服、评论回复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8375904" y="2825496"/>
            <a:ext cx="3191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海量 × 全天候客服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548640" y="3401568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3"/>
          <p:cNvSpPr/>
          <p:nvPr/>
        </p:nvSpPr>
        <p:spPr>
          <a:xfrm>
            <a:off x="694944" y="352044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559" y="3595055"/>
            <a:ext cx="161666" cy="16166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15568" y="34015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 / 互联网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2980944" y="3401568"/>
            <a:ext cx="5175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代码生成与审查、需求转原型、测试与文档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8375904" y="3401568"/>
            <a:ext cx="3191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研发全流程，长上下文高频调用</a:t>
            </a:r>
            <a:endParaRPr lang="en-US" sz="1030" dirty="0"/>
          </a:p>
        </p:txBody>
      </p:sp>
      <p:sp>
        <p:nvSpPr>
          <p:cNvPr id="35" name="Shape 27"/>
          <p:cNvSpPr/>
          <p:nvPr/>
        </p:nvSpPr>
        <p:spPr>
          <a:xfrm>
            <a:off x="548640" y="397764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28"/>
          <p:cNvSpPr/>
          <p:nvPr/>
        </p:nvSpPr>
        <p:spPr>
          <a:xfrm>
            <a:off x="694944" y="40965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559" y="4171127"/>
            <a:ext cx="161666" cy="16166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115568" y="3977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券商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2980944" y="3977640"/>
            <a:ext cx="5175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研报与公告速读、晨会要点、信贷与合规备忘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8375904" y="3977640"/>
            <a:ext cx="3191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信息密集，秒级摘要高频</a:t>
            </a:r>
            <a:endParaRPr lang="en-US" sz="1030" dirty="0"/>
          </a:p>
        </p:txBody>
      </p:sp>
      <p:sp>
        <p:nvSpPr>
          <p:cNvPr id="41" name="Shape 32"/>
          <p:cNvSpPr/>
          <p:nvPr/>
        </p:nvSpPr>
        <p:spPr>
          <a:xfrm>
            <a:off x="548640" y="4553712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3"/>
          <p:cNvSpPr/>
          <p:nvPr/>
        </p:nvSpPr>
        <p:spPr>
          <a:xfrm>
            <a:off x="694944" y="4672584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559" y="4747199"/>
            <a:ext cx="161666" cy="16166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115568" y="45537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医药 / CRO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2980944" y="4553712"/>
            <a:ext cx="5175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文献综述、IND 申报材料、中英双语报告</a:t>
            </a:r>
            <a:endParaRPr lang="en-US" sz="1050" dirty="0"/>
          </a:p>
        </p:txBody>
      </p:sp>
      <p:sp>
        <p:nvSpPr>
          <p:cNvPr id="46" name="Text 36"/>
          <p:cNvSpPr/>
          <p:nvPr/>
        </p:nvSpPr>
        <p:spPr>
          <a:xfrm>
            <a:off x="8375904" y="4553712"/>
            <a:ext cx="3191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长文档 × 博士级推理 × 翻译</a:t>
            </a:r>
            <a:endParaRPr lang="en-US" sz="1030" dirty="0"/>
          </a:p>
        </p:txBody>
      </p:sp>
      <p:sp>
        <p:nvSpPr>
          <p:cNvPr id="47" name="Shape 37"/>
          <p:cNvSpPr/>
          <p:nvPr/>
        </p:nvSpPr>
        <p:spPr>
          <a:xfrm>
            <a:off x="548640" y="5129784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38"/>
          <p:cNvSpPr/>
          <p:nvPr/>
        </p:nvSpPr>
        <p:spPr>
          <a:xfrm>
            <a:off x="694944" y="524865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559" y="5323271"/>
            <a:ext cx="161666" cy="161666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1115568" y="51297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政企</a:t>
            </a:r>
            <a:endParaRPr lang="en-US" sz="1200" dirty="0"/>
          </a:p>
        </p:txBody>
      </p:sp>
      <p:sp>
        <p:nvSpPr>
          <p:cNvPr id="51" name="Text 40"/>
          <p:cNvSpPr/>
          <p:nvPr/>
        </p:nvSpPr>
        <p:spPr>
          <a:xfrm>
            <a:off x="2980944" y="5129784"/>
            <a:ext cx="5175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GMP/合规文档、知识库问答、B 端提案</a:t>
            </a:r>
            <a:endParaRPr lang="en-US" sz="1050" dirty="0"/>
          </a:p>
        </p:txBody>
      </p:sp>
      <p:sp>
        <p:nvSpPr>
          <p:cNvPr id="52" name="Text 41"/>
          <p:cNvSpPr/>
          <p:nvPr/>
        </p:nvSpPr>
        <p:spPr>
          <a:xfrm>
            <a:off x="8375904" y="5129784"/>
            <a:ext cx="3191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规范严、文档长、复用强</a:t>
            </a:r>
            <a:endParaRPr lang="en-US" sz="1030" dirty="0"/>
          </a:p>
        </p:txBody>
      </p:sp>
      <p:sp>
        <p:nvSpPr>
          <p:cNvPr id="53" name="Shape 42"/>
          <p:cNvSpPr/>
          <p:nvPr/>
        </p:nvSpPr>
        <p:spPr>
          <a:xfrm>
            <a:off x="548640" y="5742432"/>
            <a:ext cx="11094415" cy="603504"/>
          </a:xfrm>
          <a:prstGeom prst="roundRect">
            <a:avLst>
              <a:gd name="adj" fmla="val 12121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43"/>
          <p:cNvSpPr/>
          <p:nvPr/>
        </p:nvSpPr>
        <p:spPr>
          <a:xfrm>
            <a:off x="548640" y="5742432"/>
            <a:ext cx="91440" cy="603504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44"/>
          <p:cNvSpPr/>
          <p:nvPr/>
        </p:nvSpPr>
        <p:spPr>
          <a:xfrm>
            <a:off x="914400" y="5742432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渠道视角   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用量越大、越高频的场景，客户黏性越强、续费越稳 —— 优先从这些刚需切入，复购最快。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机会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给深信服经销商的机会：卖 AI Token，正当其时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深信服经销商懂客户、有渠道、有信任 —— 商汤有最强的「货」和最实的服务，强强联合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2533574" cy="26060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828800"/>
            <a:ext cx="2533574" cy="8229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1422235" y="2157984"/>
            <a:ext cx="786384" cy="78638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559" y="2370308"/>
            <a:ext cx="361737" cy="36173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3108960"/>
            <a:ext cx="21678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高利润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768096" y="3493008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高毛利 + 渠道分成 + 续费复购 —— 一次签约、长期收钱。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3402254" y="1828800"/>
            <a:ext cx="2533574" cy="26060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4"/>
          <p:cNvSpPr/>
          <p:nvPr/>
        </p:nvSpPr>
        <p:spPr>
          <a:xfrm>
            <a:off x="3402254" y="1828800"/>
            <a:ext cx="2533574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4275849" y="2157984"/>
            <a:ext cx="786384" cy="78638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8172" y="2370308"/>
            <a:ext cx="361737" cy="36173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585134" y="3108960"/>
            <a:ext cx="21678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强需求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3621710" y="3493008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千行百业都要用 AI，市场刚刚启动 —— 需求大、增速快、天花板高。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255868" y="1828800"/>
            <a:ext cx="2533574" cy="26060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19"/>
          <p:cNvSpPr/>
          <p:nvPr/>
        </p:nvSpPr>
        <p:spPr>
          <a:xfrm>
            <a:off x="6255868" y="1828800"/>
            <a:ext cx="2533574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0"/>
          <p:cNvSpPr/>
          <p:nvPr/>
        </p:nvSpPr>
        <p:spPr>
          <a:xfrm>
            <a:off x="7129463" y="2157984"/>
            <a:ext cx="786384" cy="78638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1786" y="2370308"/>
            <a:ext cx="361737" cy="36173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438748" y="3108960"/>
            <a:ext cx="21678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易切入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6475324" y="3493008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已服务客户多年、信任在手 —— 顺势加卖 AI Token，水到渠成。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9109481" y="1828800"/>
            <a:ext cx="2533574" cy="26060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4"/>
          <p:cNvSpPr/>
          <p:nvPr/>
        </p:nvSpPr>
        <p:spPr>
          <a:xfrm>
            <a:off x="9109481" y="1828800"/>
            <a:ext cx="2533574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5"/>
          <p:cNvSpPr/>
          <p:nvPr/>
        </p:nvSpPr>
        <p:spPr>
          <a:xfrm>
            <a:off x="9983076" y="2157984"/>
            <a:ext cx="786384" cy="78638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400" y="2370308"/>
            <a:ext cx="361737" cy="361737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292361" y="3108960"/>
            <a:ext cx="21678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</a:t>
            </a:r>
            <a:endParaRPr lang="en-US" sz="1700" dirty="0"/>
          </a:p>
        </p:txBody>
      </p:sp>
      <p:sp>
        <p:nvSpPr>
          <p:cNvPr id="36" name="Text 27"/>
          <p:cNvSpPr/>
          <p:nvPr/>
        </p:nvSpPr>
        <p:spPr>
          <a:xfrm>
            <a:off x="9328937" y="3493008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不是卖一次的硬件，是越用越多的消耗品 —— 现金流稳定、可复利。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548640" y="4736592"/>
            <a:ext cx="11094415" cy="1298448"/>
          </a:xfrm>
          <a:prstGeom prst="roundRect">
            <a:avLst>
              <a:gd name="adj" fmla="val 5634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29"/>
          <p:cNvSpPr/>
          <p:nvPr/>
        </p:nvSpPr>
        <p:spPr>
          <a:xfrm>
            <a:off x="548640" y="4736592"/>
            <a:ext cx="91440" cy="1298448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0"/>
          <p:cNvSpPr/>
          <p:nvPr/>
        </p:nvSpPr>
        <p:spPr>
          <a:xfrm>
            <a:off x="914400" y="49011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分工很清楚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914400" y="52303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商汤供货（最强模型 + Token Plan + FDE 服务） · 深信服经销商卖货（渠道 + 信任 + 客户）</a:t>
            </a:r>
            <a:endParaRPr lang="en-US" sz="1500" dirty="0"/>
          </a:p>
        </p:txBody>
      </p:sp>
      <p:sp>
        <p:nvSpPr>
          <p:cNvPr id="41" name="Text 32"/>
          <p:cNvSpPr/>
          <p:nvPr/>
        </p:nvSpPr>
        <p:spPr>
          <a:xfrm>
            <a:off x="914400" y="5614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欢迎深信服的代理商跟商汤合作卖 Token —— 高利润、强需求、长期复利，越早上车越占先机。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669280" cy="5669280"/>
          </a:xfrm>
          <a:prstGeom prst="ellipse">
            <a:avLst/>
          </a:prstGeom>
          <a:solidFill>
            <a:srgbClr val="1F6BEB">
              <a:alpha val="1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017520"/>
            <a:ext cx="4389120" cy="4389120"/>
          </a:xfrm>
          <a:prstGeom prst="ellipse">
            <a:avLst/>
          </a:prstGeom>
          <a:solidFill>
            <a:srgbClr val="2BA6F0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97680" cy="4297680"/>
          </a:xfrm>
          <a:prstGeom prst="ellipse">
            <a:avLst/>
          </a:prstGeom>
          <a:noFill/>
          <a:ln w="12700">
            <a:solidFill>
              <a:srgbClr val="BCD6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85216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3776" y="184708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03504" y="4114800"/>
            <a:ext cx="1371600" cy="4572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企业用 AI：避开弯路，走对正路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66928" y="50109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PITFALLS TO THE RIGHT PATH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5394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别人交过的学费，就是你最便宜的护城河 —— 帮客户少走弯路，才卖得动 Token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9842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67344" y="18653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老板三误区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24414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67344" y="23225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范式之变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28986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67344" y="27797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 Agent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33558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67344" y="32369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选对模型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38130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67344" y="3694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三个习惯</a:t>
            </a:r>
            <a:endParaRPr lang="en-US" sz="1250" dirty="0"/>
          </a:p>
        </p:txBody>
      </p:sp>
      <p:pic>
        <p:nvPicPr>
          <p:cNvPr id="21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2" descr="sangfo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27" name="Text 22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老板误区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老板的三大误区 —— 钱花了、人没动、习惯没养成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方向没错（想让员工都用起来），但用错了方法 —— 这正是企业最常走的弯路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783080"/>
            <a:ext cx="11094415" cy="969264"/>
          </a:xfrm>
          <a:prstGeom prst="roundRect">
            <a:avLst>
              <a:gd name="adj" fmla="val 7547"/>
            </a:avLst>
          </a:prstGeom>
          <a:solidFill>
            <a:srgbClr val="FBE9E7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783080"/>
            <a:ext cx="91440" cy="969264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>
            <a:off x="877824" y="191109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C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自建系统强推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3931920" y="1965960"/>
            <a:ext cx="0" cy="603504"/>
          </a:xfrm>
          <a:prstGeom prst="line">
            <a:avLst/>
          </a:prstGeom>
          <a:noFill/>
          <a:ln w="12700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2"/>
          <p:cNvSpPr/>
          <p:nvPr/>
        </p:nvSpPr>
        <p:spPr>
          <a:xfrm>
            <a:off x="4169664" y="192938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  </a:t>
            </a:r>
            <a:r>
              <a:rPr lang="en-US" sz="115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想自建一套带 AI 的中心化系统，让员工用起来就养成习惯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169664" y="229514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 </a:t>
            </a:r>
            <a:r>
              <a:rPr lang="en-US" sz="11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系统迟迟建不成、又重又慢、强推难落地 —— 习惯更无从谈起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2862072"/>
            <a:ext cx="11094415" cy="969264"/>
          </a:xfrm>
          <a:prstGeom prst="roundRect">
            <a:avLst>
              <a:gd name="adj" fmla="val 7547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5"/>
          <p:cNvSpPr/>
          <p:nvPr/>
        </p:nvSpPr>
        <p:spPr>
          <a:xfrm>
            <a:off x="877824" y="299008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让员工自费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3931920" y="3044952"/>
            <a:ext cx="0" cy="603504"/>
          </a:xfrm>
          <a:prstGeom prst="line">
            <a:avLst/>
          </a:prstGeom>
          <a:noFill/>
          <a:ln w="12700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4169664" y="300837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  </a:t>
            </a:r>
            <a:r>
              <a:rPr lang="en-US" sz="115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希望员工自己掏钱买 Token 用 AI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169664" y="337413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 </a:t>
            </a:r>
            <a:r>
              <a:rPr lang="en-US" sz="11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员工本就对 AI 有误区，自然不愿花钱 → 用不起来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3941064"/>
            <a:ext cx="11094415" cy="969264"/>
          </a:xfrm>
          <a:prstGeom prst="roundRect">
            <a:avLst>
              <a:gd name="adj" fmla="val 7547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0"/>
          <p:cNvSpPr/>
          <p:nvPr/>
        </p:nvSpPr>
        <p:spPr>
          <a:xfrm>
            <a:off x="877824" y="40690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老板没体感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3931920" y="4123944"/>
            <a:ext cx="0" cy="603504"/>
          </a:xfrm>
          <a:prstGeom prst="line">
            <a:avLst/>
          </a:prstGeom>
          <a:noFill/>
          <a:ln w="12700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2"/>
          <p:cNvSpPr/>
          <p:nvPr/>
        </p:nvSpPr>
        <p:spPr>
          <a:xfrm>
            <a:off x="4169664" y="40873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  </a:t>
            </a:r>
            <a:r>
              <a:rPr lang="en-US" sz="115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老板自己没见过好模型长什么样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4169664" y="445312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 </a:t>
            </a:r>
            <a:r>
              <a:rPr lang="en-US" sz="11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对提效没体感、意愿不高 → 上行下效，员工更不会真用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48640" y="5056632"/>
            <a:ext cx="11094415" cy="1289304"/>
          </a:xfrm>
          <a:prstGeom prst="roundRect">
            <a:avLst>
              <a:gd name="adj" fmla="val 5674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548640" y="5056632"/>
            <a:ext cx="91440" cy="1289304"/>
          </a:xfrm>
          <a:prstGeom prst="rect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6"/>
          <p:cNvSpPr/>
          <p:nvPr/>
        </p:nvSpPr>
        <p:spPr>
          <a:xfrm>
            <a:off x="914400" y="5148072"/>
            <a:ext cx="103327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正解   </a:t>
            </a: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公司统一给员工开 Token + 配 Lite FDE 帮员工用上、用好 —— 别自建重平台、别让员工自费。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范式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范式之变：从「中心化平台」到「员工的 AI 助理团队」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今年和去年根本不是一回事 —— 自建重平台、自研行业模型，性价比越来越低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5272888" cy="2697480"/>
          </a:xfrm>
          <a:prstGeom prst="roundRect">
            <a:avLst>
              <a:gd name="adj" fmla="val 2712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9"/>
          <p:cNvSpPr/>
          <p:nvPr/>
        </p:nvSpPr>
        <p:spPr>
          <a:xfrm>
            <a:off x="877824" y="2066544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去年 · 2025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77824" y="2359152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中心化大平台</a:t>
            </a:r>
            <a:endParaRPr lang="en-US" sz="2300" dirty="0"/>
          </a:p>
        </p:txBody>
      </p:sp>
      <p:sp>
        <p:nvSpPr>
          <p:cNvPr id="16" name="Shape 11"/>
          <p:cNvSpPr/>
          <p:nvPr/>
        </p:nvSpPr>
        <p:spPr>
          <a:xfrm>
            <a:off x="896112" y="2926080"/>
            <a:ext cx="640080" cy="36576"/>
          </a:xfrm>
          <a:prstGeom prst="rect">
            <a:avLst/>
          </a:prstGeom>
          <a:solidFill>
            <a:srgbClr val="6C7C8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2"/>
          <p:cNvSpPr/>
          <p:nvPr/>
        </p:nvSpPr>
        <p:spPr>
          <a:xfrm>
            <a:off x="877824" y="3108960"/>
            <a:ext cx="463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</a:t>
            </a:r>
            <a:r>
              <a:rPr lang="en-US" sz="11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企业中心建一套「智能体平台 + RAG 知识库」强推全员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77824" y="3547872"/>
            <a:ext cx="463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</a:t>
            </a:r>
            <a:r>
              <a:rPr lang="en-US" sz="11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重、慢、强推难落地，建好了用的人不多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77824" y="3986784"/>
            <a:ext cx="463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</a:t>
            </a:r>
            <a:r>
              <a:rPr lang="en-US" sz="11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自研行业大模型，能力很快被通用模型覆盖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70168" y="1828800"/>
            <a:ext cx="5272888" cy="2697480"/>
          </a:xfrm>
          <a:prstGeom prst="roundRect">
            <a:avLst>
              <a:gd name="adj" fmla="val 2712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6699352" y="2066544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 · 2026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699352" y="2359152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员工的 AI 助理团队</a:t>
            </a:r>
            <a:endParaRPr lang="en-US" sz="2300" dirty="0"/>
          </a:p>
        </p:txBody>
      </p:sp>
      <p:sp>
        <p:nvSpPr>
          <p:cNvPr id="23" name="Shape 18"/>
          <p:cNvSpPr/>
          <p:nvPr/>
        </p:nvSpPr>
        <p:spPr>
          <a:xfrm>
            <a:off x="6717640" y="2926080"/>
            <a:ext cx="640080" cy="3657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9"/>
          <p:cNvSpPr/>
          <p:nvPr/>
        </p:nvSpPr>
        <p:spPr>
          <a:xfrm>
            <a:off x="6699352" y="3108960"/>
            <a:ext cx="463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有了记忆，能接 Skill + MCP 等外部能力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699352" y="3547872"/>
            <a:ext cx="463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每个员工一支「AI 助理团队」，即开即用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699352" y="3986784"/>
            <a:ext cx="463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踩通用大模型肩膀，自动跟着上游一起进化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858104" y="283464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28" name="Shape 23"/>
          <p:cNvSpPr/>
          <p:nvPr/>
        </p:nvSpPr>
        <p:spPr>
          <a:xfrm>
            <a:off x="548640" y="4864608"/>
            <a:ext cx="11094415" cy="1170432"/>
          </a:xfrm>
          <a:prstGeom prst="roundRect">
            <a:avLst>
              <a:gd name="adj" fmla="val 6250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4"/>
          <p:cNvSpPr/>
          <p:nvPr/>
        </p:nvSpPr>
        <p:spPr>
          <a:xfrm>
            <a:off x="548640" y="4864608"/>
            <a:ext cx="82296" cy="1170432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5"/>
          <p:cNvSpPr/>
          <p:nvPr/>
        </p:nvSpPr>
        <p:spPr>
          <a:xfrm>
            <a:off x="877824" y="50109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对客户的启示（也是你的销售话术）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877824" y="5340096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别再花大钱自建重平台、自研行业模型 —— 用「通用大模型 + Agent + Skill + MCP」组装员工的 AI 助理团队，更快、更省、还自动进化。踩在通用模型的肩膀上，比自己造轮子跑得更快，这是今年最大的红利。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选 AGENT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 Agent：看场景定入口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不同的活，用不同的 AI 入口 —— 选错入口，再强的模型也使不上劲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2533574" cy="310896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1458811" y="2103120"/>
            <a:ext cx="713232" cy="713232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384" y="2295693"/>
            <a:ext cx="328087" cy="32808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" y="2926080"/>
            <a:ext cx="22409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随手体验 · 轻任务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694944" y="3310128"/>
            <a:ext cx="22409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浏览器版 Agent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13232" y="3694176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打开即用、零安装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68096" y="4334256"/>
            <a:ext cx="2094662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4"/>
          <p:cNvSpPr/>
          <p:nvPr/>
        </p:nvSpPr>
        <p:spPr>
          <a:xfrm>
            <a:off x="694944" y="4425696"/>
            <a:ext cx="22409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i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S-Agent · 各家网页版</a:t>
            </a:r>
            <a:endParaRPr lang="en-US" sz="930" dirty="0"/>
          </a:p>
        </p:txBody>
      </p:sp>
      <p:sp>
        <p:nvSpPr>
          <p:cNvPr id="21" name="Shape 15"/>
          <p:cNvSpPr/>
          <p:nvPr/>
        </p:nvSpPr>
        <p:spPr>
          <a:xfrm>
            <a:off x="3402254" y="1828800"/>
            <a:ext cx="2533574" cy="310896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6"/>
          <p:cNvSpPr/>
          <p:nvPr/>
        </p:nvSpPr>
        <p:spPr>
          <a:xfrm>
            <a:off x="4312425" y="2103120"/>
            <a:ext cx="713232" cy="713232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4997" y="2295693"/>
            <a:ext cx="328087" cy="32808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548558" y="2926080"/>
            <a:ext cx="22409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日常办公 · 文档表格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548558" y="3310128"/>
            <a:ext cx="22409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AI 工作台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3566846" y="3694176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文档/报表/PPT/分析一站搞定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3621710" y="4334256"/>
            <a:ext cx="2094662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1"/>
          <p:cNvSpPr/>
          <p:nvPr/>
        </p:nvSpPr>
        <p:spPr>
          <a:xfrm>
            <a:off x="3548558" y="4425696"/>
            <a:ext cx="22409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i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Sowork · WorkBuddy · Claude Cowork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6255868" y="1828800"/>
            <a:ext cx="2533574" cy="310896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3"/>
          <p:cNvSpPr/>
          <p:nvPr/>
        </p:nvSpPr>
        <p:spPr>
          <a:xfrm>
            <a:off x="7166039" y="2103120"/>
            <a:ext cx="713232" cy="713232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8611" y="2295693"/>
            <a:ext cx="328087" cy="3280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02172" y="2926080"/>
            <a:ext cx="22409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写代码 · 技术开发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402172" y="3310128"/>
            <a:ext cx="22409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 Agent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6420460" y="3694176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自主读写改码、端到端交付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475324" y="4334256"/>
            <a:ext cx="2094662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8"/>
          <p:cNvSpPr/>
          <p:nvPr/>
        </p:nvSpPr>
        <p:spPr>
          <a:xfrm>
            <a:off x="6402172" y="4425696"/>
            <a:ext cx="22409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i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· Codex · Qoder</a:t>
            </a:r>
            <a:endParaRPr lang="en-US" sz="930" dirty="0"/>
          </a:p>
        </p:txBody>
      </p:sp>
      <p:sp>
        <p:nvSpPr>
          <p:cNvPr id="37" name="Shape 29"/>
          <p:cNvSpPr/>
          <p:nvPr/>
        </p:nvSpPr>
        <p:spPr>
          <a:xfrm>
            <a:off x="9109481" y="1828800"/>
            <a:ext cx="2533574" cy="310896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0"/>
          <p:cNvSpPr/>
          <p:nvPr/>
        </p:nvSpPr>
        <p:spPr>
          <a:xfrm>
            <a:off x="10019652" y="2103120"/>
            <a:ext cx="713232" cy="713232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2225" y="2295693"/>
            <a:ext cx="328087" cy="328087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255785" y="2926080"/>
            <a:ext cx="22409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团队流程 · 复用沉淀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9255785" y="3310128"/>
            <a:ext cx="22409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流程编排 Agent</a:t>
            </a:r>
            <a:endParaRPr lang="en-US" sz="1500" dirty="0"/>
          </a:p>
        </p:txBody>
      </p:sp>
      <p:sp>
        <p:nvSpPr>
          <p:cNvPr id="42" name="Text 33"/>
          <p:cNvSpPr/>
          <p:nvPr/>
        </p:nvSpPr>
        <p:spPr>
          <a:xfrm>
            <a:off x="9274073" y="3694176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把多个 Agent 编排成业务流程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9328937" y="4334256"/>
            <a:ext cx="2094662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5"/>
          <p:cNvSpPr/>
          <p:nvPr/>
        </p:nvSpPr>
        <p:spPr>
          <a:xfrm>
            <a:off x="9255785" y="4425696"/>
            <a:ext cx="22409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i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S-Design · Claude Design</a:t>
            </a:r>
            <a:endParaRPr lang="en-US" sz="930" dirty="0"/>
          </a:p>
        </p:txBody>
      </p:sp>
      <p:sp>
        <p:nvSpPr>
          <p:cNvPr id="45" name="Shape 36"/>
          <p:cNvSpPr/>
          <p:nvPr/>
        </p:nvSpPr>
        <p:spPr>
          <a:xfrm>
            <a:off x="548640" y="512064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6" name="Text 37"/>
          <p:cNvSpPr/>
          <p:nvPr/>
        </p:nvSpPr>
        <p:spPr>
          <a:xfrm>
            <a:off x="914400" y="512064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上手路径   </a:t>
            </a:r>
            <a:r>
              <a:rPr lang="en-US" sz="13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S-Agent 免费体验  →  Sowork 日常提效  →  S-Design 流程编排 —— 由浅入深，越用越离不开。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选模型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选对模型：难题用旗舰、日常用主力、批量用轻量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别用旗舰的钱去干轻量的活 —— 一份订阅、一个 API Key，按场景智能调度，预算省一半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253357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828800"/>
            <a:ext cx="2533574" cy="8229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>
            <a:off x="786384" y="2084832"/>
            <a:ext cx="20763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旗舰档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2076374" y="2084832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≈10%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786384" y="2615184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高难推理 · 关键产出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86384" y="3310128"/>
            <a:ext cx="2058086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786384" y="3419856"/>
            <a:ext cx="20763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· Opus · GPT-5.5 级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402254" y="1828800"/>
            <a:ext cx="253357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3402254" y="1828800"/>
            <a:ext cx="2533574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3639998" y="2084832"/>
            <a:ext cx="20763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主力档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4929988" y="2084832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≈30%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3639998" y="2615184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日常办公 · 写作分析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3639998" y="3310128"/>
            <a:ext cx="2058086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/>
        </p:nvSpPr>
        <p:spPr>
          <a:xfrm>
            <a:off x="3639998" y="3419856"/>
            <a:ext cx="20763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S2-Pro · Sonnet 级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255868" y="1828800"/>
            <a:ext cx="253357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3"/>
          <p:cNvSpPr/>
          <p:nvPr/>
        </p:nvSpPr>
        <p:spPr>
          <a:xfrm>
            <a:off x="6255868" y="1828800"/>
            <a:ext cx="2533574" cy="82296"/>
          </a:xfrm>
          <a:prstGeom prst="rect">
            <a:avLst/>
          </a:prstGeom>
          <a:solidFill>
            <a:srgbClr val="2BA6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4"/>
          <p:cNvSpPr/>
          <p:nvPr/>
        </p:nvSpPr>
        <p:spPr>
          <a:xfrm>
            <a:off x="6493612" y="2084832"/>
            <a:ext cx="20763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轻量档</a:t>
            </a:r>
            <a:endParaRPr lang="en-US" sz="1700" dirty="0"/>
          </a:p>
        </p:txBody>
      </p:sp>
      <p:sp>
        <p:nvSpPr>
          <p:cNvPr id="30" name="Text 25"/>
          <p:cNvSpPr/>
          <p:nvPr/>
        </p:nvSpPr>
        <p:spPr>
          <a:xfrm>
            <a:off x="7783601" y="2084832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≈40%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6493612" y="2615184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批量处理 · 摘要分类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493612" y="3310128"/>
            <a:ext cx="2058086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8"/>
          <p:cNvSpPr/>
          <p:nvPr/>
        </p:nvSpPr>
        <p:spPr>
          <a:xfrm>
            <a:off x="6493612" y="3419856"/>
            <a:ext cx="20763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S2-Flash · Haiku 级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9109481" y="1828800"/>
            <a:ext cx="253357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0"/>
          <p:cNvSpPr/>
          <p:nvPr/>
        </p:nvSpPr>
        <p:spPr>
          <a:xfrm>
            <a:off x="9109481" y="1828800"/>
            <a:ext cx="2533574" cy="82296"/>
          </a:xfrm>
          <a:prstGeom prst="rect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1"/>
          <p:cNvSpPr/>
          <p:nvPr/>
        </p:nvSpPr>
        <p:spPr>
          <a:xfrm>
            <a:off x="9347225" y="2084832"/>
            <a:ext cx="20763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极速档</a:t>
            </a:r>
            <a:endParaRPr lang="en-US" sz="1700" dirty="0"/>
          </a:p>
        </p:txBody>
      </p:sp>
      <p:sp>
        <p:nvSpPr>
          <p:cNvPr id="37" name="Text 32"/>
          <p:cNvSpPr/>
          <p:nvPr/>
        </p:nvSpPr>
        <p:spPr>
          <a:xfrm>
            <a:off x="10637215" y="2084832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≈20%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9347225" y="2615184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海量调用 · 简单任务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9347225" y="3310128"/>
            <a:ext cx="2058086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5"/>
          <p:cNvSpPr/>
          <p:nvPr/>
        </p:nvSpPr>
        <p:spPr>
          <a:xfrm>
            <a:off x="9347225" y="3419856"/>
            <a:ext cx="20763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S2-Lite · Flash 级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548640" y="4334256"/>
            <a:ext cx="11094415" cy="1700784"/>
          </a:xfrm>
          <a:prstGeom prst="roundRect">
            <a:avLst>
              <a:gd name="adj" fmla="val 4301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7"/>
          <p:cNvSpPr/>
          <p:nvPr/>
        </p:nvSpPr>
        <p:spPr>
          <a:xfrm>
            <a:off x="914400" y="44988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搭配公式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2103120" y="4480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 旗舰 + 30% 主力 + 60% 轻量 </a:t>
            </a:r>
            <a:r>
              <a:rPr lang="en-US" sz="15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同样的活，预算省一半</a:t>
            </a:r>
            <a:endParaRPr lang="en-US" sz="1500" dirty="0"/>
          </a:p>
        </p:txBody>
      </p:sp>
      <p:sp>
        <p:nvSpPr>
          <p:cNvPr id="44" name="Shape 39"/>
          <p:cNvSpPr/>
          <p:nvPr/>
        </p:nvSpPr>
        <p:spPr>
          <a:xfrm>
            <a:off x="914400" y="5084064"/>
            <a:ext cx="146304" cy="146304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0"/>
          <p:cNvSpPr/>
          <p:nvPr/>
        </p:nvSpPr>
        <p:spPr>
          <a:xfrm>
            <a:off x="1152144" y="4992624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1152144" y="5321808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128K≈20万字 / 1M≈长篇小说</a:t>
            </a:r>
            <a:endParaRPr lang="en-US" sz="960" dirty="0"/>
          </a:p>
        </p:txBody>
      </p:sp>
      <p:sp>
        <p:nvSpPr>
          <p:cNvPr id="47" name="Shape 42"/>
          <p:cNvSpPr/>
          <p:nvPr/>
        </p:nvSpPr>
        <p:spPr>
          <a:xfrm>
            <a:off x="3573704" y="5084064"/>
            <a:ext cx="146304" cy="146304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3"/>
          <p:cNvSpPr/>
          <p:nvPr/>
        </p:nvSpPr>
        <p:spPr>
          <a:xfrm>
            <a:off x="3811448" y="4992624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输入/输出价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3811448" y="5321808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输出价≈输入 5–6 倍</a:t>
            </a:r>
            <a:endParaRPr lang="en-US" sz="960" dirty="0"/>
          </a:p>
        </p:txBody>
      </p:sp>
      <p:sp>
        <p:nvSpPr>
          <p:cNvPr id="50" name="Shape 45"/>
          <p:cNvSpPr/>
          <p:nvPr/>
        </p:nvSpPr>
        <p:spPr>
          <a:xfrm>
            <a:off x="6233008" y="5084064"/>
            <a:ext cx="146304" cy="146304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6"/>
          <p:cNvSpPr/>
          <p:nvPr/>
        </p:nvSpPr>
        <p:spPr>
          <a:xfrm>
            <a:off x="6470752" y="4992624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缓存命中</a:t>
            </a:r>
            <a:endParaRPr lang="en-US" sz="1200" dirty="0"/>
          </a:p>
        </p:txBody>
      </p:sp>
      <p:sp>
        <p:nvSpPr>
          <p:cNvPr id="52" name="Text 47"/>
          <p:cNvSpPr/>
          <p:nvPr/>
        </p:nvSpPr>
        <p:spPr>
          <a:xfrm>
            <a:off x="6470752" y="5321808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重复部分低至几十分之一</a:t>
            </a:r>
            <a:endParaRPr lang="en-US" sz="960" dirty="0"/>
          </a:p>
        </p:txBody>
      </p:sp>
      <p:sp>
        <p:nvSpPr>
          <p:cNvPr id="53" name="Shape 48"/>
          <p:cNvSpPr/>
          <p:nvPr/>
        </p:nvSpPr>
        <p:spPr>
          <a:xfrm>
            <a:off x="8892311" y="5084064"/>
            <a:ext cx="146304" cy="146304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9"/>
          <p:cNvSpPr/>
          <p:nvPr/>
        </p:nvSpPr>
        <p:spPr>
          <a:xfrm>
            <a:off x="9130055" y="4992624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合规先行</a:t>
            </a:r>
            <a:endParaRPr lang="en-US" sz="1200" dirty="0"/>
          </a:p>
        </p:txBody>
      </p:sp>
      <p:sp>
        <p:nvSpPr>
          <p:cNvPr id="55" name="Text 50"/>
          <p:cNvSpPr/>
          <p:nvPr/>
        </p:nvSpPr>
        <p:spPr>
          <a:xfrm>
            <a:off x="9130055" y="5321808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国内用国产、出海用海外</a:t>
            </a:r>
            <a:endParaRPr lang="en-US" sz="9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习惯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用好 AI 的三个习惯：说清楚 · 问明白 · 守主场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工具一样，人不一样 —— 这三个习惯，是客户把 AI 用出十倍差距的关键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345429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828800"/>
            <a:ext cx="3454298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859536" y="2157984"/>
            <a:ext cx="768096" cy="768096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922" y="2365370"/>
            <a:ext cx="353324" cy="3533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73936" y="2212848"/>
            <a:ext cx="2082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习惯1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773936" y="2468880"/>
            <a:ext cx="2082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写提示词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859536" y="3200400"/>
            <a:ext cx="2850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把话说清楚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59536" y="3529584"/>
            <a:ext cx="2850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四要素：角色 · 背景 · 任务 · 要求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859536" y="3968496"/>
            <a:ext cx="2832506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6"/>
          <p:cNvSpPr/>
          <p:nvPr/>
        </p:nvSpPr>
        <p:spPr>
          <a:xfrm>
            <a:off x="859536" y="4078224"/>
            <a:ext cx="28507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不会读心，四样写全，它才给得出能用的东西。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368698" y="1828800"/>
            <a:ext cx="345429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8"/>
          <p:cNvSpPr/>
          <p:nvPr/>
        </p:nvSpPr>
        <p:spPr>
          <a:xfrm>
            <a:off x="4368698" y="1828800"/>
            <a:ext cx="3454298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19"/>
          <p:cNvSpPr/>
          <p:nvPr/>
        </p:nvSpPr>
        <p:spPr>
          <a:xfrm>
            <a:off x="4679594" y="2157984"/>
            <a:ext cx="768096" cy="768096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6980" y="2365370"/>
            <a:ext cx="353324" cy="3533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93994" y="2212848"/>
            <a:ext cx="2082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习惯2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593994" y="2468880"/>
            <a:ext cx="2082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问问题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4679594" y="3200400"/>
            <a:ext cx="2850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把需求想明白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679594" y="3529584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公式：背景 + 目标 + 约束 + 输出格式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4679594" y="3968496"/>
            <a:ext cx="2832506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5"/>
          <p:cNvSpPr/>
          <p:nvPr/>
        </p:nvSpPr>
        <p:spPr>
          <a:xfrm>
            <a:off x="4679594" y="4078224"/>
            <a:ext cx="28507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追问三连：为什么 / 还有别的吗 / 哪个最适合我。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188757" y="1828800"/>
            <a:ext cx="345429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7"/>
          <p:cNvSpPr/>
          <p:nvPr/>
        </p:nvSpPr>
        <p:spPr>
          <a:xfrm>
            <a:off x="8188757" y="1828800"/>
            <a:ext cx="3454298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8"/>
          <p:cNvSpPr/>
          <p:nvPr/>
        </p:nvSpPr>
        <p:spPr>
          <a:xfrm>
            <a:off x="8499653" y="2157984"/>
            <a:ext cx="768096" cy="768096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7039" y="2365370"/>
            <a:ext cx="353324" cy="35332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414053" y="2212848"/>
            <a:ext cx="2082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习惯3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9414053" y="2468880"/>
            <a:ext cx="2082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会思考</a:t>
            </a:r>
            <a:endParaRPr lang="en-US" sz="1800" dirty="0"/>
          </a:p>
        </p:txBody>
      </p:sp>
      <p:sp>
        <p:nvSpPr>
          <p:cNvPr id="39" name="Text 31"/>
          <p:cNvSpPr/>
          <p:nvPr/>
        </p:nvSpPr>
        <p:spPr>
          <a:xfrm>
            <a:off x="8499653" y="3200400"/>
            <a:ext cx="2850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人守住主场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8499653" y="3529584"/>
            <a:ext cx="2850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拿到答案先过四道关再用</a:t>
            </a:r>
            <a:endParaRPr lang="en-US" sz="1350" dirty="0"/>
          </a:p>
        </p:txBody>
      </p:sp>
      <p:sp>
        <p:nvSpPr>
          <p:cNvPr id="41" name="Shape 33"/>
          <p:cNvSpPr/>
          <p:nvPr/>
        </p:nvSpPr>
        <p:spPr>
          <a:xfrm>
            <a:off x="8499653" y="3968496"/>
            <a:ext cx="2832506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4"/>
          <p:cNvSpPr/>
          <p:nvPr/>
        </p:nvSpPr>
        <p:spPr>
          <a:xfrm>
            <a:off x="8499653" y="4078224"/>
            <a:ext cx="28507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出初稿，逻辑对不对、要不要这么干，最后人拍板。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548640" y="50292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6"/>
          <p:cNvSpPr/>
          <p:nvPr/>
        </p:nvSpPr>
        <p:spPr>
          <a:xfrm>
            <a:off x="548640" y="5029200"/>
            <a:ext cx="91440" cy="100584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7"/>
          <p:cNvSpPr/>
          <p:nvPr/>
        </p:nvSpPr>
        <p:spPr>
          <a:xfrm>
            <a:off x="914400" y="51755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  </a:t>
            </a: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说清楚、问明白、守主场 —— 用好 AI 就这三件事。</a:t>
            </a:r>
            <a:endParaRPr lang="en-US" sz="1600" dirty="0"/>
          </a:p>
        </p:txBody>
      </p:sp>
      <p:sp>
        <p:nvSpPr>
          <p:cNvPr id="46" name="Text 38"/>
          <p:cNvSpPr/>
          <p:nvPr/>
        </p:nvSpPr>
        <p:spPr>
          <a:xfrm>
            <a:off x="914400" y="55961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 FDE 要教客户的 —— 不是把 AI 卖给你，而是陪你把 AI 用起来、养成习惯。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669280" cy="5669280"/>
          </a:xfrm>
          <a:prstGeom prst="ellipse">
            <a:avLst/>
          </a:prstGeom>
          <a:solidFill>
            <a:srgbClr val="1F6BEB">
              <a:alpha val="1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017520"/>
            <a:ext cx="4389120" cy="4389120"/>
          </a:xfrm>
          <a:prstGeom prst="ellipse">
            <a:avLst/>
          </a:prstGeom>
          <a:solidFill>
            <a:srgbClr val="2BA6F0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97680" cy="4297680"/>
          </a:xfrm>
          <a:prstGeom prst="ellipse">
            <a:avLst/>
          </a:prstGeom>
          <a:noFill/>
          <a:ln w="12700">
            <a:solidFill>
              <a:srgbClr val="BCD6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85216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3776" y="184708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03504" y="4114800"/>
            <a:ext cx="1371600" cy="4572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商汤范式与路线图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66928" y="50109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SENSETIME'S PARADIGM &amp; ROADMAP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5394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自己淋过雨，才知道怎么给客户撑伞 —— 商汤把跑通的范本交给深信服经销商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9842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67344" y="18653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四大优势闭环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24414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67344" y="23225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经济三阶段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28986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67344" y="27797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模型即平台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33558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67344" y="32369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即入口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38130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67344" y="3694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即收入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0" y="42702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67344" y="41513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通用吞行业</a:t>
            </a:r>
            <a:endParaRPr lang="en-US" sz="1250" dirty="0"/>
          </a:p>
        </p:txBody>
      </p:sp>
      <p:pic>
        <p:nvPicPr>
          <p:cNvPr id="23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2" descr="sangfo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29" name="Text 24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优势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商汤四大优势 —— 国内少有的完整闭环 Token 生态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 + 模型 + 平台 + Agent 一体化 —— 全部能力可贴牌输出，专注服务 2B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783080"/>
            <a:ext cx="2567864" cy="365760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783080"/>
            <a:ext cx="2567864" cy="82296"/>
          </a:xfrm>
          <a:prstGeom prst="rect">
            <a:avLst/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768096" y="2057400"/>
            <a:ext cx="621792" cy="621792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980" y="2225284"/>
            <a:ext cx="286024" cy="2860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8096" y="2752344"/>
            <a:ext cx="212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50000P+ 算力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768096" y="3063240"/>
            <a:ext cx="212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算力底座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768096" y="3374136"/>
            <a:ext cx="2165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大装置 25,000P + 二期</a:t>
            </a:r>
            <a:endParaRPr lang="en-US" sz="98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城市智算中心</a:t>
            </a:r>
            <a:endParaRPr lang="en-US" sz="98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国产化算力 2,000P</a:t>
            </a:r>
            <a:endParaRPr lang="en-US" sz="980" dirty="0"/>
          </a:p>
        </p:txBody>
      </p:sp>
      <p:sp>
        <p:nvSpPr>
          <p:cNvPr id="20" name="Shape 14"/>
          <p:cNvSpPr/>
          <p:nvPr/>
        </p:nvSpPr>
        <p:spPr>
          <a:xfrm>
            <a:off x="768096" y="4599432"/>
            <a:ext cx="2128952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5"/>
          <p:cNvSpPr/>
          <p:nvPr/>
        </p:nvSpPr>
        <p:spPr>
          <a:xfrm>
            <a:off x="768096" y="4690872"/>
            <a:ext cx="212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54,000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768096" y="5093208"/>
            <a:ext cx="212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规模化部署</a:t>
            </a:r>
            <a:endParaRPr lang="en-US" sz="880" dirty="0"/>
          </a:p>
        </p:txBody>
      </p:sp>
      <p:sp>
        <p:nvSpPr>
          <p:cNvPr id="23" name="Shape 17"/>
          <p:cNvSpPr/>
          <p:nvPr/>
        </p:nvSpPr>
        <p:spPr>
          <a:xfrm>
            <a:off x="3390824" y="1783080"/>
            <a:ext cx="2567864" cy="365760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8"/>
          <p:cNvSpPr/>
          <p:nvPr/>
        </p:nvSpPr>
        <p:spPr>
          <a:xfrm>
            <a:off x="3390824" y="1783080"/>
            <a:ext cx="2567864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19"/>
          <p:cNvSpPr/>
          <p:nvPr/>
        </p:nvSpPr>
        <p:spPr>
          <a:xfrm>
            <a:off x="3610280" y="2057400"/>
            <a:ext cx="621792" cy="621792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8164" y="2225284"/>
            <a:ext cx="286024" cy="286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0280" y="2752344"/>
            <a:ext cx="212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自研闭源模型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3610280" y="3063240"/>
            <a:ext cx="212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旗舰 · 全模态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3610280" y="3374136"/>
            <a:ext cx="2165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万亿 MoE 旗舰</a:t>
            </a:r>
            <a:endParaRPr lang="en-US" sz="98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SenseAudio 全模态系列</a:t>
            </a:r>
            <a:endParaRPr lang="en-US" sz="98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全球第一梯队评分</a:t>
            </a:r>
            <a:endParaRPr lang="en-US" sz="980" dirty="0"/>
          </a:p>
        </p:txBody>
      </p:sp>
      <p:sp>
        <p:nvSpPr>
          <p:cNvPr id="30" name="Shape 23"/>
          <p:cNvSpPr/>
          <p:nvPr/>
        </p:nvSpPr>
        <p:spPr>
          <a:xfrm>
            <a:off x="3610280" y="4599432"/>
            <a:ext cx="2128952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4"/>
          <p:cNvSpPr/>
          <p:nvPr/>
        </p:nvSpPr>
        <p:spPr>
          <a:xfrm>
            <a:off x="3610280" y="4690872"/>
            <a:ext cx="212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款</a:t>
            </a:r>
            <a:endParaRPr lang="en-US" sz="2100" dirty="0"/>
          </a:p>
        </p:txBody>
      </p:sp>
      <p:sp>
        <p:nvSpPr>
          <p:cNvPr id="32" name="Text 25"/>
          <p:cNvSpPr/>
          <p:nvPr/>
        </p:nvSpPr>
        <p:spPr>
          <a:xfrm>
            <a:off x="3610280" y="5093208"/>
            <a:ext cx="212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自研全模态矩阵</a:t>
            </a:r>
            <a:endParaRPr lang="en-US" sz="880" dirty="0"/>
          </a:p>
        </p:txBody>
      </p:sp>
      <p:sp>
        <p:nvSpPr>
          <p:cNvPr id="33" name="Shape 26"/>
          <p:cNvSpPr/>
          <p:nvPr/>
        </p:nvSpPr>
        <p:spPr>
          <a:xfrm>
            <a:off x="6233008" y="1783080"/>
            <a:ext cx="2567864" cy="365760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7"/>
          <p:cNvSpPr/>
          <p:nvPr/>
        </p:nvSpPr>
        <p:spPr>
          <a:xfrm>
            <a:off x="6233008" y="1783080"/>
            <a:ext cx="2567864" cy="82296"/>
          </a:xfrm>
          <a:prstGeom prst="rect">
            <a:avLst/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8"/>
          <p:cNvSpPr/>
          <p:nvPr/>
        </p:nvSpPr>
        <p:spPr>
          <a:xfrm>
            <a:off x="6452464" y="2057400"/>
            <a:ext cx="621792" cy="621792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347" y="2225284"/>
            <a:ext cx="286024" cy="28602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452464" y="2752344"/>
            <a:ext cx="212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 平台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6452464" y="3063240"/>
            <a:ext cx="212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订阅式 · 已跑通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6452464" y="3374136"/>
            <a:ext cx="2165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 / Max / Ultra 三档</a:t>
            </a:r>
            <a:endParaRPr lang="en-US" sz="98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款模型一个 API Key</a:t>
            </a:r>
            <a:endParaRPr lang="en-US" sz="98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国内率先跑通范本</a:t>
            </a:r>
            <a:endParaRPr lang="en-US" sz="980" dirty="0"/>
          </a:p>
        </p:txBody>
      </p:sp>
      <p:sp>
        <p:nvSpPr>
          <p:cNvPr id="40" name="Shape 32"/>
          <p:cNvSpPr/>
          <p:nvPr/>
        </p:nvSpPr>
        <p:spPr>
          <a:xfrm>
            <a:off x="6452464" y="4599432"/>
            <a:ext cx="2128952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3"/>
          <p:cNvSpPr/>
          <p:nvPr/>
        </p:nvSpPr>
        <p:spPr>
          <a:xfrm>
            <a:off x="6452464" y="4690872"/>
            <a:ext cx="212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款</a:t>
            </a:r>
            <a:endParaRPr lang="en-US" sz="2100" dirty="0"/>
          </a:p>
        </p:txBody>
      </p:sp>
      <p:sp>
        <p:nvSpPr>
          <p:cNvPr id="42" name="Text 34"/>
          <p:cNvSpPr/>
          <p:nvPr/>
        </p:nvSpPr>
        <p:spPr>
          <a:xfrm>
            <a:off x="6452464" y="5093208"/>
            <a:ext cx="212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模型一个 Key</a:t>
            </a:r>
            <a:endParaRPr lang="en-US" sz="880" dirty="0"/>
          </a:p>
        </p:txBody>
      </p:sp>
      <p:sp>
        <p:nvSpPr>
          <p:cNvPr id="43" name="Shape 35"/>
          <p:cNvSpPr/>
          <p:nvPr/>
        </p:nvSpPr>
        <p:spPr>
          <a:xfrm>
            <a:off x="9075191" y="1783080"/>
            <a:ext cx="2567864" cy="365760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6"/>
          <p:cNvSpPr/>
          <p:nvPr/>
        </p:nvSpPr>
        <p:spPr>
          <a:xfrm>
            <a:off x="9075191" y="1783080"/>
            <a:ext cx="2567864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37"/>
          <p:cNvSpPr/>
          <p:nvPr/>
        </p:nvSpPr>
        <p:spPr>
          <a:xfrm>
            <a:off x="9294647" y="2057400"/>
            <a:ext cx="621792" cy="621792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2531" y="2225284"/>
            <a:ext cx="286024" cy="286024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9294647" y="2752344"/>
            <a:ext cx="212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 Agent 生态</a:t>
            </a:r>
            <a:endParaRPr lang="en-US" sz="1450" dirty="0"/>
          </a:p>
        </p:txBody>
      </p:sp>
      <p:sp>
        <p:nvSpPr>
          <p:cNvPr id="48" name="Text 39"/>
          <p:cNvSpPr/>
          <p:nvPr/>
        </p:nvSpPr>
        <p:spPr>
          <a:xfrm>
            <a:off x="9294647" y="3063240"/>
            <a:ext cx="212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三端齐发 · 消耗引擎</a:t>
            </a:r>
            <a:endParaRPr lang="en-US" sz="950" dirty="0"/>
          </a:p>
        </p:txBody>
      </p:sp>
      <p:sp>
        <p:nvSpPr>
          <p:cNvPr id="49" name="Text 40"/>
          <p:cNvSpPr/>
          <p:nvPr/>
        </p:nvSpPr>
        <p:spPr>
          <a:xfrm>
            <a:off x="9294647" y="3374136"/>
            <a:ext cx="2165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S-Agent · Sowork · S-Design</a:t>
            </a:r>
            <a:endParaRPr lang="en-US" sz="98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200+ 专业 Agent 模板</a:t>
            </a:r>
            <a:endParaRPr lang="en-US" sz="98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消耗发动机</a:t>
            </a:r>
            <a:endParaRPr lang="en-US" sz="980" dirty="0"/>
          </a:p>
        </p:txBody>
      </p:sp>
      <p:sp>
        <p:nvSpPr>
          <p:cNvPr id="50" name="Shape 41"/>
          <p:cNvSpPr/>
          <p:nvPr/>
        </p:nvSpPr>
        <p:spPr>
          <a:xfrm>
            <a:off x="9294647" y="4599432"/>
            <a:ext cx="2128952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2"/>
          <p:cNvSpPr/>
          <p:nvPr/>
        </p:nvSpPr>
        <p:spPr>
          <a:xfrm>
            <a:off x="9294647" y="4690872"/>
            <a:ext cx="212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200+</a:t>
            </a:r>
            <a:endParaRPr lang="en-US" sz="2100" dirty="0"/>
          </a:p>
        </p:txBody>
      </p:sp>
      <p:sp>
        <p:nvSpPr>
          <p:cNvPr id="52" name="Text 43"/>
          <p:cNvSpPr/>
          <p:nvPr/>
        </p:nvSpPr>
        <p:spPr>
          <a:xfrm>
            <a:off x="9294647" y="5093208"/>
            <a:ext cx="212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 Agent 模板</a:t>
            </a:r>
            <a:endParaRPr lang="en-US" sz="880" dirty="0"/>
          </a:p>
        </p:txBody>
      </p:sp>
      <p:sp>
        <p:nvSpPr>
          <p:cNvPr id="53" name="Shape 44"/>
          <p:cNvSpPr/>
          <p:nvPr/>
        </p:nvSpPr>
        <p:spPr>
          <a:xfrm>
            <a:off x="548640" y="5632704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5"/>
          <p:cNvSpPr/>
          <p:nvPr/>
        </p:nvSpPr>
        <p:spPr>
          <a:xfrm>
            <a:off x="548640" y="563270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 → 模型 → 平台 → Agent 完整闭环 —— 既服务千行百业，也能让每个人直接上手。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路线图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商业化三阶段 —— Token 经济到来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从卖项目、卖模型，到卖「持续消耗 + 持续续费 + 持续 Upsell」的能力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3393338" cy="2011680"/>
          </a:xfrm>
          <a:prstGeom prst="roundRect">
            <a:avLst>
              <a:gd name="adj" fmla="val 3636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9"/>
          <p:cNvSpPr/>
          <p:nvPr/>
        </p:nvSpPr>
        <p:spPr>
          <a:xfrm>
            <a:off x="822960" y="2066544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2017–2022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22960" y="235915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1.0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841248" y="2889504"/>
            <a:ext cx="548640" cy="36576"/>
          </a:xfrm>
          <a:prstGeom prst="rect">
            <a:avLst/>
          </a:prstGeom>
          <a:solidFill>
            <a:srgbClr val="BCD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2"/>
          <p:cNvSpPr/>
          <p:nvPr/>
        </p:nvSpPr>
        <p:spPr>
          <a:xfrm>
            <a:off x="822960" y="299923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卖项目 · 定制交付 · 头部集中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22960" y="3419856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是单点工具，难复制</a:t>
            </a:r>
            <a:endParaRPr lang="en-US" sz="1030" dirty="0"/>
          </a:p>
        </p:txBody>
      </p:sp>
      <p:sp>
        <p:nvSpPr>
          <p:cNvPr id="19" name="Text 14"/>
          <p:cNvSpPr/>
          <p:nvPr/>
        </p:nvSpPr>
        <p:spPr>
          <a:xfrm>
            <a:off x="3987698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4399178" y="1828800"/>
            <a:ext cx="3393338" cy="2011680"/>
          </a:xfrm>
          <a:prstGeom prst="roundRect">
            <a:avLst>
              <a:gd name="adj" fmla="val 3636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4673498" y="2066544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2023–2025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673498" y="235915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2.0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4691786" y="2889504"/>
            <a:ext cx="548640" cy="36576"/>
          </a:xfrm>
          <a:prstGeom prst="rect">
            <a:avLst/>
          </a:prstGeom>
          <a:solidFill>
            <a:srgbClr val="BCD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9"/>
          <p:cNvSpPr/>
          <p:nvPr/>
        </p:nvSpPr>
        <p:spPr>
          <a:xfrm>
            <a:off x="4673498" y="299923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 Benchmark · 烧钱竞赛 · 价值难证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673498" y="3419856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能答对题，却进不了业务流</a:t>
            </a:r>
            <a:endParaRPr lang="en-US" sz="1030" dirty="0"/>
          </a:p>
        </p:txBody>
      </p:sp>
      <p:sp>
        <p:nvSpPr>
          <p:cNvPr id="26" name="Text 21"/>
          <p:cNvSpPr/>
          <p:nvPr/>
        </p:nvSpPr>
        <p:spPr>
          <a:xfrm>
            <a:off x="7838237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8249717" y="1828800"/>
            <a:ext cx="3393338" cy="2011680"/>
          </a:xfrm>
          <a:prstGeom prst="roundRect">
            <a:avLst>
              <a:gd name="adj" fmla="val 3636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8524037" y="2066544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2026–2028 ◀ 当前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524037" y="235915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3.0</a:t>
            </a:r>
            <a:endParaRPr lang="en-US" sz="2400" dirty="0"/>
          </a:p>
        </p:txBody>
      </p:sp>
      <p:sp>
        <p:nvSpPr>
          <p:cNvPr id="30" name="Shape 25"/>
          <p:cNvSpPr/>
          <p:nvPr/>
        </p:nvSpPr>
        <p:spPr>
          <a:xfrm>
            <a:off x="8542325" y="2889504"/>
            <a:ext cx="548640" cy="3657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6"/>
          <p:cNvSpPr/>
          <p:nvPr/>
        </p:nvSpPr>
        <p:spPr>
          <a:xfrm>
            <a:off x="8524037" y="299923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消费品化 · 订阅续费驱动 · 全渠道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524037" y="3419856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智能体替人干完活，进入岗位</a:t>
            </a:r>
            <a:endParaRPr lang="en-US" sz="1030" dirty="0"/>
          </a:p>
        </p:txBody>
      </p:sp>
      <p:sp>
        <p:nvSpPr>
          <p:cNvPr id="33" name="Shape 28"/>
          <p:cNvSpPr/>
          <p:nvPr/>
        </p:nvSpPr>
        <p:spPr>
          <a:xfrm>
            <a:off x="548640" y="411480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9"/>
          <p:cNvSpPr/>
          <p:nvPr/>
        </p:nvSpPr>
        <p:spPr>
          <a:xfrm>
            <a:off x="548640" y="4114800"/>
            <a:ext cx="73152" cy="123444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0"/>
          <p:cNvSpPr/>
          <p:nvPr/>
        </p:nvSpPr>
        <p:spPr>
          <a:xfrm>
            <a:off x="822960" y="4315968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模型即平台</a:t>
            </a:r>
            <a:endParaRPr lang="en-US" sz="1700" dirty="0"/>
          </a:p>
        </p:txBody>
      </p:sp>
      <p:sp>
        <p:nvSpPr>
          <p:cNvPr id="36" name="Text 31"/>
          <p:cNvSpPr/>
          <p:nvPr/>
        </p:nvSpPr>
        <p:spPr>
          <a:xfrm>
            <a:off x="822960" y="475488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模型能力即底座，承载一切应用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368698" y="411480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3"/>
          <p:cNvSpPr/>
          <p:nvPr/>
        </p:nvSpPr>
        <p:spPr>
          <a:xfrm>
            <a:off x="4368698" y="4114800"/>
            <a:ext cx="73152" cy="123444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4"/>
          <p:cNvSpPr/>
          <p:nvPr/>
        </p:nvSpPr>
        <p:spPr>
          <a:xfrm>
            <a:off x="4643018" y="4315968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即入口</a:t>
            </a:r>
            <a:endParaRPr lang="en-US" sz="1700" dirty="0"/>
          </a:p>
        </p:txBody>
      </p:sp>
      <p:sp>
        <p:nvSpPr>
          <p:cNvPr id="40" name="Text 35"/>
          <p:cNvSpPr/>
          <p:nvPr/>
        </p:nvSpPr>
        <p:spPr>
          <a:xfrm>
            <a:off x="4643018" y="475488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是用户触点，把能力变成「会干活」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8188757" y="411480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7"/>
          <p:cNvSpPr/>
          <p:nvPr/>
        </p:nvSpPr>
        <p:spPr>
          <a:xfrm>
            <a:off x="8188757" y="4114800"/>
            <a:ext cx="73152" cy="123444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8"/>
          <p:cNvSpPr/>
          <p:nvPr/>
        </p:nvSpPr>
        <p:spPr>
          <a:xfrm>
            <a:off x="8463077" y="4315968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即收入</a:t>
            </a:r>
            <a:endParaRPr lang="en-US" sz="1700" dirty="0"/>
          </a:p>
        </p:txBody>
      </p:sp>
      <p:sp>
        <p:nvSpPr>
          <p:cNvPr id="44" name="Text 39"/>
          <p:cNvSpPr/>
          <p:nvPr/>
        </p:nvSpPr>
        <p:spPr>
          <a:xfrm>
            <a:off x="8463077" y="475488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价值与收费全部向 Token 消耗集中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548640" y="557784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1"/>
          <p:cNvSpPr/>
          <p:nvPr/>
        </p:nvSpPr>
        <p:spPr>
          <a:xfrm>
            <a:off x="548640" y="557784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谁能把模型能力变成「持续消耗」的产品，谁就赢得 Token 红利 —— 这就是商汤的范式，也是你的生意。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669280" cy="5669280"/>
          </a:xfrm>
          <a:prstGeom prst="ellipse">
            <a:avLst/>
          </a:prstGeom>
          <a:solidFill>
            <a:srgbClr val="1F6BEB">
              <a:alpha val="1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017520"/>
            <a:ext cx="4389120" cy="4389120"/>
          </a:xfrm>
          <a:prstGeom prst="ellipse">
            <a:avLst/>
          </a:prstGeom>
          <a:solidFill>
            <a:srgbClr val="2BA6F0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97680" cy="4297680"/>
          </a:xfrm>
          <a:prstGeom prst="ellipse">
            <a:avLst/>
          </a:prstGeom>
          <a:noFill/>
          <a:ln w="12700">
            <a:solidFill>
              <a:srgbClr val="BCD6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85216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3776" y="184708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03504" y="4114800"/>
            <a:ext cx="1371600" cy="4572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Token Plan：最好的「货」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66928" y="50109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BEST PRODUCT TO SELL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5394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模型最全、折扣最低、S2 最强 —— 买商汤一家，等于阿里 + 字节 + 四小龙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9842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67344" y="18653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 vs API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24414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67344" y="23225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三档套餐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28986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67344" y="27797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模型一个 Key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33558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67344" y="32369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旗舰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38130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67344" y="3694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ABCDE 模块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0" y="42702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67344" y="41513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 Agent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0" y="47274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467344" y="46085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市场横评与选型</a:t>
            </a:r>
            <a:endParaRPr lang="en-US" sz="1250" dirty="0"/>
          </a:p>
        </p:txBody>
      </p:sp>
      <p:pic>
        <p:nvPicPr>
          <p:cNvPr id="25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2" descr="sangfo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31" name="Text 2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形态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为什么卖「Token Plan」，而不是卖「模型 API」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 AI，两种产品形态、两种生意 —— 订阅式 Token Plan 才是企业要的、也是你能赚钱的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783080"/>
            <a:ext cx="5272888" cy="2377440"/>
          </a:xfrm>
          <a:prstGeom prst="roundRect">
            <a:avLst>
              <a:gd name="adj" fmla="val 3077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9"/>
          <p:cNvSpPr/>
          <p:nvPr/>
        </p:nvSpPr>
        <p:spPr>
          <a:xfrm>
            <a:off x="859536" y="2002536"/>
            <a:ext cx="472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模型 API（按量计费）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77824" y="2496312"/>
            <a:ext cx="640080" cy="36576"/>
          </a:xfrm>
          <a:prstGeom prst="rect">
            <a:avLst/>
          </a:prstGeom>
          <a:solidFill>
            <a:srgbClr val="6C7C8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859536" y="2660904"/>
            <a:ext cx="466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客户：开发者 / 技术团队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859536" y="3026664"/>
            <a:ext cx="466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Token 量按次计费、公开报价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59536" y="3392424"/>
            <a:ext cx="466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价格敏感、试用驱动、续费弱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59536" y="3758184"/>
            <a:ext cx="466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靠价格战 —— 毛利薄、难赚钱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70168" y="1783080"/>
            <a:ext cx="5272888" cy="2377440"/>
          </a:xfrm>
          <a:prstGeom prst="roundRect">
            <a:avLst>
              <a:gd name="adj" fmla="val 3077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6681064" y="2002536"/>
            <a:ext cx="472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Token Plan（订阅式）★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699352" y="2496312"/>
            <a:ext cx="640080" cy="3657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6681064" y="2660904"/>
            <a:ext cx="466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客户：中小企业 / 部门 / 团队（2B 主力）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681064" y="3026664"/>
            <a:ext cx="466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三档订阅 + Extra，预算锁定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681064" y="3392424"/>
            <a:ext cx="466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续费强、NDR ≥ 120%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681064" y="3758184"/>
            <a:ext cx="466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 50–70%、用不完是纯利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48640" y="43708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 比 API 更适合企业的 5 大杠杆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48640" y="4754880"/>
            <a:ext cx="1926275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4"/>
          <p:cNvSpPr/>
          <p:nvPr/>
        </p:nvSpPr>
        <p:spPr>
          <a:xfrm>
            <a:off x="1283178" y="4956048"/>
            <a:ext cx="457200" cy="457200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5"/>
          <p:cNvSpPr/>
          <p:nvPr/>
        </p:nvSpPr>
        <p:spPr>
          <a:xfrm>
            <a:off x="1283178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548640" y="5468112"/>
            <a:ext cx="1926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预算友好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640080" y="5724144"/>
            <a:ext cx="1743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固定订阅·IT 申报审计便利</a:t>
            </a:r>
            <a:endParaRPr lang="en-US" sz="880" dirty="0"/>
          </a:p>
        </p:txBody>
      </p:sp>
      <p:sp>
        <p:nvSpPr>
          <p:cNvPr id="33" name="Shape 28"/>
          <p:cNvSpPr/>
          <p:nvPr/>
        </p:nvSpPr>
        <p:spPr>
          <a:xfrm>
            <a:off x="2840675" y="4754880"/>
            <a:ext cx="1926275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9"/>
          <p:cNvSpPr/>
          <p:nvPr/>
        </p:nvSpPr>
        <p:spPr>
          <a:xfrm>
            <a:off x="3575213" y="4956048"/>
            <a:ext cx="457200" cy="457200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0"/>
          <p:cNvSpPr/>
          <p:nvPr/>
        </p:nvSpPr>
        <p:spPr>
          <a:xfrm>
            <a:off x="3575213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2840675" y="5468112"/>
            <a:ext cx="1926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用不完纯利</a:t>
            </a:r>
            <a:endParaRPr lang="en-US" sz="1250" dirty="0"/>
          </a:p>
        </p:txBody>
      </p:sp>
      <p:sp>
        <p:nvSpPr>
          <p:cNvPr id="37" name="Text 32"/>
          <p:cNvSpPr/>
          <p:nvPr/>
        </p:nvSpPr>
        <p:spPr>
          <a:xfrm>
            <a:off x="2932115" y="5724144"/>
            <a:ext cx="1743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防薅羊毛·未用完=纯利</a:t>
            </a:r>
            <a:endParaRPr lang="en-US" sz="880" dirty="0"/>
          </a:p>
        </p:txBody>
      </p:sp>
      <p:sp>
        <p:nvSpPr>
          <p:cNvPr id="38" name="Shape 33"/>
          <p:cNvSpPr/>
          <p:nvPr/>
        </p:nvSpPr>
        <p:spPr>
          <a:xfrm>
            <a:off x="5132710" y="4754880"/>
            <a:ext cx="1926275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4"/>
          <p:cNvSpPr/>
          <p:nvPr/>
        </p:nvSpPr>
        <p:spPr>
          <a:xfrm>
            <a:off x="5867248" y="4956048"/>
            <a:ext cx="457200" cy="457200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5"/>
          <p:cNvSpPr/>
          <p:nvPr/>
        </p:nvSpPr>
        <p:spPr>
          <a:xfrm>
            <a:off x="5867248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Text 36"/>
          <p:cNvSpPr/>
          <p:nvPr/>
        </p:nvSpPr>
        <p:spPr>
          <a:xfrm>
            <a:off x="5132710" y="5468112"/>
            <a:ext cx="1926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续费杠杆</a:t>
            </a:r>
            <a:endParaRPr lang="en-US" sz="1250" dirty="0"/>
          </a:p>
        </p:txBody>
      </p:sp>
      <p:sp>
        <p:nvSpPr>
          <p:cNvPr id="42" name="Text 37"/>
          <p:cNvSpPr/>
          <p:nvPr/>
        </p:nvSpPr>
        <p:spPr>
          <a:xfrm>
            <a:off x="5224150" y="5724144"/>
            <a:ext cx="1743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订阅天然续期·NDR 120%+</a:t>
            </a:r>
            <a:endParaRPr lang="en-US" sz="880" dirty="0"/>
          </a:p>
        </p:txBody>
      </p:sp>
      <p:sp>
        <p:nvSpPr>
          <p:cNvPr id="43" name="Shape 38"/>
          <p:cNvSpPr/>
          <p:nvPr/>
        </p:nvSpPr>
        <p:spPr>
          <a:xfrm>
            <a:off x="7424745" y="4754880"/>
            <a:ext cx="1926275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9"/>
          <p:cNvSpPr/>
          <p:nvPr/>
        </p:nvSpPr>
        <p:spPr>
          <a:xfrm>
            <a:off x="8159283" y="4956048"/>
            <a:ext cx="457200" cy="457200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0"/>
          <p:cNvSpPr/>
          <p:nvPr/>
        </p:nvSpPr>
        <p:spPr>
          <a:xfrm>
            <a:off x="8159283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46" name="Text 41"/>
          <p:cNvSpPr/>
          <p:nvPr/>
        </p:nvSpPr>
        <p:spPr>
          <a:xfrm>
            <a:off x="7424745" y="5468112"/>
            <a:ext cx="1926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Upsell 路径</a:t>
            </a:r>
            <a:endParaRPr lang="en-US" sz="1250" dirty="0"/>
          </a:p>
        </p:txBody>
      </p:sp>
      <p:sp>
        <p:nvSpPr>
          <p:cNvPr id="47" name="Text 42"/>
          <p:cNvSpPr/>
          <p:nvPr/>
        </p:nvSpPr>
        <p:spPr>
          <a:xfrm>
            <a:off x="7516185" y="5724144"/>
            <a:ext cx="1743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Pro→Max→Ultra 清晰</a:t>
            </a:r>
            <a:endParaRPr lang="en-US" sz="880" dirty="0"/>
          </a:p>
        </p:txBody>
      </p:sp>
      <p:sp>
        <p:nvSpPr>
          <p:cNvPr id="48" name="Shape 43"/>
          <p:cNvSpPr/>
          <p:nvPr/>
        </p:nvSpPr>
        <p:spPr>
          <a:xfrm>
            <a:off x="9716780" y="4754880"/>
            <a:ext cx="1926275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4"/>
          <p:cNvSpPr/>
          <p:nvPr/>
        </p:nvSpPr>
        <p:spPr>
          <a:xfrm>
            <a:off x="10451318" y="4956048"/>
            <a:ext cx="457200" cy="457200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5"/>
          <p:cNvSpPr/>
          <p:nvPr/>
        </p:nvSpPr>
        <p:spPr>
          <a:xfrm>
            <a:off x="10451318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51" name="Text 46"/>
          <p:cNvSpPr/>
          <p:nvPr/>
        </p:nvSpPr>
        <p:spPr>
          <a:xfrm>
            <a:off x="9716780" y="5468112"/>
            <a:ext cx="1926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介入</a:t>
            </a:r>
            <a:endParaRPr lang="en-US" sz="1250" dirty="0"/>
          </a:p>
        </p:txBody>
      </p:sp>
      <p:sp>
        <p:nvSpPr>
          <p:cNvPr id="52" name="Text 47"/>
          <p:cNvSpPr/>
          <p:nvPr/>
        </p:nvSpPr>
        <p:spPr>
          <a:xfrm>
            <a:off x="9808220" y="5724144"/>
            <a:ext cx="1743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订阅+FDE 共建天然契合</a:t>
            </a:r>
            <a:endParaRPr lang="en-US" sz="8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套餐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三档套餐：Pro / Max / Ultra —— 一份订阅，一个 API Key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国内人民币 + 海外美元双轨 · 16 款模型 · 99.98% SLA · 统一额度池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783080"/>
            <a:ext cx="345429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783080"/>
            <a:ext cx="3454298" cy="91440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>
            <a:off x="841248" y="2057400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 专业版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841248" y="2459736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/ 原型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41248" y="2825496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¥199</a:t>
            </a:r>
            <a:r>
              <a:rPr lang="en-US" sz="140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/月</a:t>
            </a:r>
            <a:endParaRPr lang="en-US" sz="3800" dirty="0"/>
          </a:p>
        </p:txBody>
      </p:sp>
      <p:sp>
        <p:nvSpPr>
          <p:cNvPr id="18" name="Shape 13"/>
          <p:cNvSpPr/>
          <p:nvPr/>
        </p:nvSpPr>
        <p:spPr>
          <a:xfrm>
            <a:off x="841248" y="3575304"/>
            <a:ext cx="2869082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841248" y="3685032"/>
            <a:ext cx="29056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224 万积分 · 44 折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41248" y="406908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 $30 /mo（新加坡主体收款）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368698" y="1783080"/>
            <a:ext cx="3454298" cy="2788920"/>
          </a:xfrm>
          <a:prstGeom prst="roundRect">
            <a:avLst>
              <a:gd name="adj" fmla="val 2623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4368698" y="1783080"/>
            <a:ext cx="3454298" cy="9144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4661306" y="2057400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商业版 ★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4661306" y="2459736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 / 中大企业 · 主推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661306" y="2825496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¥699</a:t>
            </a:r>
            <a:r>
              <a:rPr lang="en-US" sz="14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/月</a:t>
            </a:r>
            <a:endParaRPr lang="en-US" sz="3800" dirty="0"/>
          </a:p>
        </p:txBody>
      </p:sp>
      <p:sp>
        <p:nvSpPr>
          <p:cNvPr id="26" name="Shape 21"/>
          <p:cNvSpPr/>
          <p:nvPr/>
        </p:nvSpPr>
        <p:spPr>
          <a:xfrm>
            <a:off x="4661306" y="3575304"/>
            <a:ext cx="2869082" cy="0"/>
          </a:xfrm>
          <a:prstGeom prst="line">
            <a:avLst/>
          </a:prstGeom>
          <a:noFill/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2"/>
          <p:cNvSpPr/>
          <p:nvPr/>
        </p:nvSpPr>
        <p:spPr>
          <a:xfrm>
            <a:off x="4661306" y="3685032"/>
            <a:ext cx="29056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1,120 万积分 · 31 折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4661306" y="406908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 $100 /mo（新加坡主体收款）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8188757" y="1783080"/>
            <a:ext cx="345429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8188757" y="1783080"/>
            <a:ext cx="3454298" cy="91440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6"/>
          <p:cNvSpPr/>
          <p:nvPr/>
        </p:nvSpPr>
        <p:spPr>
          <a:xfrm>
            <a:off x="8481365" y="2057400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Ultra 旗舰版</a:t>
            </a:r>
            <a:endParaRPr lang="en-US" sz="1900" dirty="0"/>
          </a:p>
        </p:txBody>
      </p:sp>
      <p:sp>
        <p:nvSpPr>
          <p:cNvPr id="32" name="Text 27"/>
          <p:cNvSpPr/>
          <p:nvPr/>
        </p:nvSpPr>
        <p:spPr>
          <a:xfrm>
            <a:off x="8481365" y="2459736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 / 企业级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481365" y="2825496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¥1,899</a:t>
            </a:r>
            <a:r>
              <a:rPr lang="en-US" sz="140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/月</a:t>
            </a:r>
            <a:endParaRPr lang="en-US" sz="3800" dirty="0"/>
          </a:p>
        </p:txBody>
      </p:sp>
      <p:sp>
        <p:nvSpPr>
          <p:cNvPr id="34" name="Shape 29"/>
          <p:cNvSpPr/>
          <p:nvPr/>
        </p:nvSpPr>
        <p:spPr>
          <a:xfrm>
            <a:off x="8481365" y="3575304"/>
            <a:ext cx="2869082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0"/>
          <p:cNvSpPr/>
          <p:nvPr/>
        </p:nvSpPr>
        <p:spPr>
          <a:xfrm>
            <a:off x="8481365" y="3685032"/>
            <a:ext cx="29056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4,480 万积分 · 21 折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8481365" y="406908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 $250 /mo（新加坡主体收款）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548640" y="4754880"/>
            <a:ext cx="11094415" cy="1280160"/>
          </a:xfrm>
          <a:prstGeom prst="roundRect">
            <a:avLst>
              <a:gd name="adj" fmla="val 5714"/>
            </a:avLst>
          </a:prstGeom>
          <a:solidFill>
            <a:srgbClr val="EAF2F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3"/>
          <p:cNvSpPr/>
          <p:nvPr/>
        </p:nvSpPr>
        <p:spPr>
          <a:xfrm>
            <a:off x="877824" y="48828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套餐 5 大设计优势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877824" y="5358384"/>
            <a:ext cx="146304" cy="146304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5"/>
          <p:cNvSpPr/>
          <p:nvPr/>
        </p:nvSpPr>
        <p:spPr>
          <a:xfrm>
            <a:off x="1097280" y="5266944"/>
            <a:ext cx="19409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统一额度池（16 模型共享）</a:t>
            </a:r>
            <a:endParaRPr lang="en-US" sz="980" dirty="0"/>
          </a:p>
        </p:txBody>
      </p:sp>
      <p:sp>
        <p:nvSpPr>
          <p:cNvPr id="41" name="Shape 36"/>
          <p:cNvSpPr/>
          <p:nvPr/>
        </p:nvSpPr>
        <p:spPr>
          <a:xfrm>
            <a:off x="3001609" y="5358384"/>
            <a:ext cx="146304" cy="146304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7"/>
          <p:cNvSpPr/>
          <p:nvPr/>
        </p:nvSpPr>
        <p:spPr>
          <a:xfrm>
            <a:off x="3221065" y="5266944"/>
            <a:ext cx="19409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5h 滚动窗口（适配峰值）</a:t>
            </a:r>
            <a:endParaRPr lang="en-US" sz="980" dirty="0"/>
          </a:p>
        </p:txBody>
      </p:sp>
      <p:sp>
        <p:nvSpPr>
          <p:cNvPr id="43" name="Shape 38"/>
          <p:cNvSpPr/>
          <p:nvPr/>
        </p:nvSpPr>
        <p:spPr>
          <a:xfrm>
            <a:off x="5125395" y="5358384"/>
            <a:ext cx="146304" cy="146304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9"/>
          <p:cNvSpPr/>
          <p:nvPr/>
        </p:nvSpPr>
        <p:spPr>
          <a:xfrm>
            <a:off x="5344851" y="5266944"/>
            <a:ext cx="19409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周/月度上限（防挤占）</a:t>
            </a:r>
            <a:endParaRPr lang="en-US" sz="980" dirty="0"/>
          </a:p>
        </p:txBody>
      </p:sp>
      <p:sp>
        <p:nvSpPr>
          <p:cNvPr id="45" name="Shape 40"/>
          <p:cNvSpPr/>
          <p:nvPr/>
        </p:nvSpPr>
        <p:spPr>
          <a:xfrm>
            <a:off x="7249180" y="5358384"/>
            <a:ext cx="146304" cy="146304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1"/>
          <p:cNvSpPr/>
          <p:nvPr/>
        </p:nvSpPr>
        <p:spPr>
          <a:xfrm>
            <a:off x="7468636" y="5266944"/>
            <a:ext cx="19409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月初重置（自动充）</a:t>
            </a:r>
            <a:endParaRPr lang="en-US" sz="980" dirty="0"/>
          </a:p>
        </p:txBody>
      </p:sp>
      <p:sp>
        <p:nvSpPr>
          <p:cNvPr id="47" name="Shape 42"/>
          <p:cNvSpPr/>
          <p:nvPr/>
        </p:nvSpPr>
        <p:spPr>
          <a:xfrm>
            <a:off x="9372966" y="5358384"/>
            <a:ext cx="146304" cy="146304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3"/>
          <p:cNvSpPr/>
          <p:nvPr/>
        </p:nvSpPr>
        <p:spPr>
          <a:xfrm>
            <a:off x="9592422" y="5266944"/>
            <a:ext cx="19409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超额不停机（Extra 计费）</a:t>
            </a:r>
            <a:endParaRPr lang="en-US" sz="9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模型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款模型一个 API Key —— 买一家，等于买一桌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款自研 + 8 款第三方，统一积分池均摊 —— 客户体感最干净，无隐藏价差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755648"/>
            <a:ext cx="5318608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755648"/>
            <a:ext cx="5318608" cy="475488"/>
          </a:xfrm>
          <a:prstGeom prst="roundRect">
            <a:avLst>
              <a:gd name="adj" fmla="val 15385"/>
            </a:avLst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548640" y="2066544"/>
            <a:ext cx="5318608" cy="164592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786384" y="1755648"/>
            <a:ext cx="486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商汤自研 · 8 款（全模态闭源）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04672" y="23591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SenseAudio-S2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154680" y="2359152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万亿 MoE 旗舰 · 全模态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90008" y="237744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5"/>
          <p:cNvSpPr/>
          <p:nvPr/>
        </p:nvSpPr>
        <p:spPr>
          <a:xfrm>
            <a:off x="5090008" y="23774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804672" y="2715768"/>
            <a:ext cx="4806544" cy="0"/>
          </a:xfrm>
          <a:prstGeom prst="line">
            <a:avLst/>
          </a:prstGeom>
          <a:noFill/>
          <a:ln w="9525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804672" y="2788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SenseNova-U1-Fast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3154680" y="2788920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通用快速 · 低延迟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090008" y="280720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0"/>
          <p:cNvSpPr/>
          <p:nvPr/>
        </p:nvSpPr>
        <p:spPr>
          <a:xfrm>
            <a:off x="5090008" y="2807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256K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804672" y="3145536"/>
            <a:ext cx="4806544" cy="0"/>
          </a:xfrm>
          <a:prstGeom prst="line">
            <a:avLst/>
          </a:prstGeom>
          <a:noFill/>
          <a:ln w="9525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2"/>
          <p:cNvSpPr/>
          <p:nvPr/>
        </p:nvSpPr>
        <p:spPr>
          <a:xfrm>
            <a:off x="804672" y="32186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SenseNova-6.7-Lite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3154680" y="3218688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轻量旗舰 · 极致性价比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090008" y="323697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5"/>
          <p:cNvSpPr/>
          <p:nvPr/>
        </p:nvSpPr>
        <p:spPr>
          <a:xfrm>
            <a:off x="5090008" y="32369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128K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804672" y="3575304"/>
            <a:ext cx="4806544" cy="0"/>
          </a:xfrm>
          <a:prstGeom prst="line">
            <a:avLst/>
          </a:prstGeom>
          <a:noFill/>
          <a:ln w="9525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7"/>
          <p:cNvSpPr/>
          <p:nvPr/>
        </p:nvSpPr>
        <p:spPr>
          <a:xfrm>
            <a:off x="804672" y="36484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S2-VL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3154680" y="3648456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视觉理解 · 图文/文档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5090008" y="366674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0"/>
          <p:cNvSpPr/>
          <p:nvPr/>
        </p:nvSpPr>
        <p:spPr>
          <a:xfrm>
            <a:off x="5090008" y="366674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256K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804672" y="4005072"/>
            <a:ext cx="4806544" cy="0"/>
          </a:xfrm>
          <a:prstGeom prst="line">
            <a:avLst/>
          </a:prstGeom>
          <a:noFill/>
          <a:ln w="9525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2"/>
          <p:cNvSpPr/>
          <p:nvPr/>
        </p:nvSpPr>
        <p:spPr>
          <a:xfrm>
            <a:off x="804672" y="4078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S2-TTS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3154680" y="4078224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语音合成 · 富情绪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5090008" y="4096512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5"/>
          <p:cNvSpPr/>
          <p:nvPr/>
        </p:nvSpPr>
        <p:spPr>
          <a:xfrm>
            <a:off x="5090008" y="40965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804672" y="4434840"/>
            <a:ext cx="4806544" cy="0"/>
          </a:xfrm>
          <a:prstGeom prst="line">
            <a:avLst/>
          </a:prstGeom>
          <a:noFill/>
          <a:ln w="9525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7"/>
          <p:cNvSpPr/>
          <p:nvPr/>
        </p:nvSpPr>
        <p:spPr>
          <a:xfrm>
            <a:off x="804672" y="4507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S2-ASR</a:t>
            </a:r>
            <a:endParaRPr lang="en-US" sz="1150" dirty="0"/>
          </a:p>
        </p:txBody>
      </p:sp>
      <p:sp>
        <p:nvSpPr>
          <p:cNvPr id="43" name="Text 38"/>
          <p:cNvSpPr/>
          <p:nvPr/>
        </p:nvSpPr>
        <p:spPr>
          <a:xfrm>
            <a:off x="3154680" y="4507992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 语言识别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5090008" y="452628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0"/>
          <p:cNvSpPr/>
          <p:nvPr/>
        </p:nvSpPr>
        <p:spPr>
          <a:xfrm>
            <a:off x="5090008" y="45262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804672" y="4864608"/>
            <a:ext cx="4806544" cy="0"/>
          </a:xfrm>
          <a:prstGeom prst="line">
            <a:avLst/>
          </a:prstGeom>
          <a:noFill/>
          <a:ln w="9525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2"/>
          <p:cNvSpPr/>
          <p:nvPr/>
        </p:nvSpPr>
        <p:spPr>
          <a:xfrm>
            <a:off x="804672" y="49377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S2-Image</a:t>
            </a:r>
            <a:endParaRPr lang="en-US" sz="1150" dirty="0"/>
          </a:p>
        </p:txBody>
      </p:sp>
      <p:sp>
        <p:nvSpPr>
          <p:cNvPr id="48" name="Text 43"/>
          <p:cNvSpPr/>
          <p:nvPr/>
        </p:nvSpPr>
        <p:spPr>
          <a:xfrm>
            <a:off x="3154680" y="4937760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图片生成 · 商业可用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5090008" y="495604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5"/>
          <p:cNvSpPr/>
          <p:nvPr/>
        </p:nvSpPr>
        <p:spPr>
          <a:xfrm>
            <a:off x="5090008" y="49560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804672" y="5294376"/>
            <a:ext cx="4806544" cy="0"/>
          </a:xfrm>
          <a:prstGeom prst="line">
            <a:avLst/>
          </a:prstGeom>
          <a:noFill/>
          <a:ln w="9525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7"/>
          <p:cNvSpPr/>
          <p:nvPr/>
        </p:nvSpPr>
        <p:spPr>
          <a:xfrm>
            <a:off x="804672" y="5367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S2-Music</a:t>
            </a:r>
            <a:endParaRPr lang="en-US" sz="1150" dirty="0"/>
          </a:p>
        </p:txBody>
      </p:sp>
      <p:sp>
        <p:nvSpPr>
          <p:cNvPr id="53" name="Text 48"/>
          <p:cNvSpPr/>
          <p:nvPr/>
        </p:nvSpPr>
        <p:spPr>
          <a:xfrm>
            <a:off x="3154680" y="5367528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音乐生成 · 情绪曲线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5090008" y="538581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0"/>
          <p:cNvSpPr/>
          <p:nvPr/>
        </p:nvSpPr>
        <p:spPr>
          <a:xfrm>
            <a:off x="5090008" y="53858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6324448" y="1755648"/>
            <a:ext cx="5318608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2"/>
          <p:cNvSpPr/>
          <p:nvPr/>
        </p:nvSpPr>
        <p:spPr>
          <a:xfrm>
            <a:off x="6324448" y="1755648"/>
            <a:ext cx="5318608" cy="475488"/>
          </a:xfrm>
          <a:prstGeom prst="roundRect">
            <a:avLst>
              <a:gd name="adj" fmla="val 15385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3"/>
          <p:cNvSpPr/>
          <p:nvPr/>
        </p:nvSpPr>
        <p:spPr>
          <a:xfrm>
            <a:off x="6324448" y="2066544"/>
            <a:ext cx="5318608" cy="164592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4"/>
          <p:cNvSpPr/>
          <p:nvPr/>
        </p:nvSpPr>
        <p:spPr>
          <a:xfrm>
            <a:off x="6562192" y="1755648"/>
            <a:ext cx="486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第三方聚合 · 8 款（一桌全有）</a:t>
            </a:r>
            <a:endParaRPr lang="en-US" sz="1300" dirty="0"/>
          </a:p>
        </p:txBody>
      </p:sp>
      <p:sp>
        <p:nvSpPr>
          <p:cNvPr id="60" name="Text 55"/>
          <p:cNvSpPr/>
          <p:nvPr/>
        </p:nvSpPr>
        <p:spPr>
          <a:xfrm>
            <a:off x="6580480" y="23591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DeepSeek-V4 Pro</a:t>
            </a:r>
            <a:endParaRPr lang="en-US" sz="1150" dirty="0"/>
          </a:p>
        </p:txBody>
      </p:sp>
      <p:sp>
        <p:nvSpPr>
          <p:cNvPr id="61" name="Text 56"/>
          <p:cNvSpPr/>
          <p:nvPr/>
        </p:nvSpPr>
        <p:spPr>
          <a:xfrm>
            <a:off x="8930488" y="2359152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编码推理 SOTA · 2.5 折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10865815" y="237744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58"/>
          <p:cNvSpPr/>
          <p:nvPr/>
        </p:nvSpPr>
        <p:spPr>
          <a:xfrm>
            <a:off x="10865815" y="23774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</a:t>
            </a:r>
            <a:endParaRPr lang="en-US" sz="850" dirty="0"/>
          </a:p>
        </p:txBody>
      </p:sp>
      <p:sp>
        <p:nvSpPr>
          <p:cNvPr id="64" name="Shape 59"/>
          <p:cNvSpPr/>
          <p:nvPr/>
        </p:nvSpPr>
        <p:spPr>
          <a:xfrm>
            <a:off x="6580480" y="2715768"/>
            <a:ext cx="4806544" cy="0"/>
          </a:xfrm>
          <a:prstGeom prst="line">
            <a:avLst/>
          </a:prstGeom>
          <a:noFill/>
          <a:ln w="9525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0"/>
          <p:cNvSpPr/>
          <p:nvPr/>
        </p:nvSpPr>
        <p:spPr>
          <a:xfrm>
            <a:off x="6580480" y="2788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DeepSeek-V4 Flash</a:t>
            </a:r>
            <a:endParaRPr lang="en-US" sz="1150" dirty="0"/>
          </a:p>
        </p:txBody>
      </p:sp>
      <p:sp>
        <p:nvSpPr>
          <p:cNvPr id="66" name="Text 61"/>
          <p:cNvSpPr/>
          <p:nvPr/>
        </p:nvSpPr>
        <p:spPr>
          <a:xfrm>
            <a:off x="8930488" y="2788920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极致性价比 · 快速</a:t>
            </a:r>
            <a:endParaRPr lang="en-US" sz="950" dirty="0"/>
          </a:p>
        </p:txBody>
      </p:sp>
      <p:sp>
        <p:nvSpPr>
          <p:cNvPr id="67" name="Shape 62"/>
          <p:cNvSpPr/>
          <p:nvPr/>
        </p:nvSpPr>
        <p:spPr>
          <a:xfrm>
            <a:off x="10865815" y="280720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3"/>
          <p:cNvSpPr/>
          <p:nvPr/>
        </p:nvSpPr>
        <p:spPr>
          <a:xfrm>
            <a:off x="10865815" y="2807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</a:t>
            </a:r>
            <a:endParaRPr lang="en-US" sz="850" dirty="0"/>
          </a:p>
        </p:txBody>
      </p:sp>
      <p:sp>
        <p:nvSpPr>
          <p:cNvPr id="69" name="Shape 64"/>
          <p:cNvSpPr/>
          <p:nvPr/>
        </p:nvSpPr>
        <p:spPr>
          <a:xfrm>
            <a:off x="6580480" y="3145536"/>
            <a:ext cx="4806544" cy="0"/>
          </a:xfrm>
          <a:prstGeom prst="line">
            <a:avLst/>
          </a:prstGeom>
          <a:noFill/>
          <a:ln w="9525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5"/>
          <p:cNvSpPr/>
          <p:nvPr/>
        </p:nvSpPr>
        <p:spPr>
          <a:xfrm>
            <a:off x="6580480" y="32186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K2.6</a:t>
            </a:r>
            <a:endParaRPr lang="en-US" sz="1150" dirty="0"/>
          </a:p>
        </p:txBody>
      </p:sp>
      <p:sp>
        <p:nvSpPr>
          <p:cNvPr id="71" name="Text 66"/>
          <p:cNvSpPr/>
          <p:nvPr/>
        </p:nvSpPr>
        <p:spPr>
          <a:xfrm>
            <a:off x="8930488" y="3218688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超长上下文</a:t>
            </a:r>
            <a:endParaRPr lang="en-US" sz="950" dirty="0"/>
          </a:p>
        </p:txBody>
      </p:sp>
      <p:sp>
        <p:nvSpPr>
          <p:cNvPr id="72" name="Shape 67"/>
          <p:cNvSpPr/>
          <p:nvPr/>
        </p:nvSpPr>
        <p:spPr>
          <a:xfrm>
            <a:off x="10865815" y="323697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68"/>
          <p:cNvSpPr/>
          <p:nvPr/>
        </p:nvSpPr>
        <p:spPr>
          <a:xfrm>
            <a:off x="10865815" y="32369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2M</a:t>
            </a:r>
            <a:endParaRPr lang="en-US" sz="850" dirty="0"/>
          </a:p>
        </p:txBody>
      </p:sp>
      <p:sp>
        <p:nvSpPr>
          <p:cNvPr id="74" name="Shape 69"/>
          <p:cNvSpPr/>
          <p:nvPr/>
        </p:nvSpPr>
        <p:spPr>
          <a:xfrm>
            <a:off x="6580480" y="3575304"/>
            <a:ext cx="4806544" cy="0"/>
          </a:xfrm>
          <a:prstGeom prst="line">
            <a:avLst/>
          </a:prstGeom>
          <a:noFill/>
          <a:ln w="9525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0"/>
          <p:cNvSpPr/>
          <p:nvPr/>
        </p:nvSpPr>
        <p:spPr>
          <a:xfrm>
            <a:off x="6580480" y="36484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GLM-5.2</a:t>
            </a:r>
            <a:endParaRPr lang="en-US" sz="1150" dirty="0"/>
          </a:p>
        </p:txBody>
      </p:sp>
      <p:sp>
        <p:nvSpPr>
          <p:cNvPr id="76" name="Text 71"/>
          <p:cNvSpPr/>
          <p:nvPr/>
        </p:nvSpPr>
        <p:spPr>
          <a:xfrm>
            <a:off x="8930488" y="3648456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中文优秀 · 智谱</a:t>
            </a:r>
            <a:endParaRPr lang="en-US" sz="950" dirty="0"/>
          </a:p>
        </p:txBody>
      </p:sp>
      <p:sp>
        <p:nvSpPr>
          <p:cNvPr id="77" name="Shape 72"/>
          <p:cNvSpPr/>
          <p:nvPr/>
        </p:nvSpPr>
        <p:spPr>
          <a:xfrm>
            <a:off x="10865815" y="366674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3"/>
          <p:cNvSpPr/>
          <p:nvPr/>
        </p:nvSpPr>
        <p:spPr>
          <a:xfrm>
            <a:off x="10865815" y="366674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200K</a:t>
            </a:r>
            <a:endParaRPr lang="en-US" sz="850" dirty="0"/>
          </a:p>
        </p:txBody>
      </p:sp>
      <p:sp>
        <p:nvSpPr>
          <p:cNvPr id="79" name="Shape 74"/>
          <p:cNvSpPr/>
          <p:nvPr/>
        </p:nvSpPr>
        <p:spPr>
          <a:xfrm>
            <a:off x="6580480" y="4005072"/>
            <a:ext cx="4806544" cy="0"/>
          </a:xfrm>
          <a:prstGeom prst="line">
            <a:avLst/>
          </a:prstGeom>
          <a:noFill/>
          <a:ln w="9525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5"/>
          <p:cNvSpPr/>
          <p:nvPr/>
        </p:nvSpPr>
        <p:spPr>
          <a:xfrm>
            <a:off x="6580480" y="4078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MiniMax-M2.7</a:t>
            </a:r>
            <a:endParaRPr lang="en-US" sz="1150" dirty="0"/>
          </a:p>
        </p:txBody>
      </p:sp>
      <p:sp>
        <p:nvSpPr>
          <p:cNvPr id="81" name="Text 76"/>
          <p:cNvSpPr/>
          <p:nvPr/>
        </p:nvSpPr>
        <p:spPr>
          <a:xfrm>
            <a:off x="8930488" y="4078224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通用模型</a:t>
            </a:r>
            <a:endParaRPr lang="en-US" sz="950" dirty="0"/>
          </a:p>
        </p:txBody>
      </p:sp>
      <p:sp>
        <p:nvSpPr>
          <p:cNvPr id="82" name="Shape 77"/>
          <p:cNvSpPr/>
          <p:nvPr/>
        </p:nvSpPr>
        <p:spPr>
          <a:xfrm>
            <a:off x="10865815" y="4096512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3" name="Text 78"/>
          <p:cNvSpPr/>
          <p:nvPr/>
        </p:nvSpPr>
        <p:spPr>
          <a:xfrm>
            <a:off x="10865815" y="40965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200K</a:t>
            </a:r>
            <a:endParaRPr lang="en-US" sz="850" dirty="0"/>
          </a:p>
        </p:txBody>
      </p:sp>
      <p:sp>
        <p:nvSpPr>
          <p:cNvPr id="84" name="Shape 79"/>
          <p:cNvSpPr/>
          <p:nvPr/>
        </p:nvSpPr>
        <p:spPr>
          <a:xfrm>
            <a:off x="6580480" y="4434840"/>
            <a:ext cx="4806544" cy="0"/>
          </a:xfrm>
          <a:prstGeom prst="line">
            <a:avLst/>
          </a:prstGeom>
          <a:noFill/>
          <a:ln w="9525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Text 80"/>
          <p:cNvSpPr/>
          <p:nvPr/>
        </p:nvSpPr>
        <p:spPr>
          <a:xfrm>
            <a:off x="6580480" y="4507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Doubao-Seed-2.0</a:t>
            </a:r>
            <a:endParaRPr lang="en-US" sz="1150" dirty="0"/>
          </a:p>
        </p:txBody>
      </p:sp>
      <p:sp>
        <p:nvSpPr>
          <p:cNvPr id="86" name="Text 81"/>
          <p:cNvSpPr/>
          <p:nvPr/>
        </p:nvSpPr>
        <p:spPr>
          <a:xfrm>
            <a:off x="8930488" y="4507992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字节豆包</a:t>
            </a:r>
            <a:endParaRPr lang="en-US" sz="950" dirty="0"/>
          </a:p>
        </p:txBody>
      </p:sp>
      <p:sp>
        <p:nvSpPr>
          <p:cNvPr id="87" name="Shape 82"/>
          <p:cNvSpPr/>
          <p:nvPr/>
        </p:nvSpPr>
        <p:spPr>
          <a:xfrm>
            <a:off x="10865815" y="452628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8" name="Text 83"/>
          <p:cNvSpPr/>
          <p:nvPr/>
        </p:nvSpPr>
        <p:spPr>
          <a:xfrm>
            <a:off x="10865815" y="45262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256K</a:t>
            </a:r>
            <a:endParaRPr lang="en-US" sz="850" dirty="0"/>
          </a:p>
        </p:txBody>
      </p:sp>
      <p:sp>
        <p:nvSpPr>
          <p:cNvPr id="89" name="Shape 84"/>
          <p:cNvSpPr/>
          <p:nvPr/>
        </p:nvSpPr>
        <p:spPr>
          <a:xfrm>
            <a:off x="6580480" y="4864608"/>
            <a:ext cx="4806544" cy="0"/>
          </a:xfrm>
          <a:prstGeom prst="line">
            <a:avLst/>
          </a:prstGeom>
          <a:noFill/>
          <a:ln w="9525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Text 85"/>
          <p:cNvSpPr/>
          <p:nvPr/>
        </p:nvSpPr>
        <p:spPr>
          <a:xfrm>
            <a:off x="6580480" y="49377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Qwen3.6-35B</a:t>
            </a:r>
            <a:endParaRPr lang="en-US" sz="1150" dirty="0"/>
          </a:p>
        </p:txBody>
      </p:sp>
      <p:sp>
        <p:nvSpPr>
          <p:cNvPr id="91" name="Text 86"/>
          <p:cNvSpPr/>
          <p:nvPr/>
        </p:nvSpPr>
        <p:spPr>
          <a:xfrm>
            <a:off x="8930488" y="4937760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阿里通义</a:t>
            </a:r>
            <a:endParaRPr lang="en-US" sz="950" dirty="0"/>
          </a:p>
        </p:txBody>
      </p:sp>
      <p:sp>
        <p:nvSpPr>
          <p:cNvPr id="92" name="Shape 87"/>
          <p:cNvSpPr/>
          <p:nvPr/>
        </p:nvSpPr>
        <p:spPr>
          <a:xfrm>
            <a:off x="10865815" y="495604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3" name="Text 88"/>
          <p:cNvSpPr/>
          <p:nvPr/>
        </p:nvSpPr>
        <p:spPr>
          <a:xfrm>
            <a:off x="10865815" y="49560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256K</a:t>
            </a:r>
            <a:endParaRPr lang="en-US" sz="850" dirty="0"/>
          </a:p>
        </p:txBody>
      </p:sp>
      <p:sp>
        <p:nvSpPr>
          <p:cNvPr id="94" name="Shape 89"/>
          <p:cNvSpPr/>
          <p:nvPr/>
        </p:nvSpPr>
        <p:spPr>
          <a:xfrm>
            <a:off x="6580480" y="5294376"/>
            <a:ext cx="4806544" cy="0"/>
          </a:xfrm>
          <a:prstGeom prst="line">
            <a:avLst/>
          </a:prstGeom>
          <a:noFill/>
          <a:ln w="9525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Text 90"/>
          <p:cNvSpPr/>
          <p:nvPr/>
        </p:nvSpPr>
        <p:spPr>
          <a:xfrm>
            <a:off x="6580480" y="5367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Seedance 2.0</a:t>
            </a:r>
            <a:endParaRPr lang="en-US" sz="1150" dirty="0"/>
          </a:p>
        </p:txBody>
      </p:sp>
      <p:sp>
        <p:nvSpPr>
          <p:cNvPr id="96" name="Text 91"/>
          <p:cNvSpPr/>
          <p:nvPr/>
        </p:nvSpPr>
        <p:spPr>
          <a:xfrm>
            <a:off x="8930488" y="5367528"/>
            <a:ext cx="193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字节视频生成</a:t>
            </a:r>
            <a:endParaRPr lang="en-US" sz="950" dirty="0"/>
          </a:p>
        </p:txBody>
      </p:sp>
      <p:sp>
        <p:nvSpPr>
          <p:cNvPr id="97" name="Shape 92"/>
          <p:cNvSpPr/>
          <p:nvPr/>
        </p:nvSpPr>
        <p:spPr>
          <a:xfrm>
            <a:off x="10865815" y="538581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8" name="Text 93"/>
          <p:cNvSpPr/>
          <p:nvPr/>
        </p:nvSpPr>
        <p:spPr>
          <a:xfrm>
            <a:off x="10865815" y="53858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256K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S2 旗舰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SenseAudio-S2 —— 参数公开、评分公开，全球第一梯队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GPT-5 / Claude / Gemini 同水平对位 · API 价格 ≤ GPT-5 的 60% · 中文最强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783080"/>
            <a:ext cx="2533574" cy="868680"/>
          </a:xfrm>
          <a:prstGeom prst="roundRect">
            <a:avLst>
              <a:gd name="adj" fmla="val 8421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9"/>
          <p:cNvSpPr/>
          <p:nvPr/>
        </p:nvSpPr>
        <p:spPr>
          <a:xfrm>
            <a:off x="749808" y="1892808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万亿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749808" y="2331720"/>
            <a:ext cx="2167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总参数 · MoE 架构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402254" y="1783080"/>
            <a:ext cx="2533574" cy="868680"/>
          </a:xfrm>
          <a:prstGeom prst="roundRect">
            <a:avLst>
              <a:gd name="adj" fmla="val 8421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2"/>
          <p:cNvSpPr/>
          <p:nvPr/>
        </p:nvSpPr>
        <p:spPr>
          <a:xfrm>
            <a:off x="3603422" y="1892808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220 亿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3603422" y="2331720"/>
            <a:ext cx="2167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激活参数 · Top-2 路由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255868" y="1783080"/>
            <a:ext cx="2533574" cy="868680"/>
          </a:xfrm>
          <a:prstGeom prst="roundRect">
            <a:avLst>
              <a:gd name="adj" fmla="val 8421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5"/>
          <p:cNvSpPr/>
          <p:nvPr/>
        </p:nvSpPr>
        <p:spPr>
          <a:xfrm>
            <a:off x="6457036" y="1892808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6457036" y="2331720"/>
            <a:ext cx="2167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超长上下文窗口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9109481" y="1783080"/>
            <a:ext cx="2533574" cy="868680"/>
          </a:xfrm>
          <a:prstGeom prst="roundRect">
            <a:avLst>
              <a:gd name="adj" fmla="val 8421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9310649" y="1892808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全模态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24" name="Text 19"/>
          <p:cNvSpPr/>
          <p:nvPr/>
        </p:nvSpPr>
        <p:spPr>
          <a:xfrm>
            <a:off x="9310649" y="2331720"/>
            <a:ext cx="2167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文/图/音/视频/乐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48640" y="2852928"/>
            <a:ext cx="1696669" cy="1874520"/>
          </a:xfrm>
          <a:prstGeom prst="roundRect">
            <a:avLst>
              <a:gd name="adj" fmla="val 4312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/>
        </p:nvSpPr>
        <p:spPr>
          <a:xfrm>
            <a:off x="640080" y="3017520"/>
            <a:ext cx="151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40080" y="3493008"/>
            <a:ext cx="151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88.7</a:t>
            </a:r>
            <a:endParaRPr lang="en-US" sz="2800" dirty="0"/>
          </a:p>
        </p:txBody>
      </p:sp>
      <p:sp>
        <p:nvSpPr>
          <p:cNvPr id="28" name="Text 23"/>
          <p:cNvSpPr/>
          <p:nvPr/>
        </p:nvSpPr>
        <p:spPr>
          <a:xfrm>
            <a:off x="621792" y="4096512"/>
            <a:ext cx="15503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通用知识 · Top 5 全球</a:t>
            </a:r>
            <a:endParaRPr lang="en-US" sz="880" dirty="0"/>
          </a:p>
        </p:txBody>
      </p:sp>
      <p:sp>
        <p:nvSpPr>
          <p:cNvPr id="29" name="Shape 24"/>
          <p:cNvSpPr/>
          <p:nvPr/>
        </p:nvSpPr>
        <p:spPr>
          <a:xfrm>
            <a:off x="2428189" y="2852928"/>
            <a:ext cx="1696669" cy="1874520"/>
          </a:xfrm>
          <a:prstGeom prst="roundRect">
            <a:avLst>
              <a:gd name="adj" fmla="val 4312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5"/>
          <p:cNvSpPr/>
          <p:nvPr/>
        </p:nvSpPr>
        <p:spPr>
          <a:xfrm>
            <a:off x="2519629" y="3017520"/>
            <a:ext cx="151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GPQA-Diamond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2519629" y="3493008"/>
            <a:ext cx="151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72.4</a:t>
            </a:r>
            <a:endParaRPr lang="en-US" sz="2800" dirty="0"/>
          </a:p>
        </p:txBody>
      </p:sp>
      <p:sp>
        <p:nvSpPr>
          <p:cNvPr id="32" name="Text 27"/>
          <p:cNvSpPr/>
          <p:nvPr/>
        </p:nvSpPr>
        <p:spPr>
          <a:xfrm>
            <a:off x="2501341" y="4096512"/>
            <a:ext cx="15503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 · Top 5 全球</a:t>
            </a:r>
            <a:endParaRPr lang="en-US" sz="880" dirty="0"/>
          </a:p>
        </p:txBody>
      </p:sp>
      <p:sp>
        <p:nvSpPr>
          <p:cNvPr id="33" name="Shape 28"/>
          <p:cNvSpPr/>
          <p:nvPr/>
        </p:nvSpPr>
        <p:spPr>
          <a:xfrm>
            <a:off x="4307738" y="2852928"/>
            <a:ext cx="1696669" cy="1874520"/>
          </a:xfrm>
          <a:prstGeom prst="roundRect">
            <a:avLst>
              <a:gd name="adj" fmla="val 4312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9"/>
          <p:cNvSpPr/>
          <p:nvPr/>
        </p:nvSpPr>
        <p:spPr>
          <a:xfrm>
            <a:off x="4399178" y="3017520"/>
            <a:ext cx="151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HumanEval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399178" y="3493008"/>
            <a:ext cx="151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91.2</a:t>
            </a:r>
            <a:endParaRPr lang="en-US" sz="2800" dirty="0"/>
          </a:p>
        </p:txBody>
      </p:sp>
      <p:sp>
        <p:nvSpPr>
          <p:cNvPr id="36" name="Text 31"/>
          <p:cNvSpPr/>
          <p:nvPr/>
        </p:nvSpPr>
        <p:spPr>
          <a:xfrm>
            <a:off x="4380890" y="4096512"/>
            <a:ext cx="15503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· SOTA 级</a:t>
            </a:r>
            <a:endParaRPr lang="en-US" sz="880" dirty="0"/>
          </a:p>
        </p:txBody>
      </p:sp>
      <p:sp>
        <p:nvSpPr>
          <p:cNvPr id="37" name="Shape 32"/>
          <p:cNvSpPr/>
          <p:nvPr/>
        </p:nvSpPr>
        <p:spPr>
          <a:xfrm>
            <a:off x="6187288" y="2852928"/>
            <a:ext cx="1696669" cy="1874520"/>
          </a:xfrm>
          <a:prstGeom prst="roundRect">
            <a:avLst>
              <a:gd name="adj" fmla="val 4312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3"/>
          <p:cNvSpPr/>
          <p:nvPr/>
        </p:nvSpPr>
        <p:spPr>
          <a:xfrm>
            <a:off x="6278728" y="3017520"/>
            <a:ext cx="151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278728" y="3493008"/>
            <a:ext cx="151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85.6</a:t>
            </a:r>
            <a:endParaRPr lang="en-US" sz="2800" dirty="0"/>
          </a:p>
        </p:txBody>
      </p:sp>
      <p:sp>
        <p:nvSpPr>
          <p:cNvPr id="40" name="Text 35"/>
          <p:cNvSpPr/>
          <p:nvPr/>
        </p:nvSpPr>
        <p:spPr>
          <a:xfrm>
            <a:off x="6260440" y="4096512"/>
            <a:ext cx="15503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SOTA 级</a:t>
            </a:r>
            <a:endParaRPr lang="en-US" sz="880" dirty="0"/>
          </a:p>
        </p:txBody>
      </p:sp>
      <p:sp>
        <p:nvSpPr>
          <p:cNvPr id="41" name="Shape 36"/>
          <p:cNvSpPr/>
          <p:nvPr/>
        </p:nvSpPr>
        <p:spPr>
          <a:xfrm>
            <a:off x="8066837" y="2852928"/>
            <a:ext cx="1696669" cy="1874520"/>
          </a:xfrm>
          <a:prstGeom prst="roundRect">
            <a:avLst>
              <a:gd name="adj" fmla="val 4312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7"/>
          <p:cNvSpPr/>
          <p:nvPr/>
        </p:nvSpPr>
        <p:spPr>
          <a:xfrm>
            <a:off x="8158277" y="3017520"/>
            <a:ext cx="151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C-Eval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8158277" y="3493008"/>
            <a:ext cx="151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92.5</a:t>
            </a:r>
            <a:endParaRPr lang="en-US" sz="2800" dirty="0"/>
          </a:p>
        </p:txBody>
      </p:sp>
      <p:sp>
        <p:nvSpPr>
          <p:cNvPr id="44" name="Text 39"/>
          <p:cNvSpPr/>
          <p:nvPr/>
        </p:nvSpPr>
        <p:spPr>
          <a:xfrm>
            <a:off x="8139989" y="4096512"/>
            <a:ext cx="15503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 · 第一</a:t>
            </a:r>
            <a:endParaRPr lang="en-US" sz="880" dirty="0"/>
          </a:p>
        </p:txBody>
      </p:sp>
      <p:sp>
        <p:nvSpPr>
          <p:cNvPr id="45" name="Shape 40"/>
          <p:cNvSpPr/>
          <p:nvPr/>
        </p:nvSpPr>
        <p:spPr>
          <a:xfrm>
            <a:off x="9946386" y="2852928"/>
            <a:ext cx="1696669" cy="1874520"/>
          </a:xfrm>
          <a:prstGeom prst="roundRect">
            <a:avLst>
              <a:gd name="adj" fmla="val 4312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1"/>
          <p:cNvSpPr/>
          <p:nvPr/>
        </p:nvSpPr>
        <p:spPr>
          <a:xfrm>
            <a:off x="10037826" y="3017520"/>
            <a:ext cx="151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MMMU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10037826" y="3493008"/>
            <a:ext cx="151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74.3</a:t>
            </a:r>
            <a:endParaRPr lang="en-US" sz="2800" dirty="0"/>
          </a:p>
        </p:txBody>
      </p:sp>
      <p:sp>
        <p:nvSpPr>
          <p:cNvPr id="48" name="Text 43"/>
          <p:cNvSpPr/>
          <p:nvPr/>
        </p:nvSpPr>
        <p:spPr>
          <a:xfrm>
            <a:off x="10019538" y="4096512"/>
            <a:ext cx="15503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 · Top 3</a:t>
            </a:r>
            <a:endParaRPr lang="en-US" sz="880" dirty="0"/>
          </a:p>
        </p:txBody>
      </p:sp>
      <p:sp>
        <p:nvSpPr>
          <p:cNvPr id="49" name="Shape 44"/>
          <p:cNvSpPr/>
          <p:nvPr/>
        </p:nvSpPr>
        <p:spPr>
          <a:xfrm>
            <a:off x="548640" y="4956048"/>
            <a:ext cx="11094415" cy="1078992"/>
          </a:xfrm>
          <a:prstGeom prst="roundRect">
            <a:avLst>
              <a:gd name="adj" fmla="val 6780"/>
            </a:avLst>
          </a:prstGeom>
          <a:solidFill>
            <a:srgbClr val="EAF2F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5"/>
          <p:cNvSpPr/>
          <p:nvPr/>
        </p:nvSpPr>
        <p:spPr>
          <a:xfrm>
            <a:off x="877824" y="50840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对客三大差异化价值</a:t>
            </a:r>
            <a:endParaRPr lang="en-US" sz="1300" dirty="0"/>
          </a:p>
        </p:txBody>
      </p:sp>
      <p:sp>
        <p:nvSpPr>
          <p:cNvPr id="51" name="Text 46"/>
          <p:cNvSpPr/>
          <p:nvPr/>
        </p:nvSpPr>
        <p:spPr>
          <a:xfrm>
            <a:off x="877824" y="5394960"/>
            <a:ext cx="104543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3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 + 评分全公开（区别于运营商「参数不公开/掺水」）</a:t>
            </a:r>
            <a:endParaRPr lang="en-US" sz="1030" dirty="0"/>
          </a:p>
        </p:txBody>
      </p:sp>
      <p:sp>
        <p:nvSpPr>
          <p:cNvPr id="52" name="Text 47"/>
          <p:cNvSpPr/>
          <p:nvPr/>
        </p:nvSpPr>
        <p:spPr>
          <a:xfrm>
            <a:off x="877824" y="5614416"/>
            <a:ext cx="104543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3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自研闭源 · 数据不出境 · 客户 IDC 私有化（央企国央企首选）</a:t>
            </a:r>
            <a:endParaRPr lang="en-US" sz="1030" dirty="0"/>
          </a:p>
        </p:txBody>
      </p:sp>
      <p:sp>
        <p:nvSpPr>
          <p:cNvPr id="53" name="Text 48"/>
          <p:cNvSpPr/>
          <p:nvPr/>
        </p:nvSpPr>
        <p:spPr>
          <a:xfrm>
            <a:off x="877824" y="5833872"/>
            <a:ext cx="104543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3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≤ GPT-5 的 60% · 中文最强 + 多语言原生（出海首选）</a:t>
            </a:r>
            <a:endParaRPr lang="en-US" sz="10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安全合规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 + 合规：商汤 × 深信服经销商，天然契合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经销商手握安全与客户、商汤补上最强模型 —— 自研闭源、数据不出境、央企级合规，正是你的强项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253357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828800"/>
            <a:ext cx="2533574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1431379" y="2139696"/>
            <a:ext cx="768096" cy="768096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765" y="2347082"/>
            <a:ext cx="353324" cy="3533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3072384"/>
            <a:ext cx="21678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自研闭源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49808" y="3456432"/>
            <a:ext cx="2131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自研闭源、参数公开，区别于「自研皮 + 开源芯」掺水</a:t>
            </a:r>
            <a:endParaRPr lang="en-US" sz="1030" dirty="0"/>
          </a:p>
        </p:txBody>
      </p:sp>
      <p:sp>
        <p:nvSpPr>
          <p:cNvPr id="19" name="Shape 13"/>
          <p:cNvSpPr/>
          <p:nvPr/>
        </p:nvSpPr>
        <p:spPr>
          <a:xfrm>
            <a:off x="3402254" y="1828800"/>
            <a:ext cx="253357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4"/>
          <p:cNvSpPr/>
          <p:nvPr/>
        </p:nvSpPr>
        <p:spPr>
          <a:xfrm>
            <a:off x="3402254" y="1828800"/>
            <a:ext cx="2533574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4284993" y="2139696"/>
            <a:ext cx="768096" cy="768096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2379" y="2347082"/>
            <a:ext cx="353324" cy="3533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585134" y="3072384"/>
            <a:ext cx="21678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数据不出境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3603422" y="3456432"/>
            <a:ext cx="2131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IDC 私有化部署、数据不出域 —— 央企国央企首选</a:t>
            </a:r>
            <a:endParaRPr lang="en-US" sz="1030" dirty="0"/>
          </a:p>
        </p:txBody>
      </p:sp>
      <p:sp>
        <p:nvSpPr>
          <p:cNvPr id="25" name="Shape 18"/>
          <p:cNvSpPr/>
          <p:nvPr/>
        </p:nvSpPr>
        <p:spPr>
          <a:xfrm>
            <a:off x="6255868" y="1828800"/>
            <a:ext cx="253357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19"/>
          <p:cNvSpPr/>
          <p:nvPr/>
        </p:nvSpPr>
        <p:spPr>
          <a:xfrm>
            <a:off x="6255868" y="1828800"/>
            <a:ext cx="2533574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0"/>
          <p:cNvSpPr/>
          <p:nvPr/>
        </p:nvSpPr>
        <p:spPr>
          <a:xfrm>
            <a:off x="7138607" y="2139696"/>
            <a:ext cx="768096" cy="768096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5992" y="2347082"/>
            <a:ext cx="353324" cy="3533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438748" y="3072384"/>
            <a:ext cx="21678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等保三级</a:t>
            </a:r>
            <a:endParaRPr lang="en-US" sz="1550" dirty="0"/>
          </a:p>
        </p:txBody>
      </p:sp>
      <p:sp>
        <p:nvSpPr>
          <p:cNvPr id="30" name="Text 22"/>
          <p:cNvSpPr/>
          <p:nvPr/>
        </p:nvSpPr>
        <p:spPr>
          <a:xfrm>
            <a:off x="6457036" y="3456432"/>
            <a:ext cx="2131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等保三级 · TLS 1.3 / AES-256 · 国密算法 · 7×24 SOC 监控</a:t>
            </a:r>
            <a:endParaRPr lang="en-US" sz="1030" dirty="0"/>
          </a:p>
        </p:txBody>
      </p:sp>
      <p:sp>
        <p:nvSpPr>
          <p:cNvPr id="31" name="Shape 23"/>
          <p:cNvSpPr/>
          <p:nvPr/>
        </p:nvSpPr>
        <p:spPr>
          <a:xfrm>
            <a:off x="9109481" y="1828800"/>
            <a:ext cx="253357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4"/>
          <p:cNvSpPr/>
          <p:nvPr/>
        </p:nvSpPr>
        <p:spPr>
          <a:xfrm>
            <a:off x="9109481" y="1828800"/>
            <a:ext cx="2533574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5"/>
          <p:cNvSpPr/>
          <p:nvPr/>
        </p:nvSpPr>
        <p:spPr>
          <a:xfrm>
            <a:off x="9992220" y="2139696"/>
            <a:ext cx="768096" cy="768096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9606" y="2347082"/>
            <a:ext cx="353324" cy="35332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292361" y="3072384"/>
            <a:ext cx="21678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高可用 SLA</a:t>
            </a:r>
            <a:endParaRPr lang="en-US" sz="1550" dirty="0"/>
          </a:p>
        </p:txBody>
      </p:sp>
      <p:sp>
        <p:nvSpPr>
          <p:cNvPr id="36" name="Text 27"/>
          <p:cNvSpPr/>
          <p:nvPr/>
        </p:nvSpPr>
        <p:spPr>
          <a:xfrm>
            <a:off x="9310649" y="3456432"/>
            <a:ext cx="2131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 99.9% · P95 首 Token &lt; 500ms · 双活灾备</a:t>
            </a:r>
            <a:endParaRPr lang="en-US" sz="1030" dirty="0"/>
          </a:p>
        </p:txBody>
      </p:sp>
      <p:sp>
        <p:nvSpPr>
          <p:cNvPr id="37" name="Shape 28"/>
          <p:cNvSpPr/>
          <p:nvPr/>
        </p:nvSpPr>
        <p:spPr>
          <a:xfrm>
            <a:off x="548640" y="45720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29"/>
          <p:cNvSpPr/>
          <p:nvPr/>
        </p:nvSpPr>
        <p:spPr>
          <a:xfrm>
            <a:off x="548640" y="4572000"/>
            <a:ext cx="91440" cy="146304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0"/>
          <p:cNvSpPr/>
          <p:nvPr/>
        </p:nvSpPr>
        <p:spPr>
          <a:xfrm>
            <a:off x="914400" y="4736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六层架构 · 安全可控</a:t>
            </a:r>
            <a:endParaRPr lang="en-US" sz="1400" dirty="0"/>
          </a:p>
        </p:txBody>
      </p:sp>
      <p:sp>
        <p:nvSpPr>
          <p:cNvPr id="40" name="Shape 31"/>
          <p:cNvSpPr/>
          <p:nvPr/>
        </p:nvSpPr>
        <p:spPr>
          <a:xfrm>
            <a:off x="914400" y="5084064"/>
            <a:ext cx="1574749" cy="768096"/>
          </a:xfrm>
          <a:prstGeom prst="roundRect">
            <a:avLst>
              <a:gd name="adj" fmla="val 7143"/>
            </a:avLst>
          </a:prstGeom>
          <a:solidFill>
            <a:srgbClr val="1C3E63"/>
          </a:solidFill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2"/>
          <p:cNvSpPr/>
          <p:nvPr/>
        </p:nvSpPr>
        <p:spPr>
          <a:xfrm>
            <a:off x="1005840" y="5138928"/>
            <a:ext cx="13918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1005840" y="5358384"/>
            <a:ext cx="13918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客户门户（CI/SSO/等保）</a:t>
            </a:r>
            <a:endParaRPr lang="en-US" sz="860" dirty="0"/>
          </a:p>
        </p:txBody>
      </p:sp>
      <p:sp>
        <p:nvSpPr>
          <p:cNvPr id="43" name="Shape 34"/>
          <p:cNvSpPr/>
          <p:nvPr/>
        </p:nvSpPr>
        <p:spPr>
          <a:xfrm>
            <a:off x="2672029" y="5084064"/>
            <a:ext cx="1574749" cy="768096"/>
          </a:xfrm>
          <a:prstGeom prst="roundRect">
            <a:avLst>
              <a:gd name="adj" fmla="val 7143"/>
            </a:avLst>
          </a:prstGeom>
          <a:solidFill>
            <a:srgbClr val="1C3E63"/>
          </a:solidFill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5"/>
          <p:cNvSpPr/>
          <p:nvPr/>
        </p:nvSpPr>
        <p:spPr>
          <a:xfrm>
            <a:off x="2763469" y="5138928"/>
            <a:ext cx="13918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2763469" y="5358384"/>
            <a:ext cx="13918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用户接入</a:t>
            </a:r>
            <a:endParaRPr lang="en-US" sz="860" dirty="0"/>
          </a:p>
        </p:txBody>
      </p:sp>
      <p:sp>
        <p:nvSpPr>
          <p:cNvPr id="46" name="Shape 37"/>
          <p:cNvSpPr/>
          <p:nvPr/>
        </p:nvSpPr>
        <p:spPr>
          <a:xfrm>
            <a:off x="4429658" y="5084064"/>
            <a:ext cx="1574749" cy="768096"/>
          </a:xfrm>
          <a:prstGeom prst="roundRect">
            <a:avLst>
              <a:gd name="adj" fmla="val 7143"/>
            </a:avLst>
          </a:prstGeom>
          <a:solidFill>
            <a:srgbClr val="1C3E63"/>
          </a:solidFill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38"/>
          <p:cNvSpPr/>
          <p:nvPr/>
        </p:nvSpPr>
        <p:spPr>
          <a:xfrm>
            <a:off x="4521098" y="5138928"/>
            <a:ext cx="13918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000" dirty="0"/>
          </a:p>
        </p:txBody>
      </p:sp>
      <p:sp>
        <p:nvSpPr>
          <p:cNvPr id="48" name="Text 39"/>
          <p:cNvSpPr/>
          <p:nvPr/>
        </p:nvSpPr>
        <p:spPr>
          <a:xfrm>
            <a:off x="4521098" y="5358384"/>
            <a:ext cx="13918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网关</a:t>
            </a:r>
            <a:endParaRPr lang="en-US" sz="860" dirty="0"/>
          </a:p>
        </p:txBody>
      </p:sp>
      <p:sp>
        <p:nvSpPr>
          <p:cNvPr id="49" name="Shape 40"/>
          <p:cNvSpPr/>
          <p:nvPr/>
        </p:nvSpPr>
        <p:spPr>
          <a:xfrm>
            <a:off x="6187288" y="5084064"/>
            <a:ext cx="1574749" cy="768096"/>
          </a:xfrm>
          <a:prstGeom prst="roundRect">
            <a:avLst>
              <a:gd name="adj" fmla="val 7143"/>
            </a:avLst>
          </a:prstGeom>
          <a:solidFill>
            <a:srgbClr val="1C3E63"/>
          </a:solidFill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1"/>
          <p:cNvSpPr/>
          <p:nvPr/>
        </p:nvSpPr>
        <p:spPr>
          <a:xfrm>
            <a:off x="6278728" y="5138928"/>
            <a:ext cx="13918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6278728" y="5358384"/>
            <a:ext cx="13918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 计费</a:t>
            </a:r>
            <a:endParaRPr lang="en-US" sz="860" dirty="0"/>
          </a:p>
        </p:txBody>
      </p:sp>
      <p:sp>
        <p:nvSpPr>
          <p:cNvPr id="52" name="Shape 43"/>
          <p:cNvSpPr/>
          <p:nvPr/>
        </p:nvSpPr>
        <p:spPr>
          <a:xfrm>
            <a:off x="7944917" y="5084064"/>
            <a:ext cx="1574749" cy="768096"/>
          </a:xfrm>
          <a:prstGeom prst="roundRect">
            <a:avLst>
              <a:gd name="adj" fmla="val 7143"/>
            </a:avLst>
          </a:prstGeom>
          <a:solidFill>
            <a:srgbClr val="1C3E63"/>
          </a:solidFill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44"/>
          <p:cNvSpPr/>
          <p:nvPr/>
        </p:nvSpPr>
        <p:spPr>
          <a:xfrm>
            <a:off x="8036357" y="5138928"/>
            <a:ext cx="13918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000" dirty="0"/>
          </a:p>
        </p:txBody>
      </p:sp>
      <p:sp>
        <p:nvSpPr>
          <p:cNvPr id="54" name="Text 45"/>
          <p:cNvSpPr/>
          <p:nvPr/>
        </p:nvSpPr>
        <p:spPr>
          <a:xfrm>
            <a:off x="8036357" y="5358384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模型聚合层（16 款 + 开源）</a:t>
            </a:r>
            <a:endParaRPr lang="en-US" sz="860" dirty="0"/>
          </a:p>
        </p:txBody>
      </p:sp>
      <p:sp>
        <p:nvSpPr>
          <p:cNvPr id="55" name="Shape 46"/>
          <p:cNvSpPr/>
          <p:nvPr/>
        </p:nvSpPr>
        <p:spPr>
          <a:xfrm>
            <a:off x="9702546" y="5084064"/>
            <a:ext cx="1574749" cy="768096"/>
          </a:xfrm>
          <a:prstGeom prst="roundRect">
            <a:avLst>
              <a:gd name="adj" fmla="val 7143"/>
            </a:avLst>
          </a:prstGeom>
          <a:solidFill>
            <a:srgbClr val="1C3E63"/>
          </a:solidFill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47"/>
          <p:cNvSpPr/>
          <p:nvPr/>
        </p:nvSpPr>
        <p:spPr>
          <a:xfrm>
            <a:off x="9793986" y="5138928"/>
            <a:ext cx="13918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</a:t>
            </a:r>
            <a:endParaRPr lang="en-US" sz="1000" dirty="0"/>
          </a:p>
        </p:txBody>
      </p:sp>
      <p:sp>
        <p:nvSpPr>
          <p:cNvPr id="57" name="Text 48"/>
          <p:cNvSpPr/>
          <p:nvPr/>
        </p:nvSpPr>
        <p:spPr>
          <a:xfrm>
            <a:off x="9793986" y="5358384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算力底座（客户 IDC + 商汤）</a:t>
            </a:r>
            <a:endParaRPr lang="en-US" sz="8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ABCDE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ABCDE 五大可售模块 —— 商汤跑通的范本，整套可复用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/ 定价 / 套餐设计 / 赚钱算法 / FDE 体系 / 运营 KPI —— 客户直接复用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2072579" cy="274320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828800"/>
            <a:ext cx="2072579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>
            <a:off x="731520" y="2048256"/>
            <a:ext cx="17068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4000" dirty="0"/>
          </a:p>
        </p:txBody>
      </p:sp>
      <p:sp>
        <p:nvSpPr>
          <p:cNvPr id="16" name="Shape 11"/>
          <p:cNvSpPr/>
          <p:nvPr/>
        </p:nvSpPr>
        <p:spPr>
          <a:xfrm>
            <a:off x="1834835" y="2139696"/>
            <a:ext cx="512064" cy="51206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3092" y="2277953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" y="2834640"/>
            <a:ext cx="1706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自有模型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731520" y="3255264"/>
            <a:ext cx="1706819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4"/>
          <p:cNvSpPr/>
          <p:nvPr/>
        </p:nvSpPr>
        <p:spPr>
          <a:xfrm>
            <a:off x="731520" y="3364992"/>
            <a:ext cx="172510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旗舰 + S1 Agent + SenseAudio 全模态 + 8 款自研</a:t>
            </a:r>
            <a:endParaRPr lang="en-US" sz="980" dirty="0"/>
          </a:p>
        </p:txBody>
      </p:sp>
      <p:sp>
        <p:nvSpPr>
          <p:cNvPr id="21" name="Shape 15"/>
          <p:cNvSpPr/>
          <p:nvPr/>
        </p:nvSpPr>
        <p:spPr>
          <a:xfrm>
            <a:off x="2804099" y="1828800"/>
            <a:ext cx="2072579" cy="274320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6"/>
          <p:cNvSpPr/>
          <p:nvPr/>
        </p:nvSpPr>
        <p:spPr>
          <a:xfrm>
            <a:off x="2804099" y="1828800"/>
            <a:ext cx="2072579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7"/>
          <p:cNvSpPr/>
          <p:nvPr/>
        </p:nvSpPr>
        <p:spPr>
          <a:xfrm>
            <a:off x="2986979" y="2048256"/>
            <a:ext cx="17068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4000" dirty="0"/>
          </a:p>
        </p:txBody>
      </p:sp>
      <p:sp>
        <p:nvSpPr>
          <p:cNvPr id="24" name="Shape 18"/>
          <p:cNvSpPr/>
          <p:nvPr/>
        </p:nvSpPr>
        <p:spPr>
          <a:xfrm>
            <a:off x="4090294" y="2139696"/>
            <a:ext cx="512064" cy="51206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8551" y="2277953"/>
            <a:ext cx="235549" cy="23554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986979" y="2834640"/>
            <a:ext cx="1706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MaaS 平台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2986979" y="3255264"/>
            <a:ext cx="1706819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1"/>
          <p:cNvSpPr/>
          <p:nvPr/>
        </p:nvSpPr>
        <p:spPr>
          <a:xfrm>
            <a:off x="2986979" y="3364992"/>
            <a:ext cx="172510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调度 + Token Plan + 多层账户 4 层 + 赚钱算法 + KPI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5059558" y="1828800"/>
            <a:ext cx="2072579" cy="274320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3"/>
          <p:cNvSpPr/>
          <p:nvPr/>
        </p:nvSpPr>
        <p:spPr>
          <a:xfrm>
            <a:off x="5059558" y="1828800"/>
            <a:ext cx="2072579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4"/>
          <p:cNvSpPr/>
          <p:nvPr/>
        </p:nvSpPr>
        <p:spPr>
          <a:xfrm>
            <a:off x="5242438" y="2048256"/>
            <a:ext cx="17068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4000" dirty="0"/>
          </a:p>
        </p:txBody>
      </p:sp>
      <p:sp>
        <p:nvSpPr>
          <p:cNvPr id="32" name="Shape 25"/>
          <p:cNvSpPr/>
          <p:nvPr/>
        </p:nvSpPr>
        <p:spPr>
          <a:xfrm>
            <a:off x="6345753" y="2139696"/>
            <a:ext cx="512064" cy="51206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010" y="2277953"/>
            <a:ext cx="235549" cy="23554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242438" y="2834640"/>
            <a:ext cx="1706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 + 开源</a:t>
            </a:r>
            <a:endParaRPr lang="en-US" sz="1450" dirty="0"/>
          </a:p>
        </p:txBody>
      </p:sp>
      <p:sp>
        <p:nvSpPr>
          <p:cNvPr id="35" name="Shape 27"/>
          <p:cNvSpPr/>
          <p:nvPr/>
        </p:nvSpPr>
        <p:spPr>
          <a:xfrm>
            <a:off x="5242438" y="3255264"/>
            <a:ext cx="1706819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8"/>
          <p:cNvSpPr/>
          <p:nvPr/>
        </p:nvSpPr>
        <p:spPr>
          <a:xfrm>
            <a:off x="5242438" y="3364992"/>
            <a:ext cx="172510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款主流聚合 + 开源模型私有化 + 议价能力 + 灵活</a:t>
            </a:r>
            <a:endParaRPr lang="en-US" sz="980" dirty="0"/>
          </a:p>
        </p:txBody>
      </p:sp>
      <p:sp>
        <p:nvSpPr>
          <p:cNvPr id="37" name="Shape 29"/>
          <p:cNvSpPr/>
          <p:nvPr/>
        </p:nvSpPr>
        <p:spPr>
          <a:xfrm>
            <a:off x="7315017" y="1828800"/>
            <a:ext cx="2072579" cy="274320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0"/>
          <p:cNvSpPr/>
          <p:nvPr/>
        </p:nvSpPr>
        <p:spPr>
          <a:xfrm>
            <a:off x="7315017" y="1828800"/>
            <a:ext cx="2072579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1"/>
          <p:cNvSpPr/>
          <p:nvPr/>
        </p:nvSpPr>
        <p:spPr>
          <a:xfrm>
            <a:off x="7497897" y="2048256"/>
            <a:ext cx="17068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4000" dirty="0"/>
          </a:p>
        </p:txBody>
      </p:sp>
      <p:sp>
        <p:nvSpPr>
          <p:cNvPr id="40" name="Shape 32"/>
          <p:cNvSpPr/>
          <p:nvPr/>
        </p:nvSpPr>
        <p:spPr>
          <a:xfrm>
            <a:off x="8601212" y="2139696"/>
            <a:ext cx="512064" cy="51206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9469" y="2277953"/>
            <a:ext cx="235549" cy="235549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497897" y="2834640"/>
            <a:ext cx="1706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产品</a:t>
            </a:r>
            <a:endParaRPr lang="en-US" sz="1450" dirty="0"/>
          </a:p>
        </p:txBody>
      </p:sp>
      <p:sp>
        <p:nvSpPr>
          <p:cNvPr id="43" name="Shape 34"/>
          <p:cNvSpPr/>
          <p:nvPr/>
        </p:nvSpPr>
        <p:spPr>
          <a:xfrm>
            <a:off x="7497897" y="3255264"/>
            <a:ext cx="1706819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5"/>
          <p:cNvSpPr/>
          <p:nvPr/>
        </p:nvSpPr>
        <p:spPr>
          <a:xfrm>
            <a:off x="7497897" y="3364992"/>
            <a:ext cx="172510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S-Agent 浏览器 + Sowork 桌面 + S-Design 云端编排</a:t>
            </a:r>
            <a:endParaRPr lang="en-US" sz="980" dirty="0"/>
          </a:p>
        </p:txBody>
      </p:sp>
      <p:sp>
        <p:nvSpPr>
          <p:cNvPr id="45" name="Shape 36"/>
          <p:cNvSpPr/>
          <p:nvPr/>
        </p:nvSpPr>
        <p:spPr>
          <a:xfrm>
            <a:off x="9570476" y="1828800"/>
            <a:ext cx="2072579" cy="2743200"/>
          </a:xfrm>
          <a:prstGeom prst="roundRect">
            <a:avLst>
              <a:gd name="adj" fmla="val 3530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37"/>
          <p:cNvSpPr/>
          <p:nvPr/>
        </p:nvSpPr>
        <p:spPr>
          <a:xfrm>
            <a:off x="9570476" y="1828800"/>
            <a:ext cx="2072579" cy="8229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38"/>
          <p:cNvSpPr/>
          <p:nvPr/>
        </p:nvSpPr>
        <p:spPr>
          <a:xfrm>
            <a:off x="9753356" y="2048256"/>
            <a:ext cx="17068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4000" dirty="0"/>
          </a:p>
        </p:txBody>
      </p:sp>
      <p:sp>
        <p:nvSpPr>
          <p:cNvPr id="48" name="Shape 39"/>
          <p:cNvSpPr/>
          <p:nvPr/>
        </p:nvSpPr>
        <p:spPr>
          <a:xfrm>
            <a:off x="10856671" y="2139696"/>
            <a:ext cx="512064" cy="512064"/>
          </a:xfrm>
          <a:prstGeom prst="ellipse">
            <a:avLst/>
          </a:prstGeom>
          <a:solidFill>
            <a:srgbClr val="1C3E6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94928" y="2277953"/>
            <a:ext cx="235549" cy="235549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9753356" y="2834640"/>
            <a:ext cx="1706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服务</a:t>
            </a:r>
            <a:endParaRPr lang="en-US" sz="1450" dirty="0"/>
          </a:p>
        </p:txBody>
      </p:sp>
      <p:sp>
        <p:nvSpPr>
          <p:cNvPr id="51" name="Shape 41"/>
          <p:cNvSpPr/>
          <p:nvPr/>
        </p:nvSpPr>
        <p:spPr>
          <a:xfrm>
            <a:off x="9753356" y="3255264"/>
            <a:ext cx="1706819" cy="0"/>
          </a:xfrm>
          <a:prstGeom prst="line">
            <a:avLst/>
          </a:prstGeom>
          <a:noFill/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2"/>
          <p:cNvSpPr/>
          <p:nvPr/>
        </p:nvSpPr>
        <p:spPr>
          <a:xfrm>
            <a:off x="9753356" y="3364992"/>
            <a:ext cx="172510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 FDE 五步落地 + 50/30/20 + 1:5 杠杆 + FDE 学院</a:t>
            </a:r>
            <a:endParaRPr lang="en-US" sz="980" dirty="0"/>
          </a:p>
        </p:txBody>
      </p:sp>
      <p:sp>
        <p:nvSpPr>
          <p:cNvPr id="53" name="Shape 43"/>
          <p:cNvSpPr/>
          <p:nvPr/>
        </p:nvSpPr>
        <p:spPr>
          <a:xfrm>
            <a:off x="548640" y="4736592"/>
            <a:ext cx="11094415" cy="1298448"/>
          </a:xfrm>
          <a:prstGeom prst="roundRect">
            <a:avLst>
              <a:gd name="adj" fmla="val 5634"/>
            </a:avLst>
          </a:prstGeom>
          <a:solidFill>
            <a:srgbClr val="EAF2F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44"/>
          <p:cNvSpPr/>
          <p:nvPr/>
        </p:nvSpPr>
        <p:spPr>
          <a:xfrm>
            <a:off x="548640" y="4736592"/>
            <a:ext cx="82296" cy="1298448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45"/>
          <p:cNvSpPr/>
          <p:nvPr/>
        </p:nvSpPr>
        <p:spPr>
          <a:xfrm>
            <a:off x="877824" y="4882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对客户的价值</a:t>
            </a:r>
            <a:endParaRPr lang="en-US" sz="1300" dirty="0"/>
          </a:p>
        </p:txBody>
      </p:sp>
      <p:sp>
        <p:nvSpPr>
          <p:cNvPr id="56" name="Text 46"/>
          <p:cNvSpPr/>
          <p:nvPr/>
        </p:nvSpPr>
        <p:spPr>
          <a:xfrm>
            <a:off x="877824" y="521208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ABCD = 平台采购 + 长期升级；E = 长期 FDE 服务 —— 客户独立运营、平台 IP 归客户。深信服经销商可以「整套复制商汤范本」，自己也成为一家跑通 Token Plan 的服务商。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AGENT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 Agent：S-Agent · Sowork · S-Design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+ 云端 + 浏览器 —— 不写代码也能让 AI 进入日常工作流（Token 消耗的发动机）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841248" y="2139696"/>
            <a:ext cx="713232" cy="713232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21" y="2332269"/>
            <a:ext cx="328087" cy="32808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19072" y="2212848"/>
            <a:ext cx="20826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S-Agent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1719072" y="2633472"/>
            <a:ext cx="2082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 · 即开即用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41248" y="3127248"/>
            <a:ext cx="2869082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3"/>
          <p:cNvSpPr/>
          <p:nvPr/>
        </p:nvSpPr>
        <p:spPr>
          <a:xfrm>
            <a:off x="841248" y="3200400"/>
            <a:ext cx="2923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浏览器即开即用、零安装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41248" y="3611880"/>
            <a:ext cx="2923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月免费 200 万 Token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841248" y="4023360"/>
            <a:ext cx="2923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转化付费 ≥ 10%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841248" y="4498848"/>
            <a:ext cx="2869082" cy="329184"/>
          </a:xfrm>
          <a:prstGeom prst="roundRect">
            <a:avLst>
              <a:gd name="adj" fmla="val 50000"/>
            </a:avLst>
          </a:prstGeom>
          <a:ln w="12700">
            <a:solidFill>
              <a:srgbClr val="1F6B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7"/>
          <p:cNvSpPr/>
          <p:nvPr/>
        </p:nvSpPr>
        <p:spPr>
          <a:xfrm>
            <a:off x="841248" y="4498848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增长引擎 · 拉新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68698" y="182880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19"/>
          <p:cNvSpPr/>
          <p:nvPr/>
        </p:nvSpPr>
        <p:spPr>
          <a:xfrm>
            <a:off x="4368698" y="1828800"/>
            <a:ext cx="3454298" cy="8229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0"/>
          <p:cNvSpPr/>
          <p:nvPr/>
        </p:nvSpPr>
        <p:spPr>
          <a:xfrm>
            <a:off x="4661306" y="2139696"/>
            <a:ext cx="713232" cy="713232"/>
          </a:xfrm>
          <a:prstGeom prst="ellipse">
            <a:avLst/>
          </a:prstGeom>
          <a:solidFill>
            <a:srgbClr val="1C3E6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879" y="2332269"/>
            <a:ext cx="328087" cy="32808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39130" y="2212848"/>
            <a:ext cx="20826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Sowork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5539130" y="2633472"/>
            <a:ext cx="2082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 · 主推日常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661306" y="3127248"/>
            <a:ext cx="2869082" cy="0"/>
          </a:xfrm>
          <a:prstGeom prst="line">
            <a:avLst/>
          </a:prstGeom>
          <a:noFill/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4"/>
          <p:cNvSpPr/>
          <p:nvPr/>
        </p:nvSpPr>
        <p:spPr>
          <a:xfrm>
            <a:off x="4661306" y="3200400"/>
            <a:ext cx="2923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 / Windows / Linux 三端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661306" y="3611880"/>
            <a:ext cx="2923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200+ 专业 Agent + Skills 市场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661306" y="4023360"/>
            <a:ext cx="2923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订阅即送 · 兼容 Cursor/Claude Code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661306" y="4498848"/>
            <a:ext cx="2869082" cy="329184"/>
          </a:xfrm>
          <a:prstGeom prst="roundRect">
            <a:avLst>
              <a:gd name="adj" fmla="val 50000"/>
            </a:avLst>
          </a:prstGeom>
          <a:solidFill>
            <a:srgbClr val="C04A42"/>
          </a:solidFill>
          <a:ln w="12700">
            <a:solidFill>
              <a:srgbClr val="1F6B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8"/>
          <p:cNvSpPr/>
          <p:nvPr/>
        </p:nvSpPr>
        <p:spPr>
          <a:xfrm>
            <a:off x="4661306" y="4498848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消耗发动机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8188757" y="182880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0"/>
          <p:cNvSpPr/>
          <p:nvPr/>
        </p:nvSpPr>
        <p:spPr>
          <a:xfrm>
            <a:off x="8481365" y="2139696"/>
            <a:ext cx="713232" cy="713232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3937" y="2332269"/>
            <a:ext cx="328087" cy="328087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359189" y="2212848"/>
            <a:ext cx="20826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S-Design</a:t>
            </a:r>
            <a:endParaRPr lang="en-US" sz="2000" dirty="0"/>
          </a:p>
        </p:txBody>
      </p:sp>
      <p:sp>
        <p:nvSpPr>
          <p:cNvPr id="40" name="Text 32"/>
          <p:cNvSpPr/>
          <p:nvPr/>
        </p:nvSpPr>
        <p:spPr>
          <a:xfrm>
            <a:off x="9359189" y="2633472"/>
            <a:ext cx="2082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· 流程编排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8481365" y="3127248"/>
            <a:ext cx="2869082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4"/>
          <p:cNvSpPr/>
          <p:nvPr/>
        </p:nvSpPr>
        <p:spPr>
          <a:xfrm>
            <a:off x="8481365" y="3200400"/>
            <a:ext cx="2923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把多个 Agent 编排成流程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8481365" y="3611880"/>
            <a:ext cx="2923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可复用模板 + 行业方案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8481365" y="4023360"/>
            <a:ext cx="2923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客户粘性放大 3–5x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8481365" y="4498848"/>
            <a:ext cx="2869082" cy="329184"/>
          </a:xfrm>
          <a:prstGeom prst="roundRect">
            <a:avLst>
              <a:gd name="adj" fmla="val 50000"/>
            </a:avLst>
          </a:prstGeom>
          <a:ln w="12700">
            <a:solidFill>
              <a:srgbClr val="1F6B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38"/>
          <p:cNvSpPr/>
          <p:nvPr/>
        </p:nvSpPr>
        <p:spPr>
          <a:xfrm>
            <a:off x="8481365" y="4498848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高溢价 · 单独计费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548640" y="512064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0"/>
          <p:cNvSpPr/>
          <p:nvPr/>
        </p:nvSpPr>
        <p:spPr>
          <a:xfrm>
            <a:off x="914400" y="512064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捆绑销售   </a:t>
            </a:r>
            <a:r>
              <a:rPr lang="en-US" sz="12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¥699 免费送 S-Agent · Ultra ¥1,899 高配 S-Agent · S-Design 限免引流 —— 三件套一起卖，黏性更强。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通用场景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Sowork：10 大企业通用高频场景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覆盖文档/销售/HR/数据/营销/财务/项目/法务/客服/产品 —— 装上即用，FDE 可基于模板做定制交付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1999427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828800"/>
            <a:ext cx="1999427" cy="64008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1246602" y="2048256"/>
            <a:ext cx="603504" cy="60350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548" y="2211202"/>
            <a:ext cx="277612" cy="2776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792" y="2743200"/>
            <a:ext cx="1853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文档生成与 PPT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21792" y="3054096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提案/报告/演示稿排版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2822387" y="1828800"/>
            <a:ext cx="1999427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4"/>
          <p:cNvSpPr/>
          <p:nvPr/>
        </p:nvSpPr>
        <p:spPr>
          <a:xfrm>
            <a:off x="2822387" y="1828800"/>
            <a:ext cx="1999427" cy="64008"/>
          </a:xfrm>
          <a:prstGeom prst="rect">
            <a:avLst/>
          </a:prstGeom>
          <a:solidFill>
            <a:srgbClr val="2BA6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3520349" y="2048256"/>
            <a:ext cx="603504" cy="60350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295" y="2211202"/>
            <a:ext cx="277612" cy="2776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895539" y="2743200"/>
            <a:ext cx="1853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销售管理与 CRM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2895539" y="3054096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客户跟进·商机/合同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096134" y="1828800"/>
            <a:ext cx="1999427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19"/>
          <p:cNvSpPr/>
          <p:nvPr/>
        </p:nvSpPr>
        <p:spPr>
          <a:xfrm>
            <a:off x="5096134" y="1828800"/>
            <a:ext cx="1999427" cy="64008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0"/>
          <p:cNvSpPr/>
          <p:nvPr/>
        </p:nvSpPr>
        <p:spPr>
          <a:xfrm>
            <a:off x="5794096" y="2048256"/>
            <a:ext cx="603504" cy="60350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7042" y="2211202"/>
            <a:ext cx="277612" cy="27761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69286" y="2743200"/>
            <a:ext cx="1853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招聘与人力资源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5169286" y="3054096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简历筛选·面试评估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7369881" y="1828800"/>
            <a:ext cx="1999427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4"/>
          <p:cNvSpPr/>
          <p:nvPr/>
        </p:nvSpPr>
        <p:spPr>
          <a:xfrm>
            <a:off x="7369881" y="1828800"/>
            <a:ext cx="1999427" cy="64008"/>
          </a:xfrm>
          <a:prstGeom prst="rect">
            <a:avLst/>
          </a:prstGeom>
          <a:solidFill>
            <a:srgbClr val="2BA6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5"/>
          <p:cNvSpPr/>
          <p:nvPr/>
        </p:nvSpPr>
        <p:spPr>
          <a:xfrm>
            <a:off x="8067843" y="2048256"/>
            <a:ext cx="603504" cy="60350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0789" y="2211202"/>
            <a:ext cx="277612" cy="27761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443033" y="2743200"/>
            <a:ext cx="1853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数据分析与 BI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7443033" y="3054096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报表/可视化·KPI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9643628" y="1828800"/>
            <a:ext cx="1999427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29"/>
          <p:cNvSpPr/>
          <p:nvPr/>
        </p:nvSpPr>
        <p:spPr>
          <a:xfrm>
            <a:off x="9643628" y="1828800"/>
            <a:ext cx="1999427" cy="64008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0"/>
          <p:cNvSpPr/>
          <p:nvPr/>
        </p:nvSpPr>
        <p:spPr>
          <a:xfrm>
            <a:off x="10341590" y="2048256"/>
            <a:ext cx="603504" cy="60350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4536" y="2211202"/>
            <a:ext cx="277612" cy="27761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716780" y="2743200"/>
            <a:ext cx="1853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市场营销与内容</a:t>
            </a:r>
            <a:endParaRPr lang="en-US" sz="1150" dirty="0"/>
          </a:p>
        </p:txBody>
      </p:sp>
      <p:sp>
        <p:nvSpPr>
          <p:cNvPr id="42" name="Text 32"/>
          <p:cNvSpPr/>
          <p:nvPr/>
        </p:nvSpPr>
        <p:spPr>
          <a:xfrm>
            <a:off x="9716780" y="3054096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文案/社媒/广告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548640" y="3675888"/>
            <a:ext cx="1999427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4"/>
          <p:cNvSpPr/>
          <p:nvPr/>
        </p:nvSpPr>
        <p:spPr>
          <a:xfrm>
            <a:off x="548640" y="3675888"/>
            <a:ext cx="1999427" cy="64008"/>
          </a:xfrm>
          <a:prstGeom prst="rect">
            <a:avLst/>
          </a:prstGeom>
          <a:solidFill>
            <a:srgbClr val="2BA6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35"/>
          <p:cNvSpPr/>
          <p:nvPr/>
        </p:nvSpPr>
        <p:spPr>
          <a:xfrm>
            <a:off x="1246602" y="3895344"/>
            <a:ext cx="603504" cy="60350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9548" y="4058290"/>
            <a:ext cx="277612" cy="27761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21792" y="4590288"/>
            <a:ext cx="1853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财务与预算管理</a:t>
            </a:r>
            <a:endParaRPr lang="en-US" sz="1150" dirty="0"/>
          </a:p>
        </p:txBody>
      </p:sp>
      <p:sp>
        <p:nvSpPr>
          <p:cNvPr id="48" name="Text 37"/>
          <p:cNvSpPr/>
          <p:nvPr/>
        </p:nvSpPr>
        <p:spPr>
          <a:xfrm>
            <a:off x="621792" y="4901184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报表分析·财务预测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2822387" y="3675888"/>
            <a:ext cx="1999427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39"/>
          <p:cNvSpPr/>
          <p:nvPr/>
        </p:nvSpPr>
        <p:spPr>
          <a:xfrm>
            <a:off x="2822387" y="3675888"/>
            <a:ext cx="1999427" cy="64008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0"/>
          <p:cNvSpPr/>
          <p:nvPr/>
        </p:nvSpPr>
        <p:spPr>
          <a:xfrm>
            <a:off x="3520349" y="3895344"/>
            <a:ext cx="603504" cy="60350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83295" y="4058290"/>
            <a:ext cx="277612" cy="277612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2895539" y="4590288"/>
            <a:ext cx="1853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项目管理与协作</a:t>
            </a:r>
            <a:endParaRPr lang="en-US" sz="1150" dirty="0"/>
          </a:p>
        </p:txBody>
      </p:sp>
      <p:sp>
        <p:nvSpPr>
          <p:cNvPr id="54" name="Text 42"/>
          <p:cNvSpPr/>
          <p:nvPr/>
        </p:nvSpPr>
        <p:spPr>
          <a:xfrm>
            <a:off x="2895539" y="4901184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任务分配·会议纪要</a:t>
            </a:r>
            <a:endParaRPr lang="en-US" sz="900" dirty="0"/>
          </a:p>
        </p:txBody>
      </p:sp>
      <p:sp>
        <p:nvSpPr>
          <p:cNvPr id="55" name="Shape 43"/>
          <p:cNvSpPr/>
          <p:nvPr/>
        </p:nvSpPr>
        <p:spPr>
          <a:xfrm>
            <a:off x="5096134" y="3675888"/>
            <a:ext cx="1999427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44"/>
          <p:cNvSpPr/>
          <p:nvPr/>
        </p:nvSpPr>
        <p:spPr>
          <a:xfrm>
            <a:off x="5096134" y="3675888"/>
            <a:ext cx="1999427" cy="64008"/>
          </a:xfrm>
          <a:prstGeom prst="rect">
            <a:avLst/>
          </a:prstGeom>
          <a:solidFill>
            <a:srgbClr val="2BA6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45"/>
          <p:cNvSpPr/>
          <p:nvPr/>
        </p:nvSpPr>
        <p:spPr>
          <a:xfrm>
            <a:off x="5794096" y="3895344"/>
            <a:ext cx="603504" cy="60350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57042" y="4058290"/>
            <a:ext cx="277612" cy="277612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5169286" y="4590288"/>
            <a:ext cx="1853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法律与合规</a:t>
            </a:r>
            <a:endParaRPr lang="en-US" sz="1150" dirty="0"/>
          </a:p>
        </p:txBody>
      </p:sp>
      <p:sp>
        <p:nvSpPr>
          <p:cNvPr id="60" name="Text 47"/>
          <p:cNvSpPr/>
          <p:nvPr/>
        </p:nvSpPr>
        <p:spPr>
          <a:xfrm>
            <a:off x="5169286" y="4901184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合同审查·风险评估</a:t>
            </a:r>
            <a:endParaRPr lang="en-US" sz="900" dirty="0"/>
          </a:p>
        </p:txBody>
      </p:sp>
      <p:sp>
        <p:nvSpPr>
          <p:cNvPr id="61" name="Shape 48"/>
          <p:cNvSpPr/>
          <p:nvPr/>
        </p:nvSpPr>
        <p:spPr>
          <a:xfrm>
            <a:off x="7369881" y="3675888"/>
            <a:ext cx="1999427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49"/>
          <p:cNvSpPr/>
          <p:nvPr/>
        </p:nvSpPr>
        <p:spPr>
          <a:xfrm>
            <a:off x="7369881" y="3675888"/>
            <a:ext cx="1999427" cy="64008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50"/>
          <p:cNvSpPr/>
          <p:nvPr/>
        </p:nvSpPr>
        <p:spPr>
          <a:xfrm>
            <a:off x="8067843" y="3895344"/>
            <a:ext cx="603504" cy="60350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30789" y="4058290"/>
            <a:ext cx="277612" cy="277612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7443033" y="4590288"/>
            <a:ext cx="1853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客服与支持</a:t>
            </a:r>
            <a:endParaRPr lang="en-US" sz="1150" dirty="0"/>
          </a:p>
        </p:txBody>
      </p:sp>
      <p:sp>
        <p:nvSpPr>
          <p:cNvPr id="66" name="Text 52"/>
          <p:cNvSpPr/>
          <p:nvPr/>
        </p:nvSpPr>
        <p:spPr>
          <a:xfrm>
            <a:off x="7443033" y="4901184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问题分类·知识库/工单</a:t>
            </a:r>
            <a:endParaRPr lang="en-US" sz="900" dirty="0"/>
          </a:p>
        </p:txBody>
      </p:sp>
      <p:sp>
        <p:nvSpPr>
          <p:cNvPr id="67" name="Shape 53"/>
          <p:cNvSpPr/>
          <p:nvPr/>
        </p:nvSpPr>
        <p:spPr>
          <a:xfrm>
            <a:off x="9643628" y="3675888"/>
            <a:ext cx="1999427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54"/>
          <p:cNvSpPr/>
          <p:nvPr/>
        </p:nvSpPr>
        <p:spPr>
          <a:xfrm>
            <a:off x="9643628" y="3675888"/>
            <a:ext cx="1999427" cy="64008"/>
          </a:xfrm>
          <a:prstGeom prst="rect">
            <a:avLst/>
          </a:prstGeom>
          <a:solidFill>
            <a:srgbClr val="2BA6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55"/>
          <p:cNvSpPr/>
          <p:nvPr/>
        </p:nvSpPr>
        <p:spPr>
          <a:xfrm>
            <a:off x="10341590" y="3895344"/>
            <a:ext cx="603504" cy="60350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0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04536" y="4058290"/>
            <a:ext cx="277612" cy="277612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9716780" y="4590288"/>
            <a:ext cx="1853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产品与需求分析</a:t>
            </a:r>
            <a:endParaRPr lang="en-US" sz="1150" dirty="0"/>
          </a:p>
        </p:txBody>
      </p:sp>
      <p:sp>
        <p:nvSpPr>
          <p:cNvPr id="72" name="Text 57"/>
          <p:cNvSpPr/>
          <p:nvPr/>
        </p:nvSpPr>
        <p:spPr>
          <a:xfrm>
            <a:off x="9716780" y="4901184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需求文档·竞品分析</a:t>
            </a:r>
            <a:endParaRPr lang="en-US" sz="900" dirty="0"/>
          </a:p>
        </p:txBody>
      </p:sp>
      <p:sp>
        <p:nvSpPr>
          <p:cNvPr id="73" name="Shape 58"/>
          <p:cNvSpPr/>
          <p:nvPr/>
        </p:nvSpPr>
        <p:spPr>
          <a:xfrm>
            <a:off x="548640" y="5650992"/>
            <a:ext cx="11094415" cy="438912"/>
          </a:xfrm>
          <a:prstGeom prst="roundRect">
            <a:avLst>
              <a:gd name="adj" fmla="val 16667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4" name="Text 59"/>
          <p:cNvSpPr/>
          <p:nvPr/>
        </p:nvSpPr>
        <p:spPr>
          <a:xfrm>
            <a:off x="548640" y="5650992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开箱即用：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装上 Sowork 即可调用以上场景、零开发上手；FDE 再基于模板贴合客户流程与数据做定制交付。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横评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市场横评：商汤 Token Plan 的产品优势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一份订阅、一个池均摊、参数公开 —— 客户最容易看懂、最容易对比的一档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737360"/>
            <a:ext cx="11094415" cy="420624"/>
          </a:xfrm>
          <a:prstGeom prst="roundRect">
            <a:avLst>
              <a:gd name="adj" fmla="val 13043"/>
            </a:avLst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9"/>
          <p:cNvSpPr/>
          <p:nvPr/>
        </p:nvSpPr>
        <p:spPr>
          <a:xfrm>
            <a:off x="676656" y="17373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2505456" y="17373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套餐定价（Pro/Max/Ultra）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202936" y="173736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模型矩阵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7626096" y="17373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折扣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9180576" y="1737360"/>
            <a:ext cx="2404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产品特点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223113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AF2FE"/>
          </a:solidFill>
          <a:ln w="17780">
            <a:solidFill>
              <a:srgbClr val="1F6B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5"/>
          <p:cNvSpPr/>
          <p:nvPr/>
        </p:nvSpPr>
        <p:spPr>
          <a:xfrm>
            <a:off x="676656" y="223113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商汤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2505456" y="223113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¥199 / 699 / 1899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202936" y="22311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款（自研 8 + 三方 8）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7626096" y="223113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44/31/21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9180576" y="2231136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款同一折扣 · 一个池均摊 · 含 Agent + FDE</a:t>
            </a:r>
            <a:endParaRPr lang="en-US" sz="930" dirty="0"/>
          </a:p>
        </p:txBody>
      </p:sp>
      <p:sp>
        <p:nvSpPr>
          <p:cNvPr id="25" name="Shape 20"/>
          <p:cNvSpPr/>
          <p:nvPr/>
        </p:nvSpPr>
        <p:spPr>
          <a:xfrm>
            <a:off x="548640" y="28346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/>
        </p:nvSpPr>
        <p:spPr>
          <a:xfrm>
            <a:off x="676656" y="28346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2505456" y="28346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¥198 / 698 / 1398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202936" y="28346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千问 + 多款三方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7626096" y="28346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以公示为准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9180576" y="2834640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以自研千问为主、三方为辅</a:t>
            </a:r>
            <a:endParaRPr lang="en-US" sz="930" dirty="0"/>
          </a:p>
        </p:txBody>
      </p:sp>
      <p:sp>
        <p:nvSpPr>
          <p:cNvPr id="31" name="Shape 26"/>
          <p:cNvSpPr/>
          <p:nvPr/>
        </p:nvSpPr>
        <p:spPr>
          <a:xfrm>
            <a:off x="548640" y="343814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7"/>
          <p:cNvSpPr/>
          <p:nvPr/>
        </p:nvSpPr>
        <p:spPr>
          <a:xfrm>
            <a:off x="676656" y="343814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火山方舟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2505456" y="3438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¥40 / 200 / 500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5202936" y="343814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 + 多款三方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7626096" y="34381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以公示为准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9180576" y="343814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入门价低、旗舰让利相对有限</a:t>
            </a:r>
            <a:endParaRPr lang="en-US" sz="930" dirty="0"/>
          </a:p>
        </p:txBody>
      </p:sp>
      <p:sp>
        <p:nvSpPr>
          <p:cNvPr id="37" name="Shape 32"/>
          <p:cNvSpPr/>
          <p:nvPr/>
        </p:nvSpPr>
        <p:spPr>
          <a:xfrm>
            <a:off x="548640" y="404164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3"/>
          <p:cNvSpPr/>
          <p:nvPr/>
        </p:nvSpPr>
        <p:spPr>
          <a:xfrm>
            <a:off x="676656" y="404164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2505456" y="40416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¥1000+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5202936" y="404164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数款主流模型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7626096" y="40416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以公示为准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9180576" y="4041648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偏后台 LLM、图视支持有限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548640" y="464515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9"/>
          <p:cNvSpPr/>
          <p:nvPr/>
        </p:nvSpPr>
        <p:spPr>
          <a:xfrm>
            <a:off x="676656" y="464515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三大运营商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2505456" y="46451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 / 一省一策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5202936" y="46451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少量主流模型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7626096" y="46451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以公示为准</a:t>
            </a:r>
            <a:endParaRPr lang="en-US" sz="1050" dirty="0"/>
          </a:p>
        </p:txBody>
      </p:sp>
      <p:sp>
        <p:nvSpPr>
          <p:cNvPr id="48" name="Text 43"/>
          <p:cNvSpPr/>
          <p:nvPr/>
        </p:nvSpPr>
        <p:spPr>
          <a:xfrm>
            <a:off x="9180576" y="464515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套餐与参数以各省公示为准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5"/>
          <p:cNvSpPr/>
          <p:nvPr/>
        </p:nvSpPr>
        <p:spPr>
          <a:xfrm>
            <a:off x="548640" y="5266944"/>
            <a:ext cx="91440" cy="67665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6"/>
          <p:cNvSpPr/>
          <p:nvPr/>
        </p:nvSpPr>
        <p:spPr>
          <a:xfrm>
            <a:off x="914400" y="5266944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选商汤的理由   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款同一折扣、一个池均摊、参数全公开 —— 客户最容易看懂、最容易对比，落地不踩坑、不返工。</a:t>
            </a:r>
            <a:endParaRPr lang="en-US" sz="1200" dirty="0"/>
          </a:p>
        </p:txBody>
      </p:sp>
      <p:sp>
        <p:nvSpPr>
          <p:cNvPr id="52" name="Text 47"/>
          <p:cNvSpPr/>
          <p:nvPr/>
        </p:nvSpPr>
        <p:spPr>
          <a:xfrm>
            <a:off x="548640" y="6291072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注：友商定价、折扣与模型矩阵以其官方最新公示为准，本页仅作产品定位参考。</a:t>
            </a:r>
            <a:endParaRPr lang="en-US" sz="7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赚钱算法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 怎么赚钱 —— 四个算法，把毛利做到 50–70%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单客毛利 = 套餐价格 P − 模型消耗成本 C − 交付成本 D —— 数学决定 KPI，不靠拍脑袋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2533574" cy="26060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828800"/>
            <a:ext cx="2533574" cy="8229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822960" y="2121408"/>
            <a:ext cx="640080" cy="64008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782" y="2294230"/>
            <a:ext cx="294437" cy="294437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847774" y="22128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2"/>
          <p:cNvSpPr/>
          <p:nvPr/>
        </p:nvSpPr>
        <p:spPr>
          <a:xfrm>
            <a:off x="1847774" y="22128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 P − C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804672" y="2907792"/>
            <a:ext cx="20763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用不完是纯利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04672" y="3291840"/>
            <a:ext cx="20580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客户预付套餐、防薅羊毛，没用完的额度就是纯利润，现金流前置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3402254" y="1828800"/>
            <a:ext cx="2533574" cy="26060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6"/>
          <p:cNvSpPr/>
          <p:nvPr/>
        </p:nvSpPr>
        <p:spPr>
          <a:xfrm>
            <a:off x="3402254" y="1828800"/>
            <a:ext cx="2533574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7"/>
          <p:cNvSpPr/>
          <p:nvPr/>
        </p:nvSpPr>
        <p:spPr>
          <a:xfrm>
            <a:off x="3676574" y="2121408"/>
            <a:ext cx="640080" cy="64008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9395" y="2294230"/>
            <a:ext cx="294437" cy="294437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701388" y="22128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19"/>
          <p:cNvSpPr/>
          <p:nvPr/>
        </p:nvSpPr>
        <p:spPr>
          <a:xfrm>
            <a:off x="4701388" y="22128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 C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3658286" y="2907792"/>
            <a:ext cx="20763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占比拉毛利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658286" y="3291840"/>
            <a:ext cx="20580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调用占比 ≥ 20% 套餐打平，每升 1pp 毛利上一档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6255868" y="1828800"/>
            <a:ext cx="2533574" cy="26060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3"/>
          <p:cNvSpPr/>
          <p:nvPr/>
        </p:nvSpPr>
        <p:spPr>
          <a:xfrm>
            <a:off x="6255868" y="1828800"/>
            <a:ext cx="2533574" cy="8229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4"/>
          <p:cNvSpPr/>
          <p:nvPr/>
        </p:nvSpPr>
        <p:spPr>
          <a:xfrm>
            <a:off x="6530188" y="2121408"/>
            <a:ext cx="640080" cy="64008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3009" y="2294230"/>
            <a:ext cx="294437" cy="294437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7555001" y="22128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6"/>
          <p:cNvSpPr/>
          <p:nvPr/>
        </p:nvSpPr>
        <p:spPr>
          <a:xfrm>
            <a:off x="7555001" y="22128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 LTV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511900" y="2907792"/>
            <a:ext cx="20763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续费杠杆 LTV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6511900" y="3291840"/>
            <a:ext cx="20580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续费率 80% → 5x 乘数；NDR ≥ 120%，单客年净增 20%</a:t>
            </a:r>
            <a:endParaRPr lang="en-US" sz="1030" dirty="0"/>
          </a:p>
        </p:txBody>
      </p:sp>
      <p:sp>
        <p:nvSpPr>
          <p:cNvPr id="37" name="Shape 29"/>
          <p:cNvSpPr/>
          <p:nvPr/>
        </p:nvSpPr>
        <p:spPr>
          <a:xfrm>
            <a:off x="9109481" y="1828800"/>
            <a:ext cx="2533574" cy="26060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0"/>
          <p:cNvSpPr/>
          <p:nvPr/>
        </p:nvSpPr>
        <p:spPr>
          <a:xfrm>
            <a:off x="9109481" y="1828800"/>
            <a:ext cx="2533574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1"/>
          <p:cNvSpPr/>
          <p:nvPr/>
        </p:nvSpPr>
        <p:spPr>
          <a:xfrm>
            <a:off x="9383801" y="2121408"/>
            <a:ext cx="640080" cy="64008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6623" y="2294230"/>
            <a:ext cx="294437" cy="294437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10408615" y="22128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3"/>
          <p:cNvSpPr/>
          <p:nvPr/>
        </p:nvSpPr>
        <p:spPr>
          <a:xfrm>
            <a:off x="10408615" y="22128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 D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9365513" y="2907792"/>
            <a:ext cx="20763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算力降成本</a:t>
            </a:r>
            <a:endParaRPr lang="en-US" sz="1500" dirty="0"/>
          </a:p>
        </p:txBody>
      </p:sp>
      <p:sp>
        <p:nvSpPr>
          <p:cNvPr id="44" name="Text 35"/>
          <p:cNvSpPr/>
          <p:nvPr/>
        </p:nvSpPr>
        <p:spPr>
          <a:xfrm>
            <a:off x="9365513" y="3291840"/>
            <a:ext cx="20580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国产芯 + 云算力套利分摊，综合成本下降 40–60%</a:t>
            </a:r>
            <a:endParaRPr lang="en-US" sz="1030" dirty="0"/>
          </a:p>
        </p:txBody>
      </p:sp>
      <p:sp>
        <p:nvSpPr>
          <p:cNvPr id="45" name="Shape 36"/>
          <p:cNvSpPr/>
          <p:nvPr/>
        </p:nvSpPr>
        <p:spPr>
          <a:xfrm>
            <a:off x="548640" y="4736592"/>
            <a:ext cx="11094415" cy="1298448"/>
          </a:xfrm>
          <a:prstGeom prst="roundRect">
            <a:avLst>
              <a:gd name="adj" fmla="val 5634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37"/>
          <p:cNvSpPr/>
          <p:nvPr/>
        </p:nvSpPr>
        <p:spPr>
          <a:xfrm>
            <a:off x="548640" y="4736592"/>
            <a:ext cx="91440" cy="1298448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38"/>
          <p:cNvSpPr/>
          <p:nvPr/>
        </p:nvSpPr>
        <p:spPr>
          <a:xfrm>
            <a:off x="914400" y="48828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北极星指标 = Token 消耗（看消耗，不看 DAU）</a:t>
            </a:r>
            <a:endParaRPr lang="en-US" sz="1350" dirty="0"/>
          </a:p>
        </p:txBody>
      </p:sp>
      <p:sp>
        <p:nvSpPr>
          <p:cNvPr id="48" name="Text 39"/>
          <p:cNvSpPr/>
          <p:nvPr/>
        </p:nvSpPr>
        <p:spPr>
          <a:xfrm>
            <a:off x="914400" y="5248656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50–70%</a:t>
            </a:r>
            <a:endParaRPr lang="en-US" sz="2500" dirty="0"/>
          </a:p>
        </p:txBody>
      </p:sp>
      <p:sp>
        <p:nvSpPr>
          <p:cNvPr id="49" name="Text 40"/>
          <p:cNvSpPr/>
          <p:nvPr/>
        </p:nvSpPr>
        <p:spPr>
          <a:xfrm>
            <a:off x="914400" y="572414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套餐毛利</a:t>
            </a:r>
            <a:endParaRPr lang="en-US" sz="1050" dirty="0"/>
          </a:p>
        </p:txBody>
      </p:sp>
      <p:sp>
        <p:nvSpPr>
          <p:cNvPr id="50" name="Shape 41"/>
          <p:cNvSpPr/>
          <p:nvPr/>
        </p:nvSpPr>
        <p:spPr>
          <a:xfrm>
            <a:off x="3377108" y="5285232"/>
            <a:ext cx="0" cy="566928"/>
          </a:xfrm>
          <a:prstGeom prst="line">
            <a:avLst/>
          </a:prstGeom>
          <a:noFill/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2"/>
          <p:cNvSpPr/>
          <p:nvPr/>
        </p:nvSpPr>
        <p:spPr>
          <a:xfrm>
            <a:off x="3596564" y="5248656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80%</a:t>
            </a:r>
            <a:endParaRPr lang="en-US" sz="2500" dirty="0"/>
          </a:p>
        </p:txBody>
      </p:sp>
      <p:sp>
        <p:nvSpPr>
          <p:cNvPr id="52" name="Text 43"/>
          <p:cNvSpPr/>
          <p:nvPr/>
        </p:nvSpPr>
        <p:spPr>
          <a:xfrm>
            <a:off x="3596564" y="572414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续费率 → 5x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6059272" y="5285232"/>
            <a:ext cx="0" cy="566928"/>
          </a:xfrm>
          <a:prstGeom prst="line">
            <a:avLst/>
          </a:prstGeom>
          <a:noFill/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5"/>
          <p:cNvSpPr/>
          <p:nvPr/>
        </p:nvSpPr>
        <p:spPr>
          <a:xfrm>
            <a:off x="6278728" y="5248656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120%</a:t>
            </a:r>
            <a:endParaRPr lang="en-US" sz="2500" dirty="0"/>
          </a:p>
        </p:txBody>
      </p:sp>
      <p:sp>
        <p:nvSpPr>
          <p:cNvPr id="55" name="Text 46"/>
          <p:cNvSpPr/>
          <p:nvPr/>
        </p:nvSpPr>
        <p:spPr>
          <a:xfrm>
            <a:off x="6278728" y="572414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NDR 净留存</a:t>
            </a:r>
            <a:endParaRPr lang="en-US" sz="1050" dirty="0"/>
          </a:p>
        </p:txBody>
      </p:sp>
      <p:sp>
        <p:nvSpPr>
          <p:cNvPr id="56" name="Shape 47"/>
          <p:cNvSpPr/>
          <p:nvPr/>
        </p:nvSpPr>
        <p:spPr>
          <a:xfrm>
            <a:off x="8741435" y="5285232"/>
            <a:ext cx="0" cy="566928"/>
          </a:xfrm>
          <a:prstGeom prst="line">
            <a:avLst/>
          </a:prstGeom>
          <a:noFill/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48"/>
          <p:cNvSpPr/>
          <p:nvPr/>
        </p:nvSpPr>
        <p:spPr>
          <a:xfrm>
            <a:off x="8960891" y="5248656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40–60%</a:t>
            </a:r>
            <a:endParaRPr lang="en-US" sz="2500" dirty="0"/>
          </a:p>
        </p:txBody>
      </p:sp>
      <p:sp>
        <p:nvSpPr>
          <p:cNvPr id="58" name="Text 49"/>
          <p:cNvSpPr/>
          <p:nvPr/>
        </p:nvSpPr>
        <p:spPr>
          <a:xfrm>
            <a:off x="8960891" y="572414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成本下降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669280" cy="5669280"/>
          </a:xfrm>
          <a:prstGeom prst="ellipse">
            <a:avLst/>
          </a:prstGeom>
          <a:solidFill>
            <a:srgbClr val="1F6BEB">
              <a:alpha val="1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017520"/>
            <a:ext cx="4389120" cy="4389120"/>
          </a:xfrm>
          <a:prstGeom prst="ellipse">
            <a:avLst/>
          </a:prstGeom>
          <a:solidFill>
            <a:srgbClr val="2BA6F0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97680" cy="4297680"/>
          </a:xfrm>
          <a:prstGeom prst="ellipse">
            <a:avLst/>
          </a:prstGeom>
          <a:noFill/>
          <a:ln w="12700">
            <a:solidFill>
              <a:srgbClr val="BCD6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85216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3776" y="184708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03504" y="4114800"/>
            <a:ext cx="1371600" cy="4572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FDE：扶上马，送一程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66928" y="50109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DEPLOYED ENGINEER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5394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不是把 AI 卖给你，而是陪你把 AI 用起来 —— 这是续费、是复利、是护城河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9842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67344" y="18653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离不开 = 用起来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24414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67344" y="23225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六大角色与价值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28986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67344" y="27797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一个人三帽子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33558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67344" y="32369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1:5 杠杆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38130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67344" y="3694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五步落地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0" y="42702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67344" y="41513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客户成功边界</a:t>
            </a:r>
            <a:endParaRPr lang="en-US" sz="1250" dirty="0"/>
          </a:p>
        </p:txBody>
      </p:sp>
      <p:pic>
        <p:nvPicPr>
          <p:cNvPr id="23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2" descr="sangfo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29" name="Text 24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194560"/>
            <a:ext cx="7498080" cy="7498080"/>
          </a:xfrm>
          <a:prstGeom prst="ellipse">
            <a:avLst/>
          </a:prstGeom>
          <a:solidFill>
            <a:srgbClr val="1F6BEB">
              <a:alpha val="16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2194560" y="3108960"/>
            <a:ext cx="6035040" cy="6035040"/>
          </a:xfrm>
          <a:prstGeom prst="ellipse">
            <a:avLst/>
          </a:prstGeom>
          <a:solidFill>
            <a:srgbClr val="C04A42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2" descr="sangfo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0" name="Text 5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566928" y="1280160"/>
            <a:ext cx="1645920" cy="54864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7"/>
          <p:cNvSpPr/>
          <p:nvPr/>
        </p:nvSpPr>
        <p:spPr>
          <a:xfrm>
            <a:off x="54864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企业真正把 AI 用起来的标志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48640" y="2011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</a:t>
            </a:r>
            <a:r>
              <a:rPr lang="en-US" sz="64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「离不开」</a:t>
            </a:r>
            <a:endParaRPr lang="en-US" sz="6400" dirty="0"/>
          </a:p>
        </p:txBody>
      </p:sp>
      <p:sp>
        <p:nvSpPr>
          <p:cNvPr id="14" name="Text 9"/>
          <p:cNvSpPr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不是「试过 AI」，是「离开 AI 活不了」 —— 而从「试一试」到「离不开」之间，差的就是 FDE 这一程。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4206240"/>
            <a:ext cx="3454298" cy="1554480"/>
          </a:xfrm>
          <a:prstGeom prst="roundRect">
            <a:avLst>
              <a:gd name="adj" fmla="val 4706"/>
            </a:avLst>
          </a:prstGeom>
          <a:solidFill>
            <a:srgbClr val="163A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1"/>
          <p:cNvSpPr/>
          <p:nvPr/>
        </p:nvSpPr>
        <p:spPr>
          <a:xfrm>
            <a:off x="548640" y="4206240"/>
            <a:ext cx="73152" cy="1554480"/>
          </a:xfrm>
          <a:prstGeom prst="rect">
            <a:avLst/>
          </a:prstGeom>
          <a:solidFill>
            <a:srgbClr val="BCD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2"/>
          <p:cNvSpPr/>
          <p:nvPr/>
        </p:nvSpPr>
        <p:spPr>
          <a:xfrm>
            <a:off x="822960" y="4407408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试一试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22960" y="4882896"/>
            <a:ext cx="2997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签了约、开了通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22960" y="519379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用了几次就放下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021226" y="47548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4368698" y="4206240"/>
            <a:ext cx="3454298" cy="1554480"/>
          </a:xfrm>
          <a:prstGeom prst="roundRect">
            <a:avLst>
              <a:gd name="adj" fmla="val 4706"/>
            </a:avLst>
          </a:prstGeom>
          <a:solidFill>
            <a:srgbClr val="163A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4368698" y="4206240"/>
            <a:ext cx="73152" cy="1554480"/>
          </a:xfrm>
          <a:prstGeom prst="rect">
            <a:avLst/>
          </a:prstGeom>
          <a:solidFill>
            <a:srgbClr val="BCD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4643018" y="4407408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用起来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4643018" y="4882896"/>
            <a:ext cx="2997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陪跑、进流程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643018" y="519379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每天用、养成习惯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7841285" y="47548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8188757" y="4206240"/>
            <a:ext cx="3454298" cy="1554480"/>
          </a:xfrm>
          <a:prstGeom prst="roundRect">
            <a:avLst>
              <a:gd name="adj" fmla="val 4706"/>
            </a:avLst>
          </a:prstGeom>
          <a:solidFill>
            <a:srgbClr val="163A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3"/>
          <p:cNvSpPr/>
          <p:nvPr/>
        </p:nvSpPr>
        <p:spPr>
          <a:xfrm>
            <a:off x="8188757" y="4206240"/>
            <a:ext cx="73152" cy="155448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4"/>
          <p:cNvSpPr/>
          <p:nvPr/>
        </p:nvSpPr>
        <p:spPr>
          <a:xfrm>
            <a:off x="8463077" y="4407408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离不开</a:t>
            </a:r>
            <a:endParaRPr lang="en-US" sz="1900" dirty="0"/>
          </a:p>
        </p:txBody>
      </p:sp>
      <p:sp>
        <p:nvSpPr>
          <p:cNvPr id="30" name="Text 25"/>
          <p:cNvSpPr/>
          <p:nvPr/>
        </p:nvSpPr>
        <p:spPr>
          <a:xfrm>
            <a:off x="8463077" y="4882896"/>
            <a:ext cx="2997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进入经营、人人 agent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463077" y="519379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停了就转不动 ★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为什么是 FDE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模型只贡献 30–40% 价值，FDE 搭的「框架」才决定成败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业内普遍观察：基础模型本身约贡献 1/3 价值；围绕它搭建的「落地框架（harness）」才决定成败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5318608" cy="1371600"/>
          </a:xfrm>
          <a:prstGeom prst="roundRect">
            <a:avLst>
              <a:gd name="adj" fmla="val 5333"/>
            </a:avLst>
          </a:prstGeom>
          <a:solidFill>
            <a:srgbClr val="EAF2F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9"/>
          <p:cNvSpPr/>
          <p:nvPr/>
        </p:nvSpPr>
        <p:spPr>
          <a:xfrm>
            <a:off x="877824" y="2029968"/>
            <a:ext cx="467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30–40%</a:t>
            </a:r>
            <a:endParaRPr lang="en-US" sz="4400" dirty="0"/>
          </a:p>
        </p:txBody>
      </p:sp>
      <p:sp>
        <p:nvSpPr>
          <p:cNvPr id="15" name="Text 10"/>
          <p:cNvSpPr/>
          <p:nvPr/>
        </p:nvSpPr>
        <p:spPr>
          <a:xfrm>
            <a:off x="877824" y="2724912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基础模型本身的贡献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324448" y="1828800"/>
            <a:ext cx="5318608" cy="1371600"/>
          </a:xfrm>
          <a:prstGeom prst="roundRect">
            <a:avLst>
              <a:gd name="adj" fmla="val 5333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2"/>
          <p:cNvSpPr/>
          <p:nvPr/>
        </p:nvSpPr>
        <p:spPr>
          <a:xfrm>
            <a:off x="6324448" y="1828800"/>
            <a:ext cx="91440" cy="1371600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3"/>
          <p:cNvSpPr/>
          <p:nvPr/>
        </p:nvSpPr>
        <p:spPr>
          <a:xfrm>
            <a:off x="6653632" y="2029968"/>
            <a:ext cx="467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F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60–70%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6653632" y="2724912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搭建的「落地框架 / harness」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34198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「框架」包含什么 —— FDE 的核心工作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3822192"/>
            <a:ext cx="253357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804672" y="4096512"/>
            <a:ext cx="548640" cy="54864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18" y="4239158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4133088"/>
            <a:ext cx="1527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数据与架构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04672" y="4736592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梳理工作流、组织数据架构、打通系统</a:t>
            </a:r>
            <a:endParaRPr lang="en-US" sz="980" dirty="0"/>
          </a:p>
        </p:txBody>
      </p:sp>
      <p:sp>
        <p:nvSpPr>
          <p:cNvPr id="26" name="Shape 20"/>
          <p:cNvSpPr/>
          <p:nvPr/>
        </p:nvSpPr>
        <p:spPr>
          <a:xfrm>
            <a:off x="3402254" y="3822192"/>
            <a:ext cx="253357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1"/>
          <p:cNvSpPr/>
          <p:nvPr/>
        </p:nvSpPr>
        <p:spPr>
          <a:xfrm>
            <a:off x="3658286" y="4096512"/>
            <a:ext cx="548640" cy="54864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0932" y="4239158"/>
            <a:ext cx="263347" cy="26334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316654" y="4133088"/>
            <a:ext cx="1527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工作流编排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658286" y="4736592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把模型接进真实业务流程，端到端跑通</a:t>
            </a:r>
            <a:endParaRPr lang="en-US" sz="980" dirty="0"/>
          </a:p>
        </p:txBody>
      </p:sp>
      <p:sp>
        <p:nvSpPr>
          <p:cNvPr id="31" name="Shape 24"/>
          <p:cNvSpPr/>
          <p:nvPr/>
        </p:nvSpPr>
        <p:spPr>
          <a:xfrm>
            <a:off x="6255868" y="3822192"/>
            <a:ext cx="253357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5"/>
          <p:cNvSpPr/>
          <p:nvPr/>
        </p:nvSpPr>
        <p:spPr>
          <a:xfrm>
            <a:off x="6511900" y="4096512"/>
            <a:ext cx="548640" cy="54864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4546" y="4239158"/>
            <a:ext cx="263347" cy="26334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170268" y="4133088"/>
            <a:ext cx="1527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护栏与治理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511900" y="4736592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性能/安全/合规护栏，可靠生产</a:t>
            </a:r>
            <a:endParaRPr lang="en-US" sz="980" dirty="0"/>
          </a:p>
        </p:txBody>
      </p:sp>
      <p:sp>
        <p:nvSpPr>
          <p:cNvPr id="36" name="Shape 28"/>
          <p:cNvSpPr/>
          <p:nvPr/>
        </p:nvSpPr>
        <p:spPr>
          <a:xfrm>
            <a:off x="9109481" y="3822192"/>
            <a:ext cx="253357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29"/>
          <p:cNvSpPr/>
          <p:nvPr/>
        </p:nvSpPr>
        <p:spPr>
          <a:xfrm>
            <a:off x="9365513" y="4096512"/>
            <a:ext cx="548640" cy="54864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8160" y="4239158"/>
            <a:ext cx="263347" cy="263347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023881" y="4133088"/>
            <a:ext cx="1527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采用与陪跑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9365513" y="4736592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培训激活、持续迭代、数据回流</a:t>
            </a:r>
            <a:endParaRPr lang="en-US" sz="980" dirty="0"/>
          </a:p>
        </p:txBody>
      </p:sp>
      <p:sp>
        <p:nvSpPr>
          <p:cNvPr id="41" name="Shape 32"/>
          <p:cNvSpPr/>
          <p:nvPr/>
        </p:nvSpPr>
        <p:spPr>
          <a:xfrm>
            <a:off x="548640" y="5449824"/>
            <a:ext cx="11094415" cy="603504"/>
          </a:xfrm>
          <a:prstGeom prst="roundRect">
            <a:avLst>
              <a:gd name="adj" fmla="val 12121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3"/>
          <p:cNvSpPr/>
          <p:nvPr/>
        </p:nvSpPr>
        <p:spPr>
          <a:xfrm>
            <a:off x="548640" y="5449824"/>
            <a:ext cx="91440" cy="603504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4"/>
          <p:cNvSpPr/>
          <p:nvPr/>
        </p:nvSpPr>
        <p:spPr>
          <a:xfrm>
            <a:off x="914400" y="5449824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把同样的模型，变成不同的结果 —— 这就是 FDE 如此关键、也是商汤把 FDE 作为核心交付的原因。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FDE 价值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的价值与优势 —— 把 AI 部署到业务最前线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六种角色一肩挑：帮客户更快找到场景、更快见效、更易规模化、更易衡量价值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548640" y="17647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六大角色 · 一个人，六顶帽子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2148840"/>
            <a:ext cx="204825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548640" y="2148840"/>
            <a:ext cx="2048256" cy="64008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1"/>
          <p:cNvSpPr/>
          <p:nvPr/>
        </p:nvSpPr>
        <p:spPr>
          <a:xfrm>
            <a:off x="1316736" y="2331720"/>
            <a:ext cx="512064" cy="51206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4993" y="2469977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289864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客户需求翻译器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58368" y="31729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把模糊需求翻译成清晰的业务场景与技术需求</a:t>
            </a:r>
            <a:endParaRPr lang="en-US" sz="870" dirty="0"/>
          </a:p>
        </p:txBody>
      </p:sp>
      <p:sp>
        <p:nvSpPr>
          <p:cNvPr id="20" name="Shape 14"/>
          <p:cNvSpPr/>
          <p:nvPr/>
        </p:nvSpPr>
        <p:spPr>
          <a:xfrm>
            <a:off x="2816352" y="2148840"/>
            <a:ext cx="204825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2816352" y="2148840"/>
            <a:ext cx="2048256" cy="64008"/>
          </a:xfrm>
          <a:prstGeom prst="rect">
            <a:avLst/>
          </a:prstGeom>
          <a:solidFill>
            <a:srgbClr val="2BA6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6"/>
          <p:cNvSpPr/>
          <p:nvPr/>
        </p:nvSpPr>
        <p:spPr>
          <a:xfrm>
            <a:off x="3584448" y="2331720"/>
            <a:ext cx="512064" cy="51206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2705" y="2469977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907792" y="289864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场景设计师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2926080" y="31729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S2 / Token Plan / Sowork / S-Design / Agent 设计方案</a:t>
            </a:r>
            <a:endParaRPr lang="en-US" sz="870" dirty="0"/>
          </a:p>
        </p:txBody>
      </p:sp>
      <p:sp>
        <p:nvSpPr>
          <p:cNvPr id="26" name="Shape 19"/>
          <p:cNvSpPr/>
          <p:nvPr/>
        </p:nvSpPr>
        <p:spPr>
          <a:xfrm>
            <a:off x="5084064" y="2148840"/>
            <a:ext cx="204825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0"/>
          <p:cNvSpPr/>
          <p:nvPr/>
        </p:nvSpPr>
        <p:spPr>
          <a:xfrm>
            <a:off x="5084064" y="2148840"/>
            <a:ext cx="2048256" cy="64008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1"/>
          <p:cNvSpPr/>
          <p:nvPr/>
        </p:nvSpPr>
        <p:spPr>
          <a:xfrm>
            <a:off x="5852160" y="2331720"/>
            <a:ext cx="512064" cy="51206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0417" y="2469977"/>
            <a:ext cx="235549" cy="235549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75504" y="289864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/ PoC 推动者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5193792" y="31729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快速构建可演示、可验证、可试用的场景样板</a:t>
            </a:r>
            <a:endParaRPr lang="en-US" sz="870" dirty="0"/>
          </a:p>
        </p:txBody>
      </p:sp>
      <p:sp>
        <p:nvSpPr>
          <p:cNvPr id="32" name="Shape 24"/>
          <p:cNvSpPr/>
          <p:nvPr/>
        </p:nvSpPr>
        <p:spPr>
          <a:xfrm>
            <a:off x="548640" y="3813048"/>
            <a:ext cx="204825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5"/>
          <p:cNvSpPr/>
          <p:nvPr/>
        </p:nvSpPr>
        <p:spPr>
          <a:xfrm>
            <a:off x="548640" y="3813048"/>
            <a:ext cx="2048256" cy="64008"/>
          </a:xfrm>
          <a:prstGeom prst="rect">
            <a:avLst/>
          </a:prstGeom>
          <a:solidFill>
            <a:srgbClr val="2BA6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6"/>
          <p:cNvSpPr/>
          <p:nvPr/>
        </p:nvSpPr>
        <p:spPr>
          <a:xfrm>
            <a:off x="1316736" y="3995928"/>
            <a:ext cx="512064" cy="51206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4993" y="4134185"/>
            <a:ext cx="235549" cy="235549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40080" y="456285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产品反馈收集者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658368" y="48371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把客户真实问题沉淀为产品与产研优化建议</a:t>
            </a:r>
            <a:endParaRPr lang="en-US" sz="870" dirty="0"/>
          </a:p>
        </p:txBody>
      </p:sp>
      <p:sp>
        <p:nvSpPr>
          <p:cNvPr id="38" name="Shape 29"/>
          <p:cNvSpPr/>
          <p:nvPr/>
        </p:nvSpPr>
        <p:spPr>
          <a:xfrm>
            <a:off x="2816352" y="3813048"/>
            <a:ext cx="204825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0"/>
          <p:cNvSpPr/>
          <p:nvPr/>
        </p:nvSpPr>
        <p:spPr>
          <a:xfrm>
            <a:off x="2816352" y="3813048"/>
            <a:ext cx="2048256" cy="64008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1"/>
          <p:cNvSpPr/>
          <p:nvPr/>
        </p:nvSpPr>
        <p:spPr>
          <a:xfrm>
            <a:off x="3584448" y="3995928"/>
            <a:ext cx="512064" cy="51206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2705" y="4134185"/>
            <a:ext cx="235549" cy="235549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2907792" y="456285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价值交付陪跑者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2926080" y="48371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帮客户完成试点、上线、培训、复盘与扩容</a:t>
            </a:r>
            <a:endParaRPr lang="en-US" sz="870" dirty="0"/>
          </a:p>
        </p:txBody>
      </p:sp>
      <p:sp>
        <p:nvSpPr>
          <p:cNvPr id="44" name="Shape 34"/>
          <p:cNvSpPr/>
          <p:nvPr/>
        </p:nvSpPr>
        <p:spPr>
          <a:xfrm>
            <a:off x="5084064" y="3813048"/>
            <a:ext cx="204825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35"/>
          <p:cNvSpPr/>
          <p:nvPr/>
        </p:nvSpPr>
        <p:spPr>
          <a:xfrm>
            <a:off x="5084064" y="3813048"/>
            <a:ext cx="2048256" cy="64008"/>
          </a:xfrm>
          <a:prstGeom prst="rect">
            <a:avLst/>
          </a:prstGeom>
          <a:solidFill>
            <a:srgbClr val="2BA6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36"/>
          <p:cNvSpPr/>
          <p:nvPr/>
        </p:nvSpPr>
        <p:spPr>
          <a:xfrm>
            <a:off x="5852160" y="3995928"/>
            <a:ext cx="512064" cy="51206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0417" y="4134185"/>
            <a:ext cx="235549" cy="235549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175504" y="456285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场景资产沉淀者</a:t>
            </a:r>
            <a:endParaRPr lang="en-US" sz="1150" dirty="0"/>
          </a:p>
        </p:txBody>
      </p:sp>
      <p:sp>
        <p:nvSpPr>
          <p:cNvPr id="49" name="Text 38"/>
          <p:cNvSpPr/>
          <p:nvPr/>
        </p:nvSpPr>
        <p:spPr>
          <a:xfrm>
            <a:off x="5193792" y="48371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把一次性经验沉淀为可复制方案、模板与 SOP</a:t>
            </a:r>
            <a:endParaRPr lang="en-US" sz="870" dirty="0"/>
          </a:p>
        </p:txBody>
      </p:sp>
      <p:sp>
        <p:nvSpPr>
          <p:cNvPr id="50" name="Shape 39"/>
          <p:cNvSpPr/>
          <p:nvPr/>
        </p:nvSpPr>
        <p:spPr>
          <a:xfrm>
            <a:off x="7498080" y="1783080"/>
            <a:ext cx="4144975" cy="3511296"/>
          </a:xfrm>
          <a:prstGeom prst="roundRect">
            <a:avLst>
              <a:gd name="adj" fmla="val 2083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0"/>
          <p:cNvSpPr/>
          <p:nvPr/>
        </p:nvSpPr>
        <p:spPr>
          <a:xfrm>
            <a:off x="7498080" y="1783080"/>
            <a:ext cx="4144975" cy="9144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1"/>
          <p:cNvSpPr/>
          <p:nvPr/>
        </p:nvSpPr>
        <p:spPr>
          <a:xfrm>
            <a:off x="7808976" y="2020824"/>
            <a:ext cx="3596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对客户的六大价值</a:t>
            </a:r>
            <a:endParaRPr lang="en-US" sz="1500" dirty="0"/>
          </a:p>
        </p:txBody>
      </p:sp>
      <p:sp>
        <p:nvSpPr>
          <p:cNvPr id="53" name="Text 42"/>
          <p:cNvSpPr/>
          <p:nvPr/>
        </p:nvSpPr>
        <p:spPr>
          <a:xfrm>
            <a:off x="7808976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54" name="Text 43"/>
          <p:cNvSpPr/>
          <p:nvPr/>
        </p:nvSpPr>
        <p:spPr>
          <a:xfrm>
            <a:off x="8101584" y="2478024"/>
            <a:ext cx="3322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更快找到场景</a:t>
            </a:r>
            <a:endParaRPr lang="en-US" sz="1150" dirty="0"/>
          </a:p>
        </p:txBody>
      </p:sp>
      <p:sp>
        <p:nvSpPr>
          <p:cNvPr id="55" name="Text 44"/>
          <p:cNvSpPr/>
          <p:nvPr/>
        </p:nvSpPr>
        <p:spPr>
          <a:xfrm>
            <a:off x="8101584" y="2697480"/>
            <a:ext cx="332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从业务流程找到最适合 AI 切入的点</a:t>
            </a:r>
            <a:endParaRPr lang="en-US" sz="840" dirty="0"/>
          </a:p>
        </p:txBody>
      </p:sp>
      <p:sp>
        <p:nvSpPr>
          <p:cNvPr id="56" name="Text 45"/>
          <p:cNvSpPr/>
          <p:nvPr/>
        </p:nvSpPr>
        <p:spPr>
          <a:xfrm>
            <a:off x="7808976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57" name="Text 46"/>
          <p:cNvSpPr/>
          <p:nvPr/>
        </p:nvSpPr>
        <p:spPr>
          <a:xfrm>
            <a:off x="8101584" y="2926080"/>
            <a:ext cx="3322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更快看到 Demo</a:t>
            </a:r>
            <a:endParaRPr lang="en-US" sz="1150" dirty="0"/>
          </a:p>
        </p:txBody>
      </p:sp>
      <p:sp>
        <p:nvSpPr>
          <p:cNvPr id="58" name="Text 47"/>
          <p:cNvSpPr/>
          <p:nvPr/>
        </p:nvSpPr>
        <p:spPr>
          <a:xfrm>
            <a:off x="8101584" y="3145536"/>
            <a:ext cx="332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快速构建可验证样板、降低试错成本</a:t>
            </a:r>
            <a:endParaRPr lang="en-US" sz="840" dirty="0"/>
          </a:p>
        </p:txBody>
      </p:sp>
      <p:sp>
        <p:nvSpPr>
          <p:cNvPr id="59" name="Text 48"/>
          <p:cNvSpPr/>
          <p:nvPr/>
        </p:nvSpPr>
        <p:spPr>
          <a:xfrm>
            <a:off x="7808976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60" name="Text 49"/>
          <p:cNvSpPr/>
          <p:nvPr/>
        </p:nvSpPr>
        <p:spPr>
          <a:xfrm>
            <a:off x="8101584" y="3374136"/>
            <a:ext cx="3322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更快推动试点</a:t>
            </a:r>
            <a:endParaRPr lang="en-US" sz="1150" dirty="0"/>
          </a:p>
        </p:txBody>
      </p:sp>
      <p:sp>
        <p:nvSpPr>
          <p:cNvPr id="61" name="Text 50"/>
          <p:cNvSpPr/>
          <p:nvPr/>
        </p:nvSpPr>
        <p:spPr>
          <a:xfrm>
            <a:off x="8101584" y="3593592"/>
            <a:ext cx="332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陪跑客户完成 PoC、培训与反馈</a:t>
            </a:r>
            <a:endParaRPr lang="en-US" sz="840" dirty="0"/>
          </a:p>
        </p:txBody>
      </p:sp>
      <p:sp>
        <p:nvSpPr>
          <p:cNvPr id="62" name="Text 51"/>
          <p:cNvSpPr/>
          <p:nvPr/>
        </p:nvSpPr>
        <p:spPr>
          <a:xfrm>
            <a:off x="7808976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63" name="Text 52"/>
          <p:cNvSpPr/>
          <p:nvPr/>
        </p:nvSpPr>
        <p:spPr>
          <a:xfrm>
            <a:off x="8101584" y="3822192"/>
            <a:ext cx="3322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更易形成共识</a:t>
            </a:r>
            <a:endParaRPr lang="en-US" sz="1150" dirty="0"/>
          </a:p>
        </p:txBody>
      </p:sp>
      <p:sp>
        <p:nvSpPr>
          <p:cNvPr id="64" name="Text 53"/>
          <p:cNvSpPr/>
          <p:nvPr/>
        </p:nvSpPr>
        <p:spPr>
          <a:xfrm>
            <a:off x="8101584" y="4041648"/>
            <a:ext cx="332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帮客户准备方案、价值说明与试点结果</a:t>
            </a:r>
            <a:endParaRPr lang="en-US" sz="840" dirty="0"/>
          </a:p>
        </p:txBody>
      </p:sp>
      <p:sp>
        <p:nvSpPr>
          <p:cNvPr id="65" name="Text 54"/>
          <p:cNvSpPr/>
          <p:nvPr/>
        </p:nvSpPr>
        <p:spPr>
          <a:xfrm>
            <a:off x="7808976" y="4288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66" name="Text 55"/>
          <p:cNvSpPr/>
          <p:nvPr/>
        </p:nvSpPr>
        <p:spPr>
          <a:xfrm>
            <a:off x="8101584" y="4270248"/>
            <a:ext cx="3322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更易规模化使用</a:t>
            </a:r>
            <a:endParaRPr lang="en-US" sz="1150" dirty="0"/>
          </a:p>
        </p:txBody>
      </p:sp>
      <p:sp>
        <p:nvSpPr>
          <p:cNvPr id="67" name="Text 56"/>
          <p:cNvSpPr/>
          <p:nvPr/>
        </p:nvSpPr>
        <p:spPr>
          <a:xfrm>
            <a:off x="8101584" y="4489704"/>
            <a:ext cx="332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沉淀模板、流程、方法，推广到更多部门</a:t>
            </a:r>
            <a:endParaRPr lang="en-US" sz="840" dirty="0"/>
          </a:p>
        </p:txBody>
      </p:sp>
      <p:sp>
        <p:nvSpPr>
          <p:cNvPr id="68" name="Text 57"/>
          <p:cNvSpPr/>
          <p:nvPr/>
        </p:nvSpPr>
        <p:spPr>
          <a:xfrm>
            <a:off x="7808976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69" name="Text 58"/>
          <p:cNvSpPr/>
          <p:nvPr/>
        </p:nvSpPr>
        <p:spPr>
          <a:xfrm>
            <a:off x="8101584" y="4718304"/>
            <a:ext cx="3322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更易衡量价值</a:t>
            </a:r>
            <a:endParaRPr lang="en-US" sz="1150" dirty="0"/>
          </a:p>
        </p:txBody>
      </p:sp>
      <p:sp>
        <p:nvSpPr>
          <p:cNvPr id="70" name="Text 59"/>
          <p:cNvSpPr/>
          <p:nvPr/>
        </p:nvSpPr>
        <p:spPr>
          <a:xfrm>
            <a:off x="8101584" y="4937760"/>
            <a:ext cx="332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用使用数据 / Token 消耗 / 效率衡量价值</a:t>
            </a:r>
            <a:endParaRPr lang="en-US" sz="840" dirty="0"/>
          </a:p>
        </p:txBody>
      </p:sp>
      <p:sp>
        <p:nvSpPr>
          <p:cNvPr id="71" name="Shape 60"/>
          <p:cNvSpPr/>
          <p:nvPr/>
        </p:nvSpPr>
        <p:spPr>
          <a:xfrm>
            <a:off x="548640" y="548640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61"/>
          <p:cNvSpPr/>
          <p:nvPr/>
        </p:nvSpPr>
        <p:spPr>
          <a:xfrm>
            <a:off x="548640" y="5486400"/>
            <a:ext cx="82296" cy="566928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62"/>
          <p:cNvSpPr/>
          <p:nvPr/>
        </p:nvSpPr>
        <p:spPr>
          <a:xfrm>
            <a:off x="877824" y="54864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已交付样板   </a:t>
            </a:r>
            <a:r>
              <a:rPr lang="en-US" sz="110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会展展位推荐 Agent · 餐饮点餐推荐 · HR 招聘 Agent · 销售效率小助手 —— FDE 把「把 AI 部署到业务最前线」做成了一个个可复用的真实场景。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三帽子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一个人，三顶帽子 —— 用 1:5 杠杆放大服务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FDE 续费 &lt; 30%，有 FDE ≥ 85% —— FDE 不是成本，是续费引擎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345429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828800"/>
            <a:ext cx="3454298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841248" y="2139696"/>
            <a:ext cx="658368" cy="658368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007" y="2317455"/>
            <a:ext cx="302849" cy="30284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814218" y="213969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2600" dirty="0"/>
          </a:p>
        </p:txBody>
      </p:sp>
      <p:sp>
        <p:nvSpPr>
          <p:cNvPr id="18" name="Text 12"/>
          <p:cNvSpPr/>
          <p:nvPr/>
        </p:nvSpPr>
        <p:spPr>
          <a:xfrm>
            <a:off x="841248" y="2889504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产品专家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841248" y="3273552"/>
            <a:ext cx="2905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 / Sowork 全栈熟练，客户屏幕前 5 分钟做出可用 Demo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68698" y="1828800"/>
            <a:ext cx="345429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4368698" y="1828800"/>
            <a:ext cx="3454298" cy="82296"/>
          </a:xfrm>
          <a:prstGeom prst="rect">
            <a:avLst/>
          </a:prstGeom>
          <a:solidFill>
            <a:srgbClr val="2BA6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6"/>
          <p:cNvSpPr/>
          <p:nvPr/>
        </p:nvSpPr>
        <p:spPr>
          <a:xfrm>
            <a:off x="4661306" y="2139696"/>
            <a:ext cx="658368" cy="658368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066" y="2317455"/>
            <a:ext cx="302849" cy="30284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34277" y="213969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2600" dirty="0"/>
          </a:p>
        </p:txBody>
      </p:sp>
      <p:sp>
        <p:nvSpPr>
          <p:cNvPr id="25" name="Text 18"/>
          <p:cNvSpPr/>
          <p:nvPr/>
        </p:nvSpPr>
        <p:spPr>
          <a:xfrm>
            <a:off x="4661306" y="2889504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销售助攻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4661306" y="3273552"/>
            <a:ext cx="2905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售前答疑、POC 设计、方案输出 —— 帮销售把「听起来酷」变成「敢签单」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8188757" y="1828800"/>
            <a:ext cx="345429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1"/>
          <p:cNvSpPr/>
          <p:nvPr/>
        </p:nvSpPr>
        <p:spPr>
          <a:xfrm>
            <a:off x="8188757" y="1828800"/>
            <a:ext cx="3454298" cy="8229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2"/>
          <p:cNvSpPr/>
          <p:nvPr/>
        </p:nvSpPr>
        <p:spPr>
          <a:xfrm>
            <a:off x="8481365" y="2139696"/>
            <a:ext cx="658368" cy="658368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9124" y="2317455"/>
            <a:ext cx="302849" cy="30284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454335" y="213969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2600" dirty="0"/>
          </a:p>
        </p:txBody>
      </p:sp>
      <p:sp>
        <p:nvSpPr>
          <p:cNvPr id="32" name="Text 24"/>
          <p:cNvSpPr/>
          <p:nvPr/>
        </p:nvSpPr>
        <p:spPr>
          <a:xfrm>
            <a:off x="8481365" y="2889504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客户成功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8481365" y="3273552"/>
            <a:ext cx="2905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部署、培训、续费前主动触达 —— 签约客户 12 个月 NRR &gt; 110%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4434840"/>
            <a:ext cx="11094415" cy="1600200"/>
          </a:xfrm>
          <a:prstGeom prst="roundRect">
            <a:avLst>
              <a:gd name="adj" fmla="val 4571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7"/>
          <p:cNvSpPr/>
          <p:nvPr/>
        </p:nvSpPr>
        <p:spPr>
          <a:xfrm>
            <a:off x="548640" y="4434840"/>
            <a:ext cx="91440" cy="160020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8"/>
          <p:cNvSpPr/>
          <p:nvPr/>
        </p:nvSpPr>
        <p:spPr>
          <a:xfrm>
            <a:off x="914400" y="46085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: 5 杠杆经济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914400" y="4992624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1:5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38" name="Text 30"/>
          <p:cNvSpPr/>
          <p:nvPr/>
        </p:nvSpPr>
        <p:spPr>
          <a:xfrm>
            <a:off x="914400" y="5504688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名 FDE 服务 5 客户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3377108" y="5029200"/>
            <a:ext cx="0" cy="640080"/>
          </a:xfrm>
          <a:prstGeom prst="line">
            <a:avLst/>
          </a:prstGeom>
          <a:noFill/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2"/>
          <p:cNvSpPr/>
          <p:nvPr/>
        </p:nvSpPr>
        <p:spPr>
          <a:xfrm>
            <a:off x="3596564" y="4992624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人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1" name="Text 33"/>
          <p:cNvSpPr/>
          <p:nvPr/>
        </p:nvSpPr>
        <p:spPr>
          <a:xfrm>
            <a:off x="3596564" y="5504688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 250+ 客户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6059272" y="5029200"/>
            <a:ext cx="0" cy="640080"/>
          </a:xfrm>
          <a:prstGeom prst="line">
            <a:avLst/>
          </a:prstGeom>
          <a:noFill/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5"/>
          <p:cNvSpPr/>
          <p:nvPr/>
        </p:nvSpPr>
        <p:spPr>
          <a:xfrm>
            <a:off x="6278728" y="4992624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+20pp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4" name="Text 36"/>
          <p:cNvSpPr/>
          <p:nvPr/>
        </p:nvSpPr>
        <p:spPr>
          <a:xfrm>
            <a:off x="6278728" y="5504688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续费率提升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8741435" y="5029200"/>
            <a:ext cx="0" cy="640080"/>
          </a:xfrm>
          <a:prstGeom prst="line">
            <a:avLst/>
          </a:prstGeom>
          <a:noFill/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38"/>
          <p:cNvSpPr/>
          <p:nvPr/>
        </p:nvSpPr>
        <p:spPr>
          <a:xfrm>
            <a:off x="8960891" y="4992624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50/30/20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7" name="Text 39"/>
          <p:cNvSpPr/>
          <p:nvPr/>
        </p:nvSpPr>
        <p:spPr>
          <a:xfrm>
            <a:off x="8960891" y="5504688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大客户/腰部/长尾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五步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 FDE 五步落地法 —— 不做 Demo，重做一个流程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1 个场景，30 天见效 —— 先用一个最痛的场景跑通价值，再复制扩展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74520"/>
            <a:ext cx="1999427" cy="2606040"/>
          </a:xfrm>
          <a:prstGeom prst="roundRect">
            <a:avLst>
              <a:gd name="adj" fmla="val 3659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1219170" y="21488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6929" y="2326599"/>
            <a:ext cx="302849" cy="30284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" y="2935224"/>
            <a:ext cx="17068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选场景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76656" y="3300984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 / 低效 / 协同复杂</a:t>
            </a:r>
            <a:endParaRPr lang="en-US" sz="980" dirty="0"/>
          </a:p>
        </p:txBody>
      </p:sp>
      <p:sp>
        <p:nvSpPr>
          <p:cNvPr id="18" name="Text 12"/>
          <p:cNvSpPr/>
          <p:nvPr/>
        </p:nvSpPr>
        <p:spPr>
          <a:xfrm>
            <a:off x="676656" y="3831336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挑客户最痛、最值得做的</a:t>
            </a:r>
            <a:endParaRPr lang="en-US" sz="930" dirty="0"/>
          </a:p>
        </p:txBody>
      </p:sp>
      <p:sp>
        <p:nvSpPr>
          <p:cNvPr id="19" name="Text 13"/>
          <p:cNvSpPr/>
          <p:nvPr/>
        </p:nvSpPr>
        <p:spPr>
          <a:xfrm>
            <a:off x="2548067" y="2788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2822387" y="1874520"/>
            <a:ext cx="1999427" cy="2606040"/>
          </a:xfrm>
          <a:prstGeom prst="roundRect">
            <a:avLst>
              <a:gd name="adj" fmla="val 3659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3492917" y="21488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0676" y="2326599"/>
            <a:ext cx="302849" cy="30284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968691" y="2935224"/>
            <a:ext cx="17068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拆动作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2950403" y="3300984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关键节点封装 Skill</a:t>
            </a:r>
            <a:endParaRPr lang="en-US" sz="980" dirty="0"/>
          </a:p>
        </p:txBody>
      </p:sp>
      <p:sp>
        <p:nvSpPr>
          <p:cNvPr id="25" name="Text 18"/>
          <p:cNvSpPr/>
          <p:nvPr/>
        </p:nvSpPr>
        <p:spPr>
          <a:xfrm>
            <a:off x="2950403" y="3831336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把流程拆成可复用动作</a:t>
            </a:r>
            <a:endParaRPr lang="en-US" sz="930" dirty="0"/>
          </a:p>
        </p:txBody>
      </p:sp>
      <p:sp>
        <p:nvSpPr>
          <p:cNvPr id="26" name="Text 19"/>
          <p:cNvSpPr/>
          <p:nvPr/>
        </p:nvSpPr>
        <p:spPr>
          <a:xfrm>
            <a:off x="4821814" y="2788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5096134" y="1874520"/>
            <a:ext cx="1999427" cy="2606040"/>
          </a:xfrm>
          <a:prstGeom prst="roundRect">
            <a:avLst>
              <a:gd name="adj" fmla="val 3659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1"/>
          <p:cNvSpPr/>
          <p:nvPr/>
        </p:nvSpPr>
        <p:spPr>
          <a:xfrm>
            <a:off x="5766664" y="21488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4423" y="2326599"/>
            <a:ext cx="302849" cy="302849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42438" y="2935224"/>
            <a:ext cx="17068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跑通 MVP</a:t>
            </a:r>
            <a:endParaRPr lang="en-US" sz="1450" dirty="0"/>
          </a:p>
        </p:txBody>
      </p:sp>
      <p:sp>
        <p:nvSpPr>
          <p:cNvPr id="31" name="Text 23"/>
          <p:cNvSpPr/>
          <p:nvPr/>
        </p:nvSpPr>
        <p:spPr>
          <a:xfrm>
            <a:off x="5224150" y="3300984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周 POC 单部门验证</a:t>
            </a:r>
            <a:endParaRPr lang="en-US" sz="980" dirty="0"/>
          </a:p>
        </p:txBody>
      </p:sp>
      <p:sp>
        <p:nvSpPr>
          <p:cNvPr id="32" name="Text 24"/>
          <p:cNvSpPr/>
          <p:nvPr/>
        </p:nvSpPr>
        <p:spPr>
          <a:xfrm>
            <a:off x="5224150" y="3831336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先小范围跑出效果</a:t>
            </a:r>
            <a:endParaRPr lang="en-US" sz="930" dirty="0"/>
          </a:p>
        </p:txBody>
      </p:sp>
      <p:sp>
        <p:nvSpPr>
          <p:cNvPr id="33" name="Text 25"/>
          <p:cNvSpPr/>
          <p:nvPr/>
        </p:nvSpPr>
        <p:spPr>
          <a:xfrm>
            <a:off x="7095561" y="2788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26"/>
          <p:cNvSpPr/>
          <p:nvPr/>
        </p:nvSpPr>
        <p:spPr>
          <a:xfrm>
            <a:off x="7369881" y="1874520"/>
            <a:ext cx="1999427" cy="2606040"/>
          </a:xfrm>
          <a:prstGeom prst="roundRect">
            <a:avLst>
              <a:gd name="adj" fmla="val 3659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7"/>
          <p:cNvSpPr/>
          <p:nvPr/>
        </p:nvSpPr>
        <p:spPr>
          <a:xfrm>
            <a:off x="8040411" y="21488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8170" y="2326599"/>
            <a:ext cx="302849" cy="30284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516185" y="2935224"/>
            <a:ext cx="17068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证 ROI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7497897" y="3300984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量化效率 + 客户证言</a:t>
            </a:r>
            <a:endParaRPr lang="en-US" sz="980" dirty="0"/>
          </a:p>
        </p:txBody>
      </p:sp>
      <p:sp>
        <p:nvSpPr>
          <p:cNvPr id="39" name="Text 30"/>
          <p:cNvSpPr/>
          <p:nvPr/>
        </p:nvSpPr>
        <p:spPr>
          <a:xfrm>
            <a:off x="7497897" y="3831336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用数据证明提升</a:t>
            </a:r>
            <a:endParaRPr lang="en-US" sz="930" dirty="0"/>
          </a:p>
        </p:txBody>
      </p:sp>
      <p:sp>
        <p:nvSpPr>
          <p:cNvPr id="40" name="Text 31"/>
          <p:cNvSpPr/>
          <p:nvPr/>
        </p:nvSpPr>
        <p:spPr>
          <a:xfrm>
            <a:off x="9369308" y="2788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Shape 32"/>
          <p:cNvSpPr/>
          <p:nvPr/>
        </p:nvSpPr>
        <p:spPr>
          <a:xfrm>
            <a:off x="9643628" y="1874520"/>
            <a:ext cx="1999427" cy="2606040"/>
          </a:xfrm>
          <a:prstGeom prst="roundRect">
            <a:avLst>
              <a:gd name="adj" fmla="val 3659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3"/>
          <p:cNvSpPr/>
          <p:nvPr/>
        </p:nvSpPr>
        <p:spPr>
          <a:xfrm>
            <a:off x="10314158" y="2148840"/>
            <a:ext cx="658368" cy="658368"/>
          </a:xfrm>
          <a:prstGeom prst="ellipse">
            <a:avLst/>
          </a:prstGeom>
          <a:solidFill>
            <a:srgbClr val="1C3E6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1917" y="2326599"/>
            <a:ext cx="302849" cy="302849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789932" y="2935224"/>
            <a:ext cx="17068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扩覆盖</a:t>
            </a:r>
            <a:endParaRPr lang="en-US" sz="1450" dirty="0"/>
          </a:p>
        </p:txBody>
      </p:sp>
      <p:sp>
        <p:nvSpPr>
          <p:cNvPr id="45" name="Text 35"/>
          <p:cNvSpPr/>
          <p:nvPr/>
        </p:nvSpPr>
        <p:spPr>
          <a:xfrm>
            <a:off x="9771644" y="3300984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部门复制 → 续费扩容</a:t>
            </a:r>
            <a:endParaRPr lang="en-US" sz="980" dirty="0"/>
          </a:p>
        </p:txBody>
      </p:sp>
      <p:sp>
        <p:nvSpPr>
          <p:cNvPr id="46" name="Text 36"/>
          <p:cNvSpPr/>
          <p:nvPr/>
        </p:nvSpPr>
        <p:spPr>
          <a:xfrm>
            <a:off x="9771644" y="3831336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从一个点铺到全公司</a:t>
            </a:r>
            <a:endParaRPr lang="en-US" sz="930" dirty="0"/>
          </a:p>
        </p:txBody>
      </p:sp>
      <p:sp>
        <p:nvSpPr>
          <p:cNvPr id="47" name="Shape 37"/>
          <p:cNvSpPr/>
          <p:nvPr/>
        </p:nvSpPr>
        <p:spPr>
          <a:xfrm>
            <a:off x="548640" y="4791456"/>
            <a:ext cx="11094415" cy="1243584"/>
          </a:xfrm>
          <a:prstGeom prst="roundRect">
            <a:avLst>
              <a:gd name="adj" fmla="val 5882"/>
            </a:avLst>
          </a:prstGeom>
          <a:solidFill>
            <a:srgbClr val="EAF2F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38"/>
          <p:cNvSpPr/>
          <p:nvPr/>
        </p:nvSpPr>
        <p:spPr>
          <a:xfrm>
            <a:off x="548640" y="4791456"/>
            <a:ext cx="82296" cy="1243584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39"/>
          <p:cNvSpPr/>
          <p:nvPr/>
        </p:nvSpPr>
        <p:spPr>
          <a:xfrm>
            <a:off x="877824" y="4937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的价值闭环 · 50 / 30 / 20</a:t>
            </a:r>
            <a:endParaRPr lang="en-US" sz="1300" dirty="0"/>
          </a:p>
        </p:txBody>
      </p:sp>
      <p:sp>
        <p:nvSpPr>
          <p:cNvPr id="50" name="Text 40"/>
          <p:cNvSpPr/>
          <p:nvPr/>
        </p:nvSpPr>
        <p:spPr>
          <a:xfrm>
            <a:off x="877824" y="5285232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 产品预制包（标准化、开箱即用） + 30% Lite FDE 共建（场景拆解、POC、培训陪跑、服务驱动续费） + 20% 客户自迭代（长期粘性）—— 这就是「扶上马、送一程」的标准动作。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边界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客户成功的边界 —— 像飞书 CSM 一样，把客户「带飞」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聚焦 Lite 场景、不承接重型集成 —— 边界清晰，才跑得快、复制得动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783080"/>
            <a:ext cx="531860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7780">
            <a:solidFill>
              <a:srgbClr val="2E9E6B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783080"/>
            <a:ext cx="5318608" cy="512064"/>
          </a:xfrm>
          <a:prstGeom prst="roundRect">
            <a:avLst>
              <a:gd name="adj" fmla="val 14286"/>
            </a:avLst>
          </a:prstGeom>
          <a:solidFill>
            <a:srgbClr val="2E9E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548640" y="2093976"/>
            <a:ext cx="5318608" cy="201168"/>
          </a:xfrm>
          <a:prstGeom prst="rect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859536" y="1783080"/>
            <a:ext cx="4769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FDE 做什么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59536" y="2459736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3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Agent / 模型直接解决高频痛点</a:t>
            </a:r>
            <a:endParaRPr lang="en-US" sz="1130" dirty="0"/>
          </a:p>
        </p:txBody>
      </p:sp>
      <p:sp>
        <p:nvSpPr>
          <p:cNvPr id="18" name="Text 13"/>
          <p:cNvSpPr/>
          <p:nvPr/>
        </p:nvSpPr>
        <p:spPr>
          <a:xfrm>
            <a:off x="859536" y="284378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3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选场景、拆动作、跑通 MVP、证 ROI</a:t>
            </a:r>
            <a:endParaRPr lang="en-US" sz="1130" dirty="0"/>
          </a:p>
        </p:txBody>
      </p:sp>
      <p:sp>
        <p:nvSpPr>
          <p:cNvPr id="19" name="Text 14"/>
          <p:cNvSpPr/>
          <p:nvPr/>
        </p:nvSpPr>
        <p:spPr>
          <a:xfrm>
            <a:off x="859536" y="32278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3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部署、培训、续费前主动触达</a:t>
            </a:r>
            <a:endParaRPr lang="en-US" sz="1130" dirty="0"/>
          </a:p>
        </p:txBody>
      </p:sp>
      <p:sp>
        <p:nvSpPr>
          <p:cNvPr id="20" name="Text 15"/>
          <p:cNvSpPr/>
          <p:nvPr/>
        </p:nvSpPr>
        <p:spPr>
          <a:xfrm>
            <a:off x="859536" y="361188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3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训练客户给 prompt（教方法）</a:t>
            </a:r>
            <a:endParaRPr lang="en-US" sz="1130" dirty="0"/>
          </a:p>
        </p:txBody>
      </p:sp>
      <p:sp>
        <p:nvSpPr>
          <p:cNvPr id="21" name="Shape 16"/>
          <p:cNvSpPr/>
          <p:nvPr/>
        </p:nvSpPr>
        <p:spPr>
          <a:xfrm>
            <a:off x="6324448" y="1783080"/>
            <a:ext cx="531860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7780">
            <a:solidFill>
              <a:srgbClr val="C04A42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6324448" y="1783080"/>
            <a:ext cx="5318608" cy="512064"/>
          </a:xfrm>
          <a:prstGeom prst="roundRect">
            <a:avLst>
              <a:gd name="adj" fmla="val 14286"/>
            </a:avLst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8"/>
          <p:cNvSpPr/>
          <p:nvPr/>
        </p:nvSpPr>
        <p:spPr>
          <a:xfrm>
            <a:off x="6324448" y="2093976"/>
            <a:ext cx="5318608" cy="201168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9"/>
          <p:cNvSpPr/>
          <p:nvPr/>
        </p:nvSpPr>
        <p:spPr>
          <a:xfrm>
            <a:off x="6635344" y="1783080"/>
            <a:ext cx="4769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FDE 不做什么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635344" y="2459736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 </a:t>
            </a:r>
            <a:r>
              <a:rPr lang="en-US" sz="113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不承接重型集成（不做 ERP 搭建）</a:t>
            </a:r>
            <a:endParaRPr lang="en-US" sz="1130" dirty="0"/>
          </a:p>
        </p:txBody>
      </p:sp>
      <p:sp>
        <p:nvSpPr>
          <p:cNvPr id="26" name="Text 21"/>
          <p:cNvSpPr/>
          <p:nvPr/>
        </p:nvSpPr>
        <p:spPr>
          <a:xfrm>
            <a:off x="6635344" y="284378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 </a:t>
            </a:r>
            <a:r>
              <a:rPr lang="en-US" sz="113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 阶段不写定制代码、不调微调</a:t>
            </a:r>
            <a:endParaRPr lang="en-US" sz="1130" dirty="0"/>
          </a:p>
        </p:txBody>
      </p:sp>
      <p:sp>
        <p:nvSpPr>
          <p:cNvPr id="27" name="Text 22"/>
          <p:cNvSpPr/>
          <p:nvPr/>
        </p:nvSpPr>
        <p:spPr>
          <a:xfrm>
            <a:off x="6635344" y="32278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 </a:t>
            </a:r>
            <a:r>
              <a:rPr lang="en-US" sz="113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不抢销售 KPI（计 NPS + 续费率）</a:t>
            </a:r>
            <a:endParaRPr lang="en-US" sz="1130" dirty="0"/>
          </a:p>
        </p:txBody>
      </p:sp>
      <p:sp>
        <p:nvSpPr>
          <p:cNvPr id="28" name="Text 23"/>
          <p:cNvSpPr/>
          <p:nvPr/>
        </p:nvSpPr>
        <p:spPr>
          <a:xfrm>
            <a:off x="6635344" y="361188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 </a:t>
            </a:r>
            <a:r>
              <a:rPr lang="en-US" sz="113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不替客户写（不代劳、不养依赖）</a:t>
            </a:r>
            <a:endParaRPr lang="en-US" sz="1130" dirty="0"/>
          </a:p>
        </p:txBody>
      </p:sp>
      <p:sp>
        <p:nvSpPr>
          <p:cNvPr id="29" name="Shape 24"/>
          <p:cNvSpPr/>
          <p:nvPr/>
        </p:nvSpPr>
        <p:spPr>
          <a:xfrm>
            <a:off x="548640" y="4261104"/>
            <a:ext cx="11094415" cy="1773936"/>
          </a:xfrm>
          <a:prstGeom prst="roundRect">
            <a:avLst>
              <a:gd name="adj" fmla="val 4124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548640" y="4261104"/>
            <a:ext cx="91440" cy="177393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6"/>
          <p:cNvSpPr/>
          <p:nvPr/>
        </p:nvSpPr>
        <p:spPr>
          <a:xfrm>
            <a:off x="914400" y="44256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客户成功逻辑 · 借鉴飞书 CSM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914400" y="4882896"/>
            <a:ext cx="384048" cy="38404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8"/>
          <p:cNvSpPr/>
          <p:nvPr/>
        </p:nvSpPr>
        <p:spPr>
          <a:xfrm>
            <a:off x="91440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1408176" y="484632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周必装到电脑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914400" y="5431536"/>
            <a:ext cx="261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签约后 7 天内装好 + 配额 + 演练 3 个场景</a:t>
            </a:r>
            <a:endParaRPr lang="en-US" sz="930" dirty="0"/>
          </a:p>
        </p:txBody>
      </p:sp>
      <p:sp>
        <p:nvSpPr>
          <p:cNvPr id="36" name="Shape 31"/>
          <p:cNvSpPr/>
          <p:nvPr/>
        </p:nvSpPr>
        <p:spPr>
          <a:xfrm>
            <a:off x="3573704" y="4882896"/>
            <a:ext cx="384048" cy="38404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2"/>
          <p:cNvSpPr/>
          <p:nvPr/>
        </p:nvSpPr>
        <p:spPr>
          <a:xfrm>
            <a:off x="3573704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4067480" y="484632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 3 个高频场景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3573704" y="5431536"/>
            <a:ext cx="261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写成专属 Workflow，让客户「离不开」</a:t>
            </a:r>
            <a:endParaRPr lang="en-US" sz="930" dirty="0"/>
          </a:p>
        </p:txBody>
      </p:sp>
      <p:sp>
        <p:nvSpPr>
          <p:cNvPr id="40" name="Shape 35"/>
          <p:cNvSpPr/>
          <p:nvPr/>
        </p:nvSpPr>
        <p:spPr>
          <a:xfrm>
            <a:off x="6233008" y="4882896"/>
            <a:ext cx="384048" cy="38404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6233008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37"/>
          <p:cNvSpPr/>
          <p:nvPr/>
        </p:nvSpPr>
        <p:spPr>
          <a:xfrm>
            <a:off x="6726784" y="484632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天活跃监控</a:t>
            </a:r>
            <a:endParaRPr lang="en-US" sz="1150" dirty="0"/>
          </a:p>
        </p:txBody>
      </p:sp>
      <p:sp>
        <p:nvSpPr>
          <p:cNvPr id="43" name="Text 38"/>
          <p:cNvSpPr/>
          <p:nvPr/>
        </p:nvSpPr>
        <p:spPr>
          <a:xfrm>
            <a:off x="6233008" y="5431536"/>
            <a:ext cx="261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&lt; 3 次/周立即触达，前 14 天必激活</a:t>
            </a:r>
            <a:endParaRPr lang="en-US" sz="930" dirty="0"/>
          </a:p>
        </p:txBody>
      </p:sp>
      <p:sp>
        <p:nvSpPr>
          <p:cNvPr id="44" name="Shape 39"/>
          <p:cNvSpPr/>
          <p:nvPr/>
        </p:nvSpPr>
        <p:spPr>
          <a:xfrm>
            <a:off x="8892311" y="4882896"/>
            <a:ext cx="384048" cy="38404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0"/>
          <p:cNvSpPr/>
          <p:nvPr/>
        </p:nvSpPr>
        <p:spPr>
          <a:xfrm>
            <a:off x="8892311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9386087" y="484632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续费前 30 天主动</a:t>
            </a:r>
            <a:endParaRPr lang="en-US" sz="1150" dirty="0"/>
          </a:p>
        </p:txBody>
      </p:sp>
      <p:sp>
        <p:nvSpPr>
          <p:cNvPr id="47" name="Text 42"/>
          <p:cNvSpPr/>
          <p:nvPr/>
        </p:nvSpPr>
        <p:spPr>
          <a:xfrm>
            <a:off x="8892311" y="5431536"/>
            <a:ext cx="261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用「省了多少」说话，NRR 必到 110%+</a:t>
            </a:r>
            <a:endParaRPr lang="en-US" sz="93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E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669280" cy="5669280"/>
          </a:xfrm>
          <a:prstGeom prst="ellipse">
            <a:avLst/>
          </a:prstGeom>
          <a:solidFill>
            <a:srgbClr val="1F6BEB">
              <a:alpha val="1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017520"/>
            <a:ext cx="4389120" cy="4389120"/>
          </a:xfrm>
          <a:prstGeom prst="ellipse">
            <a:avLst/>
          </a:prstGeom>
          <a:solidFill>
            <a:srgbClr val="2BA6F0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97680" cy="4297680"/>
          </a:xfrm>
          <a:prstGeom prst="ellipse">
            <a:avLst/>
          </a:prstGeom>
          <a:noFill/>
          <a:ln w="12700">
            <a:solidFill>
              <a:srgbClr val="BCD6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85216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3776" y="184708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03504" y="4114800"/>
            <a:ext cx="1371600" cy="4572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怎么一起卖、一起赚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66928" y="50109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WE WIN TOGETHER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5394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商汤供货、深信服经销商卖货、奥尼出硬件 —— 高利润、强需求、长期复利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9842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67344" y="18653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商汤生态渠道部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24414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67344" y="23225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经销商打法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28986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67344" y="27797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WorkBuddy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33558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67344" y="32369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 vs 封闭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38130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67344" y="3694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奥尼软硬件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0" y="4270248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67344" y="41513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怎么开始</a:t>
            </a:r>
            <a:endParaRPr lang="en-US" sz="1250" dirty="0"/>
          </a:p>
        </p:txBody>
      </p:sp>
      <p:pic>
        <p:nvPicPr>
          <p:cNvPr id="23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2" descr="sangfo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29" name="Text 24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渠道部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跟谁合作：商汤大模型生态渠道部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一个统一入口 —— 给伙伴最强的「货」、最实的服务、最清晰的合作路径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700784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700784"/>
            <a:ext cx="91440" cy="67665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>
            <a:off x="914400" y="1700784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商汤大模型生态渠道部</a:t>
            </a:r>
            <a:r>
              <a:rPr lang="en-US" sz="15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负责 Token Plan / Agent / FDE 的渠道分发与赋能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534095" y="1883664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2"/>
          <p:cNvSpPr/>
          <p:nvPr/>
        </p:nvSpPr>
        <p:spPr>
          <a:xfrm>
            <a:off x="8534095" y="18836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partner@sensetime.com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2542032"/>
            <a:ext cx="5318608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4"/>
          <p:cNvSpPr/>
          <p:nvPr/>
        </p:nvSpPr>
        <p:spPr>
          <a:xfrm>
            <a:off x="548640" y="2542032"/>
            <a:ext cx="5318608" cy="457200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5"/>
          <p:cNvSpPr/>
          <p:nvPr/>
        </p:nvSpPr>
        <p:spPr>
          <a:xfrm>
            <a:off x="822960" y="2542032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为什么选商汤渠道（vs 友商）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822960" y="3200400"/>
            <a:ext cx="109728" cy="109728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1024128" y="3108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有货更有服务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2697480" y="3108960"/>
            <a:ext cx="298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不止给 API / 折扣，还给 Agent 产品 + FDE 落地</a:t>
            </a:r>
            <a:endParaRPr lang="en-US" sz="960" dirty="0"/>
          </a:p>
        </p:txBody>
      </p:sp>
      <p:sp>
        <p:nvSpPr>
          <p:cNvPr id="24" name="Shape 19"/>
          <p:cNvSpPr/>
          <p:nvPr/>
        </p:nvSpPr>
        <p:spPr>
          <a:xfrm>
            <a:off x="822960" y="3584448"/>
            <a:ext cx="109728" cy="109728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0"/>
          <p:cNvSpPr/>
          <p:nvPr/>
        </p:nvSpPr>
        <p:spPr>
          <a:xfrm>
            <a:off x="1024128" y="3493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范本可复制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2697480" y="3493008"/>
            <a:ext cx="298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ABCDE 整套（产品/定价/算法/KPI/FDE）直接复用</a:t>
            </a:r>
            <a:endParaRPr lang="en-US" sz="960" dirty="0"/>
          </a:p>
        </p:txBody>
      </p:sp>
      <p:sp>
        <p:nvSpPr>
          <p:cNvPr id="27" name="Shape 22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1024128" y="3877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学院带教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2697480" y="3877056"/>
            <a:ext cx="298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1:5 杠杆，5 天速成，伙伴团队快速能卖能交付</a:t>
            </a:r>
            <a:endParaRPr lang="en-US" sz="960" dirty="0"/>
          </a:p>
        </p:txBody>
      </p:sp>
      <p:sp>
        <p:nvSpPr>
          <p:cNvPr id="30" name="Shape 25"/>
          <p:cNvSpPr/>
          <p:nvPr/>
        </p:nvSpPr>
        <p:spPr>
          <a:xfrm>
            <a:off x="822960" y="4352544"/>
            <a:ext cx="109728" cy="109728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6"/>
          <p:cNvSpPr/>
          <p:nvPr/>
        </p:nvSpPr>
        <p:spPr>
          <a:xfrm>
            <a:off x="1024128" y="42611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 + 软硬一体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2697480" y="4261104"/>
            <a:ext cx="298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可接第三方入口/agent，叠加奥尼软硬件打包</a:t>
            </a:r>
            <a:endParaRPr lang="en-US" sz="960" dirty="0"/>
          </a:p>
        </p:txBody>
      </p:sp>
      <p:sp>
        <p:nvSpPr>
          <p:cNvPr id="33" name="Shape 28"/>
          <p:cNvSpPr/>
          <p:nvPr/>
        </p:nvSpPr>
        <p:spPr>
          <a:xfrm>
            <a:off x="6324448" y="2542032"/>
            <a:ext cx="5318608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9"/>
          <p:cNvSpPr/>
          <p:nvPr/>
        </p:nvSpPr>
        <p:spPr>
          <a:xfrm>
            <a:off x="6324448" y="2542032"/>
            <a:ext cx="5318608" cy="45720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0"/>
          <p:cNvSpPr/>
          <p:nvPr/>
        </p:nvSpPr>
        <p:spPr>
          <a:xfrm>
            <a:off x="6598768" y="2542032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能为伙伴提供什么价值</a:t>
            </a:r>
            <a:endParaRPr lang="en-US" sz="1350" dirty="0"/>
          </a:p>
        </p:txBody>
      </p:sp>
      <p:sp>
        <p:nvSpPr>
          <p:cNvPr id="36" name="Shape 31"/>
          <p:cNvSpPr/>
          <p:nvPr/>
        </p:nvSpPr>
        <p:spPr>
          <a:xfrm>
            <a:off x="6598768" y="31089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2"/>
          <p:cNvSpPr/>
          <p:nvPr/>
        </p:nvSpPr>
        <p:spPr>
          <a:xfrm>
            <a:off x="6598768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7622896" y="3108960"/>
            <a:ext cx="383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 + 16 模型 + 三端 Agent（S-Agent/Sowork/S-Design）</a:t>
            </a:r>
            <a:endParaRPr lang="en-US" sz="960" dirty="0"/>
          </a:p>
        </p:txBody>
      </p:sp>
      <p:sp>
        <p:nvSpPr>
          <p:cNvPr id="39" name="Shape 34"/>
          <p:cNvSpPr/>
          <p:nvPr/>
        </p:nvSpPr>
        <p:spPr>
          <a:xfrm>
            <a:off x="6598768" y="34930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5"/>
          <p:cNvSpPr/>
          <p:nvPr/>
        </p:nvSpPr>
        <p:spPr>
          <a:xfrm>
            <a:off x="6598768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7622896" y="3493008"/>
            <a:ext cx="383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学院 6 大模块 · 5 天速成 · 认证上岗</a:t>
            </a:r>
            <a:endParaRPr lang="en-US" sz="960" dirty="0"/>
          </a:p>
        </p:txBody>
      </p:sp>
      <p:sp>
        <p:nvSpPr>
          <p:cNvPr id="42" name="Shape 37"/>
          <p:cNvSpPr/>
          <p:nvPr/>
        </p:nvSpPr>
        <p:spPr>
          <a:xfrm>
            <a:off x="6598768" y="387705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8"/>
          <p:cNvSpPr/>
          <p:nvPr/>
        </p:nvSpPr>
        <p:spPr>
          <a:xfrm>
            <a:off x="6598768" y="3877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7622896" y="3877056"/>
            <a:ext cx="383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共建陪跑 —— 有 FDE 续费 ≥ 85%</a:t>
            </a:r>
            <a:endParaRPr lang="en-US" sz="960" dirty="0"/>
          </a:p>
        </p:txBody>
      </p:sp>
      <p:sp>
        <p:nvSpPr>
          <p:cNvPr id="45" name="Shape 40"/>
          <p:cNvSpPr/>
          <p:nvPr/>
        </p:nvSpPr>
        <p:spPr>
          <a:xfrm>
            <a:off x="6598768" y="426110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1"/>
          <p:cNvSpPr/>
          <p:nvPr/>
        </p:nvSpPr>
        <p:spPr>
          <a:xfrm>
            <a:off x="6598768" y="4261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 / 收益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7622896" y="4261104"/>
            <a:ext cx="383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联合活动·标杆·物料·商机 + 转售毛利 30–40% + 续费返佣</a:t>
            </a:r>
            <a:endParaRPr lang="en-US" sz="960" dirty="0"/>
          </a:p>
        </p:txBody>
      </p:sp>
      <p:sp>
        <p:nvSpPr>
          <p:cNvPr id="48" name="Text 43"/>
          <p:cNvSpPr/>
          <p:nvPr/>
        </p:nvSpPr>
        <p:spPr>
          <a:xfrm>
            <a:off x="548640" y="47914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如何合作 · 五步上车</a:t>
            </a:r>
            <a:endParaRPr lang="en-US" sz="1300" dirty="0"/>
          </a:p>
        </p:txBody>
      </p:sp>
      <p:sp>
        <p:nvSpPr>
          <p:cNvPr id="49" name="Shape 44"/>
          <p:cNvSpPr/>
          <p:nvPr/>
        </p:nvSpPr>
        <p:spPr>
          <a:xfrm>
            <a:off x="548640" y="5175504"/>
            <a:ext cx="1926275" cy="859536"/>
          </a:xfrm>
          <a:prstGeom prst="roundRect">
            <a:avLst>
              <a:gd name="adj" fmla="val 8511"/>
            </a:avLst>
          </a:prstGeom>
          <a:solidFill>
            <a:srgbClr val="F0F5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5"/>
          <p:cNvSpPr/>
          <p:nvPr/>
        </p:nvSpPr>
        <p:spPr>
          <a:xfrm>
            <a:off x="713232" y="5358384"/>
            <a:ext cx="402336" cy="402336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6"/>
          <p:cNvSpPr/>
          <p:nvPr/>
        </p:nvSpPr>
        <p:spPr>
          <a:xfrm>
            <a:off x="713232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52" name="Text 47"/>
          <p:cNvSpPr/>
          <p:nvPr/>
        </p:nvSpPr>
        <p:spPr>
          <a:xfrm>
            <a:off x="1207008" y="5321808"/>
            <a:ext cx="11947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申请留资</a:t>
            </a:r>
            <a:endParaRPr lang="en-US" sz="1150" dirty="0"/>
          </a:p>
        </p:txBody>
      </p:sp>
      <p:sp>
        <p:nvSpPr>
          <p:cNvPr id="53" name="Text 48"/>
          <p:cNvSpPr/>
          <p:nvPr/>
        </p:nvSpPr>
        <p:spPr>
          <a:xfrm>
            <a:off x="1207008" y="5632704"/>
            <a:ext cx="12861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 err="1"/>
              <a:t>Sensetime.com</a:t>
            </a:r>
            <a:r>
              <a:rPr lang="en-US" sz="880" dirty="0"/>
              <a:t>/</a:t>
            </a:r>
            <a:r>
              <a:rPr lang="en-US" sz="880" dirty="0" err="1"/>
              <a:t>cn</a:t>
            </a:r>
            <a:r>
              <a:rPr lang="en-US" sz="880" dirty="0"/>
              <a:t>/partner</a:t>
            </a:r>
          </a:p>
        </p:txBody>
      </p:sp>
      <p:sp>
        <p:nvSpPr>
          <p:cNvPr id="54" name="Text 49"/>
          <p:cNvSpPr/>
          <p:nvPr/>
        </p:nvSpPr>
        <p:spPr>
          <a:xfrm>
            <a:off x="2493203" y="537667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55" name="Shape 50"/>
          <p:cNvSpPr/>
          <p:nvPr/>
        </p:nvSpPr>
        <p:spPr>
          <a:xfrm>
            <a:off x="2840675" y="5175504"/>
            <a:ext cx="1926275" cy="859536"/>
          </a:xfrm>
          <a:prstGeom prst="roundRect">
            <a:avLst>
              <a:gd name="adj" fmla="val 8511"/>
            </a:avLst>
          </a:prstGeom>
          <a:solidFill>
            <a:srgbClr val="F0F5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1"/>
          <p:cNvSpPr/>
          <p:nvPr/>
        </p:nvSpPr>
        <p:spPr>
          <a:xfrm>
            <a:off x="3005267" y="5358384"/>
            <a:ext cx="402336" cy="402336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2"/>
          <p:cNvSpPr/>
          <p:nvPr/>
        </p:nvSpPr>
        <p:spPr>
          <a:xfrm>
            <a:off x="3005267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Text 53"/>
          <p:cNvSpPr/>
          <p:nvPr/>
        </p:nvSpPr>
        <p:spPr>
          <a:xfrm>
            <a:off x="3499043" y="5321808"/>
            <a:ext cx="11947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 onboard</a:t>
            </a:r>
            <a:endParaRPr lang="en-US" sz="1150" dirty="0"/>
          </a:p>
        </p:txBody>
      </p:sp>
      <p:sp>
        <p:nvSpPr>
          <p:cNvPr id="59" name="Text 54"/>
          <p:cNvSpPr/>
          <p:nvPr/>
        </p:nvSpPr>
        <p:spPr>
          <a:xfrm>
            <a:off x="3499043" y="5632704"/>
            <a:ext cx="12130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天启动</a:t>
            </a:r>
            <a:endParaRPr lang="en-US" sz="880" dirty="0"/>
          </a:p>
        </p:txBody>
      </p:sp>
      <p:sp>
        <p:nvSpPr>
          <p:cNvPr id="60" name="Text 55"/>
          <p:cNvSpPr/>
          <p:nvPr/>
        </p:nvSpPr>
        <p:spPr>
          <a:xfrm>
            <a:off x="4785238" y="537667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61" name="Shape 56"/>
          <p:cNvSpPr/>
          <p:nvPr/>
        </p:nvSpPr>
        <p:spPr>
          <a:xfrm>
            <a:off x="5132710" y="5175504"/>
            <a:ext cx="1926275" cy="859536"/>
          </a:xfrm>
          <a:prstGeom prst="roundRect">
            <a:avLst>
              <a:gd name="adj" fmla="val 8511"/>
            </a:avLst>
          </a:prstGeom>
          <a:solidFill>
            <a:srgbClr val="F0F5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57"/>
          <p:cNvSpPr/>
          <p:nvPr/>
        </p:nvSpPr>
        <p:spPr>
          <a:xfrm>
            <a:off x="5297302" y="5358384"/>
            <a:ext cx="402336" cy="402336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58"/>
          <p:cNvSpPr/>
          <p:nvPr/>
        </p:nvSpPr>
        <p:spPr>
          <a:xfrm>
            <a:off x="5297302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64" name="Text 59"/>
          <p:cNvSpPr/>
          <p:nvPr/>
        </p:nvSpPr>
        <p:spPr>
          <a:xfrm>
            <a:off x="5791078" y="5321808"/>
            <a:ext cx="11947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培训认证</a:t>
            </a:r>
            <a:endParaRPr lang="en-US" sz="1150" dirty="0"/>
          </a:p>
        </p:txBody>
      </p:sp>
      <p:sp>
        <p:nvSpPr>
          <p:cNvPr id="65" name="Text 60"/>
          <p:cNvSpPr/>
          <p:nvPr/>
        </p:nvSpPr>
        <p:spPr>
          <a:xfrm>
            <a:off x="5791078" y="5632704"/>
            <a:ext cx="12130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学院带教上岗</a:t>
            </a:r>
            <a:endParaRPr lang="en-US" sz="880" dirty="0"/>
          </a:p>
        </p:txBody>
      </p:sp>
      <p:sp>
        <p:nvSpPr>
          <p:cNvPr id="66" name="Text 61"/>
          <p:cNvSpPr/>
          <p:nvPr/>
        </p:nvSpPr>
        <p:spPr>
          <a:xfrm>
            <a:off x="7077273" y="537667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67" name="Shape 62"/>
          <p:cNvSpPr/>
          <p:nvPr/>
        </p:nvSpPr>
        <p:spPr>
          <a:xfrm>
            <a:off x="7424745" y="5175504"/>
            <a:ext cx="1926275" cy="859536"/>
          </a:xfrm>
          <a:prstGeom prst="roundRect">
            <a:avLst>
              <a:gd name="adj" fmla="val 8511"/>
            </a:avLst>
          </a:prstGeom>
          <a:solidFill>
            <a:srgbClr val="F0F5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3"/>
          <p:cNvSpPr/>
          <p:nvPr/>
        </p:nvSpPr>
        <p:spPr>
          <a:xfrm>
            <a:off x="7589337" y="5358384"/>
            <a:ext cx="402336" cy="402336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4"/>
          <p:cNvSpPr/>
          <p:nvPr/>
        </p:nvSpPr>
        <p:spPr>
          <a:xfrm>
            <a:off x="7589337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70" name="Text 65"/>
          <p:cNvSpPr/>
          <p:nvPr/>
        </p:nvSpPr>
        <p:spPr>
          <a:xfrm>
            <a:off x="8083113" y="5321808"/>
            <a:ext cx="11947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选场景跑通</a:t>
            </a:r>
            <a:endParaRPr lang="en-US" sz="1150" dirty="0"/>
          </a:p>
        </p:txBody>
      </p:sp>
      <p:sp>
        <p:nvSpPr>
          <p:cNvPr id="71" name="Text 66"/>
          <p:cNvSpPr/>
          <p:nvPr/>
        </p:nvSpPr>
        <p:spPr>
          <a:xfrm>
            <a:off x="8083113" y="5632704"/>
            <a:ext cx="12130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试点见效</a:t>
            </a:r>
            <a:endParaRPr lang="en-US" sz="880" dirty="0"/>
          </a:p>
        </p:txBody>
      </p:sp>
      <p:sp>
        <p:nvSpPr>
          <p:cNvPr id="72" name="Text 67"/>
          <p:cNvSpPr/>
          <p:nvPr/>
        </p:nvSpPr>
        <p:spPr>
          <a:xfrm>
            <a:off x="9369308" y="537667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73" name="Shape 68"/>
          <p:cNvSpPr/>
          <p:nvPr/>
        </p:nvSpPr>
        <p:spPr>
          <a:xfrm>
            <a:off x="9716780" y="5175504"/>
            <a:ext cx="1926275" cy="859536"/>
          </a:xfrm>
          <a:prstGeom prst="roundRect">
            <a:avLst>
              <a:gd name="adj" fmla="val 8511"/>
            </a:avLst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69"/>
          <p:cNvSpPr/>
          <p:nvPr/>
        </p:nvSpPr>
        <p:spPr>
          <a:xfrm>
            <a:off x="9881372" y="5358384"/>
            <a:ext cx="402336" cy="402336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0"/>
          <p:cNvSpPr/>
          <p:nvPr/>
        </p:nvSpPr>
        <p:spPr>
          <a:xfrm>
            <a:off x="9881372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76" name="Text 71"/>
          <p:cNvSpPr/>
          <p:nvPr/>
        </p:nvSpPr>
        <p:spPr>
          <a:xfrm>
            <a:off x="10375148" y="5321808"/>
            <a:ext cx="11947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规模化分润</a:t>
            </a:r>
            <a:endParaRPr lang="en-US" sz="1150" dirty="0"/>
          </a:p>
        </p:txBody>
      </p:sp>
      <p:sp>
        <p:nvSpPr>
          <p:cNvPr id="77" name="Text 72"/>
          <p:cNvSpPr/>
          <p:nvPr/>
        </p:nvSpPr>
        <p:spPr>
          <a:xfrm>
            <a:off x="10375148" y="5632704"/>
            <a:ext cx="12130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 + 续费扩容</a:t>
            </a:r>
            <a:endParaRPr lang="en-US" sz="8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分工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怎么合作：商汤供货 · 经销商卖货 · 奥尼出硬件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强强联合 —— 各出所长，把 AI Token 卖进千行百业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345429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828800"/>
            <a:ext cx="3454298" cy="9144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859536" y="2139696"/>
            <a:ext cx="731520" cy="73152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731" y="2329891"/>
            <a:ext cx="351130" cy="3511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37360" y="2194560"/>
            <a:ext cx="20826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737360" y="2633472"/>
            <a:ext cx="2082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+ 模型 + 服务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859536" y="3127248"/>
            <a:ext cx="2832506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4"/>
          <p:cNvSpPr/>
          <p:nvPr/>
        </p:nvSpPr>
        <p:spPr>
          <a:xfrm>
            <a:off x="859536" y="327355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 + 16 模型矩阵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59536" y="373075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S-Agent / Sowork / S-Design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59536" y="418795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学院 + 1:5 杠杆带教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68698" y="1828800"/>
            <a:ext cx="345429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8"/>
          <p:cNvSpPr/>
          <p:nvPr/>
        </p:nvSpPr>
        <p:spPr>
          <a:xfrm>
            <a:off x="4368698" y="1828800"/>
            <a:ext cx="3454298" cy="91440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19"/>
          <p:cNvSpPr/>
          <p:nvPr/>
        </p:nvSpPr>
        <p:spPr>
          <a:xfrm>
            <a:off x="4679594" y="2139696"/>
            <a:ext cx="731520" cy="73152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790" y="2329891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57418" y="2194560"/>
            <a:ext cx="20826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深信服经销商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5557418" y="2633472"/>
            <a:ext cx="2082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 + 信任 + 客户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679594" y="3127248"/>
            <a:ext cx="2832506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3"/>
          <p:cNvSpPr/>
          <p:nvPr/>
        </p:nvSpPr>
        <p:spPr>
          <a:xfrm>
            <a:off x="4679594" y="327355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手握客户与信任、安全可信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679594" y="373075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千行百业的渠道与触点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679594" y="418795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顺势加卖 AI Token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8188757" y="1828800"/>
            <a:ext cx="345429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7"/>
          <p:cNvSpPr/>
          <p:nvPr/>
        </p:nvSpPr>
        <p:spPr>
          <a:xfrm>
            <a:off x="8188757" y="1828800"/>
            <a:ext cx="3454298" cy="91440"/>
          </a:xfrm>
          <a:prstGeom prst="rect">
            <a:avLst/>
          </a:prstGeom>
          <a:solidFill>
            <a:srgbClr val="2BA6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8"/>
          <p:cNvSpPr/>
          <p:nvPr/>
        </p:nvSpPr>
        <p:spPr>
          <a:xfrm>
            <a:off x="8499653" y="2139696"/>
            <a:ext cx="731520" cy="73152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9848" y="2329891"/>
            <a:ext cx="351130" cy="35113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377477" y="2194560"/>
            <a:ext cx="20826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奥尼</a:t>
            </a:r>
            <a:endParaRPr lang="en-US" sz="2200" dirty="0"/>
          </a:p>
        </p:txBody>
      </p:sp>
      <p:sp>
        <p:nvSpPr>
          <p:cNvPr id="38" name="Text 30"/>
          <p:cNvSpPr/>
          <p:nvPr/>
        </p:nvSpPr>
        <p:spPr>
          <a:xfrm>
            <a:off x="9377477" y="2633472"/>
            <a:ext cx="2082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 + 设备 + 出海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8499653" y="3127248"/>
            <a:ext cx="2832506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2"/>
          <p:cNvSpPr/>
          <p:nvPr/>
        </p:nvSpPr>
        <p:spPr>
          <a:xfrm>
            <a:off x="8499653" y="327355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PC / 工作站 / 服务器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8499653" y="373075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出厂预装、激活即用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8499653" y="418795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 + 海外双线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548640" y="493776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6"/>
          <p:cNvSpPr/>
          <p:nvPr/>
        </p:nvSpPr>
        <p:spPr>
          <a:xfrm>
            <a:off x="548640" y="4937760"/>
            <a:ext cx="91440" cy="109728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7"/>
          <p:cNvSpPr/>
          <p:nvPr/>
        </p:nvSpPr>
        <p:spPr>
          <a:xfrm>
            <a:off x="914400" y="50840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三方分润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914400" y="54132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商汤按 Token 量分润 · 经销商拿渠道分成（毛利 30–40%）· 奥尼拿硬件溢价 + 激活分润 —— 各赚各的，长期复利。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经销商打法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深信服经销商：把 Token Plan 卖给你最懂的客户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用你既有的客户、信任与交付能力 —— 顺势加卖 AI Token，水到渠成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73736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9"/>
          <p:cNvSpPr/>
          <p:nvPr/>
        </p:nvSpPr>
        <p:spPr>
          <a:xfrm>
            <a:off x="822960" y="17922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深信服深耕的存量行业客户 = AI Token 的现成入口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839919" y="1883664"/>
            <a:ext cx="120700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B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4876495" y="1883664"/>
            <a:ext cx="1133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 / 政务</a:t>
            </a:r>
            <a:endParaRPr lang="en-US" sz="960" dirty="0"/>
          </a:p>
        </p:txBody>
      </p:sp>
      <p:sp>
        <p:nvSpPr>
          <p:cNvPr id="17" name="Shape 12"/>
          <p:cNvSpPr/>
          <p:nvPr/>
        </p:nvSpPr>
        <p:spPr>
          <a:xfrm>
            <a:off x="6193231" y="1883664"/>
            <a:ext cx="120700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B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3"/>
          <p:cNvSpPr/>
          <p:nvPr/>
        </p:nvSpPr>
        <p:spPr>
          <a:xfrm>
            <a:off x="6229807" y="1883664"/>
            <a:ext cx="1133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</a:t>
            </a:r>
            <a:endParaRPr lang="en-US" sz="960" dirty="0"/>
          </a:p>
        </p:txBody>
      </p:sp>
      <p:sp>
        <p:nvSpPr>
          <p:cNvPr id="19" name="Shape 14"/>
          <p:cNvSpPr/>
          <p:nvPr/>
        </p:nvSpPr>
        <p:spPr>
          <a:xfrm>
            <a:off x="7546543" y="1883664"/>
            <a:ext cx="120700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B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5"/>
          <p:cNvSpPr/>
          <p:nvPr/>
        </p:nvSpPr>
        <p:spPr>
          <a:xfrm>
            <a:off x="7583119" y="1883664"/>
            <a:ext cx="1133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960" dirty="0"/>
          </a:p>
        </p:txBody>
      </p:sp>
      <p:sp>
        <p:nvSpPr>
          <p:cNvPr id="21" name="Shape 16"/>
          <p:cNvSpPr/>
          <p:nvPr/>
        </p:nvSpPr>
        <p:spPr>
          <a:xfrm>
            <a:off x="8899855" y="1883664"/>
            <a:ext cx="120700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B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8936431" y="1883664"/>
            <a:ext cx="1133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医疗卫生</a:t>
            </a:r>
            <a:endParaRPr lang="en-US" sz="960" dirty="0"/>
          </a:p>
        </p:txBody>
      </p:sp>
      <p:sp>
        <p:nvSpPr>
          <p:cNvPr id="23" name="Shape 18"/>
          <p:cNvSpPr/>
          <p:nvPr/>
        </p:nvSpPr>
        <p:spPr>
          <a:xfrm>
            <a:off x="10253167" y="1883664"/>
            <a:ext cx="120700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B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9"/>
          <p:cNvSpPr/>
          <p:nvPr/>
        </p:nvSpPr>
        <p:spPr>
          <a:xfrm>
            <a:off x="10289743" y="1883664"/>
            <a:ext cx="1133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大中型企业 / 制造</a:t>
            </a:r>
            <a:endParaRPr lang="en-US" sz="960" dirty="0"/>
          </a:p>
        </p:txBody>
      </p:sp>
      <p:sp>
        <p:nvSpPr>
          <p:cNvPr id="25" name="Shape 20"/>
          <p:cNvSpPr/>
          <p:nvPr/>
        </p:nvSpPr>
        <p:spPr>
          <a:xfrm>
            <a:off x="548640" y="2688336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/>
        </p:nvSpPr>
        <p:spPr>
          <a:xfrm>
            <a:off x="731520" y="26883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深信服经销商的自身优势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498848" y="2688336"/>
            <a:ext cx="7144207" cy="402336"/>
          </a:xfrm>
          <a:prstGeom prst="roundRect">
            <a:avLst>
              <a:gd name="adj" fmla="val 13636"/>
            </a:avLst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4681728" y="2688336"/>
            <a:ext cx="68881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结合优势卖 Token Plan 的打法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48640" y="3163824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0F5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676656" y="3227832"/>
            <a:ext cx="329184" cy="32918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60" y="3306836"/>
            <a:ext cx="171176" cy="17117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15568" y="3163824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深耕政企客户、信任在手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498848" y="3163824"/>
            <a:ext cx="7144207" cy="457200"/>
          </a:xfrm>
          <a:prstGeom prst="roundRect">
            <a:avLst>
              <a:gd name="adj" fmla="val 16000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8"/>
          <p:cNvSpPr/>
          <p:nvPr/>
        </p:nvSpPr>
        <p:spPr>
          <a:xfrm>
            <a:off x="4553712" y="316382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846320" y="3163824"/>
            <a:ext cx="66504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顺势加卖：在续约 / 巡检触点带上 AI Token，决策快、获客成本低（PC 预装获客 ¥3–5 vs 投流 $30–50）</a:t>
            </a:r>
            <a:endParaRPr lang="en-US" sz="960" dirty="0"/>
          </a:p>
        </p:txBody>
      </p:sp>
      <p:sp>
        <p:nvSpPr>
          <p:cNvPr id="36" name="Shape 30"/>
          <p:cNvSpPr/>
          <p:nvPr/>
        </p:nvSpPr>
        <p:spPr>
          <a:xfrm>
            <a:off x="548640" y="365760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1"/>
          <p:cNvSpPr/>
          <p:nvPr/>
        </p:nvSpPr>
        <p:spPr>
          <a:xfrm>
            <a:off x="676656" y="3721608"/>
            <a:ext cx="329184" cy="32918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660" y="3800612"/>
            <a:ext cx="171176" cy="17117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115568" y="365760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安全可信品牌、合规是主场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4498848" y="3657600"/>
            <a:ext cx="7144207" cy="457200"/>
          </a:xfrm>
          <a:prstGeom prst="roundRect">
            <a:avLst>
              <a:gd name="adj" fmla="val 16000"/>
            </a:avLst>
          </a:prstGeom>
          <a:solidFill>
            <a:srgbClr val="EAF1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4"/>
          <p:cNvSpPr/>
          <p:nvPr/>
        </p:nvSpPr>
        <p:spPr>
          <a:xfrm>
            <a:off x="4553712" y="3657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4846320" y="3657600"/>
            <a:ext cx="66504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主打商汤私有化 + 数据不出境 + 等保三级 —— 卖给最在意合规的央国企 / 金融 / 政务</a:t>
            </a:r>
            <a:endParaRPr lang="en-US" sz="960" dirty="0"/>
          </a:p>
        </p:txBody>
      </p:sp>
      <p:sp>
        <p:nvSpPr>
          <p:cNvPr id="43" name="Shape 36"/>
          <p:cNvSpPr/>
          <p:nvPr/>
        </p:nvSpPr>
        <p:spPr>
          <a:xfrm>
            <a:off x="548640" y="4151376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0F5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7"/>
          <p:cNvSpPr/>
          <p:nvPr/>
        </p:nvSpPr>
        <p:spPr>
          <a:xfrm>
            <a:off x="676656" y="4215384"/>
            <a:ext cx="329184" cy="32918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660" y="4294388"/>
            <a:ext cx="171176" cy="17117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115568" y="4151376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 / 本地化交付能力强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4498848" y="4151376"/>
            <a:ext cx="7144207" cy="457200"/>
          </a:xfrm>
          <a:prstGeom prst="roundRect">
            <a:avLst>
              <a:gd name="adj" fmla="val 16000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0"/>
          <p:cNvSpPr/>
          <p:nvPr/>
        </p:nvSpPr>
        <p:spPr>
          <a:xfrm>
            <a:off x="4553712" y="415137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4846320" y="4151376"/>
            <a:ext cx="66504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承接私有化 Token Plan 部署，叠加 FDE 共建，把场景做深做透</a:t>
            </a:r>
            <a:endParaRPr lang="en-US" sz="960" dirty="0"/>
          </a:p>
        </p:txBody>
      </p:sp>
      <p:sp>
        <p:nvSpPr>
          <p:cNvPr id="50" name="Shape 42"/>
          <p:cNvSpPr/>
          <p:nvPr/>
        </p:nvSpPr>
        <p:spPr>
          <a:xfrm>
            <a:off x="548640" y="4645152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3"/>
          <p:cNvSpPr/>
          <p:nvPr/>
        </p:nvSpPr>
        <p:spPr>
          <a:xfrm>
            <a:off x="676656" y="4709160"/>
            <a:ext cx="329184" cy="32918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660" y="4788164"/>
            <a:ext cx="171176" cy="171176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1115568" y="464515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IT 基础设施触点（VDI / 超融合 / 安全）</a:t>
            </a:r>
            <a:endParaRPr lang="en-US" sz="1000" dirty="0"/>
          </a:p>
        </p:txBody>
      </p:sp>
      <p:sp>
        <p:nvSpPr>
          <p:cNvPr id="54" name="Shape 45"/>
          <p:cNvSpPr/>
          <p:nvPr/>
        </p:nvSpPr>
        <p:spPr>
          <a:xfrm>
            <a:off x="4498848" y="4645152"/>
            <a:ext cx="7144207" cy="457200"/>
          </a:xfrm>
          <a:prstGeom prst="roundRect">
            <a:avLst>
              <a:gd name="adj" fmla="val 16000"/>
            </a:avLst>
          </a:prstGeom>
          <a:solidFill>
            <a:srgbClr val="EAF1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46"/>
          <p:cNvSpPr/>
          <p:nvPr/>
        </p:nvSpPr>
        <p:spPr>
          <a:xfrm>
            <a:off x="4553712" y="46451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56" name="Text 47"/>
          <p:cNvSpPr/>
          <p:nvPr/>
        </p:nvSpPr>
        <p:spPr>
          <a:xfrm>
            <a:off x="4846320" y="4645152"/>
            <a:ext cx="66504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用桌面云 / VDI 规模化预装 Sowork：一个桌面 = 一个 Token 用户</a:t>
            </a:r>
            <a:endParaRPr lang="en-US" sz="960" dirty="0"/>
          </a:p>
        </p:txBody>
      </p:sp>
      <p:sp>
        <p:nvSpPr>
          <p:cNvPr id="57" name="Shape 48"/>
          <p:cNvSpPr/>
          <p:nvPr/>
        </p:nvSpPr>
        <p:spPr>
          <a:xfrm>
            <a:off x="548640" y="5138928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0F5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49"/>
          <p:cNvSpPr/>
          <p:nvPr/>
        </p:nvSpPr>
        <p:spPr>
          <a:xfrm>
            <a:off x="676656" y="5202936"/>
            <a:ext cx="329184" cy="32918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660" y="5281940"/>
            <a:ext cx="171176" cy="171176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1115568" y="5138928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持续运维服务关系、续费触点</a:t>
            </a:r>
            <a:endParaRPr lang="en-US" sz="1000" dirty="0"/>
          </a:p>
        </p:txBody>
      </p:sp>
      <p:sp>
        <p:nvSpPr>
          <p:cNvPr id="61" name="Shape 51"/>
          <p:cNvSpPr/>
          <p:nvPr/>
        </p:nvSpPr>
        <p:spPr>
          <a:xfrm>
            <a:off x="4498848" y="5138928"/>
            <a:ext cx="7144207" cy="457200"/>
          </a:xfrm>
          <a:prstGeom prst="roundRect">
            <a:avLst>
              <a:gd name="adj" fmla="val 16000"/>
            </a:avLst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52"/>
          <p:cNvSpPr/>
          <p:nvPr/>
        </p:nvSpPr>
        <p:spPr>
          <a:xfrm>
            <a:off x="4553712" y="51389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63" name="Text 53"/>
          <p:cNvSpPr/>
          <p:nvPr/>
        </p:nvSpPr>
        <p:spPr>
          <a:xfrm>
            <a:off x="4846320" y="5138928"/>
            <a:ext cx="66504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把运维续约变成 Token 续费 + FDE 陪跑，续费 ≥ 85%，长期复利</a:t>
            </a:r>
            <a:endParaRPr lang="en-US" sz="960" dirty="0"/>
          </a:p>
        </p:txBody>
      </p:sp>
      <p:sp>
        <p:nvSpPr>
          <p:cNvPr id="64" name="Shape 54"/>
          <p:cNvSpPr/>
          <p:nvPr/>
        </p:nvSpPr>
        <p:spPr>
          <a:xfrm>
            <a:off x="548640" y="5650992"/>
            <a:ext cx="11094415" cy="694944"/>
          </a:xfrm>
          <a:prstGeom prst="roundRect">
            <a:avLst>
              <a:gd name="adj" fmla="val 10526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55"/>
          <p:cNvSpPr/>
          <p:nvPr/>
        </p:nvSpPr>
        <p:spPr>
          <a:xfrm>
            <a:off x="548640" y="5650992"/>
            <a:ext cx="91440" cy="694944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56"/>
          <p:cNvSpPr/>
          <p:nvPr/>
        </p:nvSpPr>
        <p:spPr>
          <a:xfrm>
            <a:off x="914400" y="5650992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  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把客户已有的「安全 + 云」底座，升级成「AI Token」的入口 —— 你最懂的客户，最容易成交、最容易续费。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跟卖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 Sowork + Token Plan，就像卖「办公 Agent」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市场已经验证：WorkBuddy 这类办公 Agent 客户买单 —— 而 Sowork 更开放、模型更强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783080"/>
            <a:ext cx="5318608" cy="2651760"/>
          </a:xfrm>
          <a:prstGeom prst="roundRect">
            <a:avLst>
              <a:gd name="adj" fmla="val 2759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9"/>
          <p:cNvSpPr/>
          <p:nvPr/>
        </p:nvSpPr>
        <p:spPr>
          <a:xfrm>
            <a:off x="859536" y="2002536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市场已验证的需求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59536" y="2441448"/>
            <a:ext cx="471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WorkBuddy（腾讯办公 Agent）：研报 / 表格 / PPT 一句话生成 —— 已是企业高频买单的产品形态。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859536" y="315468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0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办公场景刚需、付费意愿强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59536" y="353872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0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一句话出活，非技术人群也能用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59536" y="3922776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10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天然高频、天然高 Token 消耗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24448" y="1783080"/>
            <a:ext cx="5318608" cy="2651760"/>
          </a:xfrm>
          <a:prstGeom prst="roundRect">
            <a:avLst>
              <a:gd name="adj" fmla="val 2759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6324448" y="1783080"/>
            <a:ext cx="82296" cy="265176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6635344" y="2002536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Sowork 的不同 —— 更值得卖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635344" y="2459736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3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「替你把事做完」，不只是聊天工具</a:t>
            </a:r>
            <a:endParaRPr lang="en-US" sz="1130" dirty="0"/>
          </a:p>
        </p:txBody>
      </p:sp>
      <p:sp>
        <p:nvSpPr>
          <p:cNvPr id="23" name="Text 18"/>
          <p:cNvSpPr/>
          <p:nvPr/>
        </p:nvSpPr>
        <p:spPr>
          <a:xfrm>
            <a:off x="6635344" y="28986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3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200+ 专业 Agent + Skills 市场</a:t>
            </a:r>
            <a:endParaRPr lang="en-US" sz="1130" dirty="0"/>
          </a:p>
        </p:txBody>
      </p:sp>
      <p:sp>
        <p:nvSpPr>
          <p:cNvPr id="24" name="Text 19"/>
          <p:cNvSpPr/>
          <p:nvPr/>
        </p:nvSpPr>
        <p:spPr>
          <a:xfrm>
            <a:off x="6635344" y="333756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3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订阅即送、原生兼容 Cursor / Claude Code</a:t>
            </a:r>
            <a:endParaRPr lang="en-US" sz="1130" dirty="0"/>
          </a:p>
        </p:txBody>
      </p:sp>
      <p:sp>
        <p:nvSpPr>
          <p:cNvPr id="25" name="Text 20"/>
          <p:cNvSpPr/>
          <p:nvPr/>
        </p:nvSpPr>
        <p:spPr>
          <a:xfrm>
            <a:off x="6635344" y="377647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3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 BASE_URL + API_KEY 即用 · 16 模型可切</a:t>
            </a:r>
            <a:endParaRPr lang="en-US" sz="1130" dirty="0"/>
          </a:p>
        </p:txBody>
      </p:sp>
      <p:sp>
        <p:nvSpPr>
          <p:cNvPr id="26" name="Shape 21"/>
          <p:cNvSpPr/>
          <p:nvPr/>
        </p:nvSpPr>
        <p:spPr>
          <a:xfrm>
            <a:off x="548640" y="4736592"/>
            <a:ext cx="11094415" cy="1298448"/>
          </a:xfrm>
          <a:prstGeom prst="roundRect">
            <a:avLst>
              <a:gd name="adj" fmla="val 5634"/>
            </a:avLst>
          </a:prstGeom>
          <a:solidFill>
            <a:srgbClr val="EAF2F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2"/>
          <p:cNvSpPr/>
          <p:nvPr/>
        </p:nvSpPr>
        <p:spPr>
          <a:xfrm>
            <a:off x="548640" y="4736592"/>
            <a:ext cx="82296" cy="1298448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877824" y="488289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Sowork = Token 消耗发动机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877824" y="521208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卖出一个 Sowork，就装上一台「Token 印钞机」—— 员工每天用、消耗每天涨、订阅每月续。这就是为什么卖 Token Plan 是越做越大的生意。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产品对比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Sowork · S-Agent · S-Design + Token Plan  vs  WorkBuddy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桌面办公能力对位，模型与设计差异化领先 —— 商汤更有优势，S-Design + S2 多模态是王牌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2468880" y="1682496"/>
            <a:ext cx="5074920" cy="3986784"/>
          </a:xfrm>
          <a:prstGeom prst="rect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682496"/>
            <a:ext cx="11094415" cy="420624"/>
          </a:xfrm>
          <a:prstGeom prst="roundRect">
            <a:avLst>
              <a:gd name="adj" fmla="val 13043"/>
            </a:avLst>
          </a:prstGeom>
          <a:solidFill>
            <a:srgbClr val="0E2A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>
            <a:off x="694944" y="168249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对比维度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2615184" y="1682496"/>
            <a:ext cx="4855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商汤（Sowork · S-Agent · S-Design + Token Plan）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7690104" y="1682496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 WorkBuddy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2157984"/>
            <a:ext cx="11094415" cy="0"/>
          </a:xfrm>
          <a:prstGeom prst="line">
            <a:avLst/>
          </a:prstGeom>
          <a:noFill/>
          <a:ln w="9525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694944" y="21579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产品矩阵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615184" y="215798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Sowork + 浏览器 S-Agent + 云端 S-Design · 三端齐发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690104" y="21579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WorkBuddy + 云端 Agents（办公为主）</a:t>
            </a:r>
            <a:endParaRPr lang="en-US" sz="960" dirty="0"/>
          </a:p>
        </p:txBody>
      </p:sp>
      <p:sp>
        <p:nvSpPr>
          <p:cNvPr id="22" name="Shape 17"/>
          <p:cNvSpPr/>
          <p:nvPr/>
        </p:nvSpPr>
        <p:spPr>
          <a:xfrm>
            <a:off x="548640" y="2743200"/>
            <a:ext cx="11094415" cy="0"/>
          </a:xfrm>
          <a:prstGeom prst="line">
            <a:avLst/>
          </a:prstGeom>
          <a:noFill/>
          <a:ln w="9525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694944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</a:t>
            </a: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底层模型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615184" y="27432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自研旗舰闭源 + 全模态(文/图/音/视/乐) + 16 款聚合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7690104" y="274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GLM / Kimi / MiniMax（无自研旗舰）</a:t>
            </a:r>
            <a:endParaRPr lang="en-US" sz="960" dirty="0"/>
          </a:p>
        </p:txBody>
      </p:sp>
      <p:sp>
        <p:nvSpPr>
          <p:cNvPr id="26" name="Shape 21"/>
          <p:cNvSpPr/>
          <p:nvPr/>
        </p:nvSpPr>
        <p:spPr>
          <a:xfrm>
            <a:off x="548640" y="3328416"/>
            <a:ext cx="11094415" cy="0"/>
          </a:xfrm>
          <a:prstGeom prst="line">
            <a:avLst/>
          </a:prstGeom>
          <a:noFill/>
          <a:ln w="9525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2"/>
          <p:cNvSpPr/>
          <p:nvPr/>
        </p:nvSpPr>
        <p:spPr>
          <a:xfrm>
            <a:off x="694944" y="33284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</a:t>
            </a: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/ 多模态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2615184" y="332841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S-Design 流程级设计编排 + S2 多模态 = Claude Design 国内平替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7690104" y="33284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无设计 / 多模态生成产品（办公文档为主）</a:t>
            </a:r>
            <a:endParaRPr lang="en-US" sz="960" dirty="0"/>
          </a:p>
        </p:txBody>
      </p:sp>
      <p:sp>
        <p:nvSpPr>
          <p:cNvPr id="30" name="Shape 25"/>
          <p:cNvSpPr/>
          <p:nvPr/>
        </p:nvSpPr>
        <p:spPr>
          <a:xfrm>
            <a:off x="548640" y="3913632"/>
            <a:ext cx="11094415" cy="0"/>
          </a:xfrm>
          <a:prstGeom prst="line">
            <a:avLst/>
          </a:prstGeom>
          <a:noFill/>
          <a:ln w="9525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6"/>
          <p:cNvSpPr/>
          <p:nvPr/>
        </p:nvSpPr>
        <p:spPr>
          <a:xfrm>
            <a:off x="694944" y="39136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桌面助理能力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2615184" y="39136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/ skill / MCP / 多 Agent / 定时 / 远程 · 200+ Agent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690104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同级能力 · 20+ Skills（能力对位）</a:t>
            </a:r>
            <a:endParaRPr lang="en-US" sz="960" dirty="0"/>
          </a:p>
        </p:txBody>
      </p:sp>
      <p:sp>
        <p:nvSpPr>
          <p:cNvPr id="34" name="Shape 29"/>
          <p:cNvSpPr/>
          <p:nvPr/>
        </p:nvSpPr>
        <p:spPr>
          <a:xfrm>
            <a:off x="548640" y="4498848"/>
            <a:ext cx="11094415" cy="0"/>
          </a:xfrm>
          <a:prstGeom prst="line">
            <a:avLst/>
          </a:prstGeom>
          <a:noFill/>
          <a:ln w="9525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0"/>
          <p:cNvSpPr/>
          <p:nvPr/>
        </p:nvSpPr>
        <p:spPr>
          <a:xfrm>
            <a:off x="694944" y="44988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开放性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2615184" y="44988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模型按场景选最强 · 兼容 Cursor / Claude Code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7690104" y="44988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内置主流模型 · 绑腾讯生态（企微/QQ/钉钉/飞书）</a:t>
            </a:r>
            <a:endParaRPr lang="en-US" sz="960" dirty="0"/>
          </a:p>
        </p:txBody>
      </p:sp>
      <p:sp>
        <p:nvSpPr>
          <p:cNvPr id="38" name="Shape 33"/>
          <p:cNvSpPr/>
          <p:nvPr/>
        </p:nvSpPr>
        <p:spPr>
          <a:xfrm>
            <a:off x="548640" y="5084064"/>
            <a:ext cx="11094415" cy="0"/>
          </a:xfrm>
          <a:prstGeom prst="line">
            <a:avLst/>
          </a:prstGeom>
          <a:noFill/>
          <a:ln w="9525">
            <a:solidFill>
              <a:srgbClr val="DBE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4"/>
          <p:cNvSpPr/>
          <p:nvPr/>
        </p:nvSpPr>
        <p:spPr>
          <a:xfrm>
            <a:off x="694944" y="508406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 / 渠道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2615184" y="508406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 订阅范本 + FDE 陪跑 + 渠道分润 · 可贴牌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7690104" y="508406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腾讯自有产品 · 渠道空间有限</a:t>
            </a:r>
            <a:endParaRPr lang="en-US" sz="960" dirty="0"/>
          </a:p>
        </p:txBody>
      </p:sp>
      <p:sp>
        <p:nvSpPr>
          <p:cNvPr id="42" name="Shape 37"/>
          <p:cNvSpPr/>
          <p:nvPr/>
        </p:nvSpPr>
        <p:spPr>
          <a:xfrm>
            <a:off x="548640" y="5705856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38"/>
          <p:cNvSpPr/>
          <p:nvPr/>
        </p:nvSpPr>
        <p:spPr>
          <a:xfrm>
            <a:off x="548640" y="5705856"/>
            <a:ext cx="91440" cy="64008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9"/>
          <p:cNvSpPr/>
          <p:nvPr/>
        </p:nvSpPr>
        <p:spPr>
          <a:xfrm>
            <a:off x="914400" y="57058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差异化王牌   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S-Design + S2 多模态是商汤独有（Claude Design 国内平替）—— WorkBuddy 没有对应产品，这是你打差异、拿下设计 / 多模态客户的关键。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开放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 vs 封闭 —— 飞书、钉钉悟空把 AI 锁在自家生态里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封闭体系只能在各自生态闭环里用 AI、开放性不足、客户被绑死 —— 大模型每月在变，更该多用各种 agent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783080"/>
            <a:ext cx="531860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6510">
            <a:solidFill>
              <a:srgbClr val="C04A42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783080"/>
            <a:ext cx="5318608" cy="530352"/>
          </a:xfrm>
          <a:prstGeom prst="roundRect">
            <a:avLst>
              <a:gd name="adj" fmla="val 13793"/>
            </a:avLst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548640" y="2112264"/>
            <a:ext cx="5318608" cy="201168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859536" y="1783080"/>
            <a:ext cx="476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封闭派 · 飞书 / 钉钉悟空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59536" y="2459736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</a:t>
            </a:r>
            <a:r>
              <a:rPr lang="en-US" sz="1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生态闭环内用 AI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15568" y="2715768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只能在自家 IM / 办公套件里用，离不开它的壳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859536" y="3008376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</a:t>
            </a:r>
            <a:r>
              <a:rPr lang="en-US" sz="1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 Agent 受限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15568" y="3264408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要走飞书 Aily 等自有平台搭 agent，工具被框死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59536" y="3557016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</a:t>
            </a:r>
            <a:r>
              <a:rPr lang="en-US" sz="1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模型被锁死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15568" y="3813048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最终只能用自家指定模型，换不了更强的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859536" y="4105656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</a:t>
            </a:r>
            <a:r>
              <a:rPr lang="en-US" sz="12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去年的旧范式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115568" y="4361688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「智能体平台 + RAG」只要 workflow —— 今年已落后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324448" y="1783080"/>
            <a:ext cx="5318608" cy="2788920"/>
          </a:xfrm>
          <a:prstGeom prst="roundRect">
            <a:avLst>
              <a:gd name="adj" fmla="val 2623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1"/>
          <p:cNvSpPr/>
          <p:nvPr/>
        </p:nvSpPr>
        <p:spPr>
          <a:xfrm>
            <a:off x="6324448" y="1783080"/>
            <a:ext cx="5318608" cy="530352"/>
          </a:xfrm>
          <a:prstGeom prst="roundRect">
            <a:avLst>
              <a:gd name="adj" fmla="val 13793"/>
            </a:avLst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2"/>
          <p:cNvSpPr/>
          <p:nvPr/>
        </p:nvSpPr>
        <p:spPr>
          <a:xfrm>
            <a:off x="6324448" y="2112264"/>
            <a:ext cx="5318608" cy="201168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6635344" y="1783080"/>
            <a:ext cx="476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开放派 · 商汤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6635344" y="2459736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入口与 agent 自由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891376" y="2715768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第三方入口 / agent 都能接，且免费用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635344" y="3008376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鼓励多用各种 agent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891376" y="3264408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 agent 随便用，特殊需求可定制业务 agent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635344" y="3557016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模型选最强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891376" y="3813048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大模型每月在变 —— 按场景挑最强那一个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6635344" y="4105656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有大脑 + 手脚的助理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891376" y="4361688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有了 memory + skill + MCP，不只是 workflow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4736592"/>
            <a:ext cx="11094415" cy="1298448"/>
          </a:xfrm>
          <a:prstGeom prst="roundRect">
            <a:avLst>
              <a:gd name="adj" fmla="val 5634"/>
            </a:avLst>
          </a:prstGeom>
          <a:solidFill>
            <a:srgbClr val="EAF2F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3"/>
          <p:cNvSpPr/>
          <p:nvPr/>
        </p:nvSpPr>
        <p:spPr>
          <a:xfrm>
            <a:off x="548640" y="4736592"/>
            <a:ext cx="82296" cy="1298448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4"/>
          <p:cNvSpPr/>
          <p:nvPr/>
        </p:nvSpPr>
        <p:spPr>
          <a:xfrm>
            <a:off x="877824" y="4882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范式之变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877824" y="521208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去年「智能体平台 + RAG · 只要 workflow」 → 今年「AI 助理 · memory + skill + MCP · 大脑 + 手脚」。</a:t>
            </a:r>
            <a:r>
              <a:rPr lang="en-US" sz="12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封闭体系卖的是「入口」，开放卖的是「最强能力」—— 客户要的是后者。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壁垒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5 大不可复制优势 —— 你的差异化卖点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运营商 / 云厂商 / 海外都无法替代 —— 这是商汤的位置，也是深信服经销商的底气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2072579" cy="24688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731520" y="2048256"/>
            <a:ext cx="457200" cy="457200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>
            <a:off x="73152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1853123" y="2048256"/>
            <a:ext cx="512064" cy="51206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1380" y="2186513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" y="2724912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产品矩阵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31520" y="3310128"/>
            <a:ext cx="1706819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4"/>
          <p:cNvSpPr/>
          <p:nvPr/>
        </p:nvSpPr>
        <p:spPr>
          <a:xfrm>
            <a:off x="731520" y="3419856"/>
            <a:ext cx="172510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S-Agent + Sowork + S-Design · 国内唯一对标 Claude Cowork + Design</a:t>
            </a:r>
            <a:endParaRPr lang="en-US" sz="960" dirty="0"/>
          </a:p>
        </p:txBody>
      </p:sp>
      <p:sp>
        <p:nvSpPr>
          <p:cNvPr id="21" name="Shape 15"/>
          <p:cNvSpPr/>
          <p:nvPr/>
        </p:nvSpPr>
        <p:spPr>
          <a:xfrm>
            <a:off x="2804099" y="1828800"/>
            <a:ext cx="2072579" cy="24688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6"/>
          <p:cNvSpPr/>
          <p:nvPr/>
        </p:nvSpPr>
        <p:spPr>
          <a:xfrm>
            <a:off x="2986979" y="2048256"/>
            <a:ext cx="457200" cy="457200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7"/>
          <p:cNvSpPr/>
          <p:nvPr/>
        </p:nvSpPr>
        <p:spPr>
          <a:xfrm>
            <a:off x="2986979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108582" y="2048256"/>
            <a:ext cx="512064" cy="51206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6839" y="2186513"/>
            <a:ext cx="235549" cy="23554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986979" y="2724912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学院体系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2986979" y="3310128"/>
            <a:ext cx="1706819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1"/>
          <p:cNvSpPr/>
          <p:nvPr/>
        </p:nvSpPr>
        <p:spPr>
          <a:xfrm>
            <a:off x="2986979" y="3419856"/>
            <a:ext cx="172510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学院 + 1:5 杠杆带教 · 6 大行业垂直能力</a:t>
            </a:r>
            <a:endParaRPr lang="en-US" sz="960" dirty="0"/>
          </a:p>
        </p:txBody>
      </p:sp>
      <p:sp>
        <p:nvSpPr>
          <p:cNvPr id="29" name="Shape 22"/>
          <p:cNvSpPr/>
          <p:nvPr/>
        </p:nvSpPr>
        <p:spPr>
          <a:xfrm>
            <a:off x="5059558" y="1828800"/>
            <a:ext cx="2072579" cy="24688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3"/>
          <p:cNvSpPr/>
          <p:nvPr/>
        </p:nvSpPr>
        <p:spPr>
          <a:xfrm>
            <a:off x="5242438" y="2048256"/>
            <a:ext cx="457200" cy="457200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4"/>
          <p:cNvSpPr/>
          <p:nvPr/>
        </p:nvSpPr>
        <p:spPr>
          <a:xfrm>
            <a:off x="5242438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6364041" y="2048256"/>
            <a:ext cx="512064" cy="51206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2298" y="2186513"/>
            <a:ext cx="235549" cy="23554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242438" y="2724912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模型矩阵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5242438" y="3310128"/>
            <a:ext cx="1706819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8"/>
          <p:cNvSpPr/>
          <p:nvPr/>
        </p:nvSpPr>
        <p:spPr>
          <a:xfrm>
            <a:off x="5242438" y="3419856"/>
            <a:ext cx="172510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 S2 + 主流聚合 · 统一积分池 · 无隐藏价差</a:t>
            </a:r>
            <a:endParaRPr lang="en-US" sz="960" dirty="0"/>
          </a:p>
        </p:txBody>
      </p:sp>
      <p:sp>
        <p:nvSpPr>
          <p:cNvPr id="37" name="Shape 29"/>
          <p:cNvSpPr/>
          <p:nvPr/>
        </p:nvSpPr>
        <p:spPr>
          <a:xfrm>
            <a:off x="7315017" y="1828800"/>
            <a:ext cx="2072579" cy="24688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0"/>
          <p:cNvSpPr/>
          <p:nvPr/>
        </p:nvSpPr>
        <p:spPr>
          <a:xfrm>
            <a:off x="7497897" y="2048256"/>
            <a:ext cx="457200" cy="457200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1"/>
          <p:cNvSpPr/>
          <p:nvPr/>
        </p:nvSpPr>
        <p:spPr>
          <a:xfrm>
            <a:off x="7497897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Shape 32"/>
          <p:cNvSpPr/>
          <p:nvPr/>
        </p:nvSpPr>
        <p:spPr>
          <a:xfrm>
            <a:off x="8619500" y="2048256"/>
            <a:ext cx="512064" cy="51206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7757" y="2186513"/>
            <a:ext cx="235549" cy="235549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497897" y="2724912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全模态打通</a:t>
            </a:r>
            <a:endParaRPr lang="en-US" sz="1350" dirty="0"/>
          </a:p>
        </p:txBody>
      </p:sp>
      <p:sp>
        <p:nvSpPr>
          <p:cNvPr id="43" name="Shape 34"/>
          <p:cNvSpPr/>
          <p:nvPr/>
        </p:nvSpPr>
        <p:spPr>
          <a:xfrm>
            <a:off x="7497897" y="3310128"/>
            <a:ext cx="1706819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5"/>
          <p:cNvSpPr/>
          <p:nvPr/>
        </p:nvSpPr>
        <p:spPr>
          <a:xfrm>
            <a:off x="7497897" y="3419856"/>
            <a:ext cx="172510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 / 语 / 图 / 视 / 乐 一站集成 · 6 模态共享积分池</a:t>
            </a:r>
            <a:endParaRPr lang="en-US" sz="960" dirty="0"/>
          </a:p>
        </p:txBody>
      </p:sp>
      <p:sp>
        <p:nvSpPr>
          <p:cNvPr id="45" name="Shape 36"/>
          <p:cNvSpPr/>
          <p:nvPr/>
        </p:nvSpPr>
        <p:spPr>
          <a:xfrm>
            <a:off x="9570476" y="1828800"/>
            <a:ext cx="2072579" cy="24688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37"/>
          <p:cNvSpPr/>
          <p:nvPr/>
        </p:nvSpPr>
        <p:spPr>
          <a:xfrm>
            <a:off x="9753356" y="2048256"/>
            <a:ext cx="457200" cy="457200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38"/>
          <p:cNvSpPr/>
          <p:nvPr/>
        </p:nvSpPr>
        <p:spPr>
          <a:xfrm>
            <a:off x="9753356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48" name="Shape 39"/>
          <p:cNvSpPr/>
          <p:nvPr/>
        </p:nvSpPr>
        <p:spPr>
          <a:xfrm>
            <a:off x="10874959" y="2048256"/>
            <a:ext cx="512064" cy="512064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3216" y="2186513"/>
            <a:ext cx="235549" cy="235549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9753356" y="2724912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参数透明</a:t>
            </a:r>
            <a:endParaRPr lang="en-US" sz="1350" dirty="0"/>
          </a:p>
        </p:txBody>
      </p:sp>
      <p:sp>
        <p:nvSpPr>
          <p:cNvPr id="51" name="Shape 41"/>
          <p:cNvSpPr/>
          <p:nvPr/>
        </p:nvSpPr>
        <p:spPr>
          <a:xfrm>
            <a:off x="9753356" y="3310128"/>
            <a:ext cx="1706819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2"/>
          <p:cNvSpPr/>
          <p:nvPr/>
        </p:nvSpPr>
        <p:spPr>
          <a:xfrm>
            <a:off x="9753356" y="3419856"/>
            <a:ext cx="172510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 / 缓存 / SLA / Agent 全清晰 · 生产级可承接</a:t>
            </a:r>
            <a:endParaRPr lang="en-US" sz="960" dirty="0"/>
          </a:p>
        </p:txBody>
      </p:sp>
      <p:sp>
        <p:nvSpPr>
          <p:cNvPr id="53" name="Shape 43"/>
          <p:cNvSpPr/>
          <p:nvPr/>
        </p:nvSpPr>
        <p:spPr>
          <a:xfrm>
            <a:off x="548640" y="44805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44"/>
          <p:cNvSpPr/>
          <p:nvPr/>
        </p:nvSpPr>
        <p:spPr>
          <a:xfrm>
            <a:off x="548640" y="4480560"/>
            <a:ext cx="91440" cy="155448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45"/>
          <p:cNvSpPr/>
          <p:nvPr/>
        </p:nvSpPr>
        <p:spPr>
          <a:xfrm>
            <a:off x="914400" y="46451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续费数据会说话</a:t>
            </a:r>
            <a:endParaRPr lang="en-US" sz="1400" dirty="0"/>
          </a:p>
        </p:txBody>
      </p:sp>
      <p:sp>
        <p:nvSpPr>
          <p:cNvPr id="56" name="Text 46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FDE 续费 &lt; 30%</a:t>
            </a:r>
            <a:r>
              <a:rPr lang="en-US" sz="150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有 FDE 续费 ≥ 85%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—— 阿里 / 火山没有 FDE，商汤 + 深信服经销商共建，这就是不可复制的护城河。</a:t>
            </a:r>
            <a:endParaRPr lang="en-US" sz="1500" dirty="0"/>
          </a:p>
        </p:txBody>
      </p:sp>
      <p:sp>
        <p:nvSpPr>
          <p:cNvPr id="57" name="Text 47"/>
          <p:cNvSpPr/>
          <p:nvPr/>
        </p:nvSpPr>
        <p:spPr>
          <a:xfrm>
            <a:off x="914400" y="554126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FDE，AI 落地最后一公里走不完 —— 不会用 = 不续费。FDE 五步落地、重做流程、不做 Demo。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经济账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转售合作：渠道高毛利 + 续费复利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最浅、最快的合作模式 —— 3–6 个月落地，产品 100% 商汤自有，按 Token 结算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249928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828800"/>
            <a:ext cx="2499284" cy="8229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>
            <a:off x="786384" y="2139696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渠道签约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786384" y="2670048"/>
            <a:ext cx="2042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与商汤签约、拿货合作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084500" y="22860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3413684" y="1828800"/>
            <a:ext cx="249928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4"/>
          <p:cNvSpPr/>
          <p:nvPr/>
        </p:nvSpPr>
        <p:spPr>
          <a:xfrm>
            <a:off x="3413684" y="1828800"/>
            <a:ext cx="2499284" cy="82296"/>
          </a:xfrm>
          <a:prstGeom prst="rect">
            <a:avLst/>
          </a:prstGeom>
          <a:solidFill>
            <a:srgbClr val="2BA6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5"/>
          <p:cNvSpPr/>
          <p:nvPr/>
        </p:nvSpPr>
        <p:spPr>
          <a:xfrm>
            <a:off x="3651428" y="2139696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客户订阅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3651428" y="2670048"/>
            <a:ext cx="2042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卖给客户、形成消耗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949544" y="22860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6278728" y="1828800"/>
            <a:ext cx="249928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9"/>
          <p:cNvSpPr/>
          <p:nvPr/>
        </p:nvSpPr>
        <p:spPr>
          <a:xfrm>
            <a:off x="6278728" y="1828800"/>
            <a:ext cx="2499284" cy="8229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0"/>
          <p:cNvSpPr/>
          <p:nvPr/>
        </p:nvSpPr>
        <p:spPr>
          <a:xfrm>
            <a:off x="6516472" y="2139696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30–40% 毛利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6516472" y="2670048"/>
            <a:ext cx="2042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渠道差价即利润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814587" y="22860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9143771" y="1828800"/>
            <a:ext cx="249928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4"/>
          <p:cNvSpPr/>
          <p:nvPr/>
        </p:nvSpPr>
        <p:spPr>
          <a:xfrm>
            <a:off x="9143771" y="1828800"/>
            <a:ext cx="2499284" cy="82296"/>
          </a:xfrm>
          <a:prstGeom prst="rect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5"/>
          <p:cNvSpPr/>
          <p:nvPr/>
        </p:nvSpPr>
        <p:spPr>
          <a:xfrm>
            <a:off x="9381515" y="2139696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续费复购</a:t>
            </a:r>
            <a:endParaRPr lang="en-US" sz="1900" dirty="0"/>
          </a:p>
        </p:txBody>
      </p:sp>
      <p:sp>
        <p:nvSpPr>
          <p:cNvPr id="31" name="Text 26"/>
          <p:cNvSpPr/>
          <p:nvPr/>
        </p:nvSpPr>
        <p:spPr>
          <a:xfrm>
            <a:off x="9381515" y="2670048"/>
            <a:ext cx="2042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订阅天然续期、长期复利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48640" y="3703320"/>
            <a:ext cx="11094415" cy="1207008"/>
          </a:xfrm>
          <a:prstGeom prst="roundRect">
            <a:avLst>
              <a:gd name="adj" fmla="val 6061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8"/>
          <p:cNvSpPr/>
          <p:nvPr/>
        </p:nvSpPr>
        <p:spPr>
          <a:xfrm>
            <a:off x="877824" y="3840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转售模式 · 三方分工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914400" y="4206240"/>
            <a:ext cx="128016" cy="128016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0"/>
          <p:cNvSpPr/>
          <p:nvPr/>
        </p:nvSpPr>
        <p:spPr>
          <a:xfrm>
            <a:off x="1152144" y="41330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深信服经销商（渠道+客户）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4297680" y="4133088"/>
            <a:ext cx="7071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出渠道、出客户 · 渠道分成 · 毛利 30–40%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914400" y="4517136"/>
            <a:ext cx="128016" cy="128016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3"/>
          <p:cNvSpPr/>
          <p:nvPr/>
        </p:nvSpPr>
        <p:spPr>
          <a:xfrm>
            <a:off x="1152144" y="44439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商汤（产品+模型）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4297680" y="4443984"/>
            <a:ext cx="7071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 + Sowork + 16 模型 · 产品 100% 自有 · 按 token 结算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914400" y="4828032"/>
            <a:ext cx="128016" cy="128016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1152144" y="47548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总代/FDE（服务）</a:t>
            </a:r>
            <a:endParaRPr lang="en-US" sz="1150" dirty="0"/>
          </a:p>
        </p:txBody>
      </p:sp>
      <p:sp>
        <p:nvSpPr>
          <p:cNvPr id="42" name="Text 37"/>
          <p:cNvSpPr/>
          <p:nvPr/>
        </p:nvSpPr>
        <p:spPr>
          <a:xfrm>
            <a:off x="4297680" y="4754880"/>
            <a:ext cx="7071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 FDE 落地 · 服务费 + 续费佣金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548640" y="5084064"/>
            <a:ext cx="11094415" cy="950976"/>
          </a:xfrm>
          <a:prstGeom prst="roundRect">
            <a:avLst>
              <a:gd name="adj" fmla="val 7692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9"/>
          <p:cNvSpPr/>
          <p:nvPr/>
        </p:nvSpPr>
        <p:spPr>
          <a:xfrm>
            <a:off x="548640" y="5084064"/>
            <a:ext cx="91440" cy="95097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0"/>
          <p:cNvSpPr/>
          <p:nvPr/>
        </p:nvSpPr>
        <p:spPr>
          <a:xfrm>
            <a:off x="914400" y="51937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由浅到深 4 种模式</a:t>
            </a:r>
            <a:endParaRPr lang="en-US" sz="1250" dirty="0"/>
          </a:p>
        </p:txBody>
      </p:sp>
      <p:sp>
        <p:nvSpPr>
          <p:cNvPr id="46" name="Text 41"/>
          <p:cNvSpPr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转售合作（3–6 月）→ API 接入（6–9 月）→ 私有化部署（9–12 月，70/30 分润）→ 整套 MaaS（白标，自有品牌）。先从转售跑起来，再逐步加深。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软硬一体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奥尼 × 商汤：AI PC + Token Plan 软硬件联合方案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硬件是入口、Token 是收入 —— 预装一台 PC = 触达一个 Token Plan 用户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25678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828800"/>
            <a:ext cx="2567864" cy="73152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1503388" y="2084832"/>
            <a:ext cx="658368" cy="658368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1147" y="2262591"/>
            <a:ext cx="302849" cy="30284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6656" y="2871216"/>
            <a:ext cx="231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PC（奥尼）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94944" y="3310128"/>
            <a:ext cx="2275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aoniclaw 预装 Openclaw / Sowork，出厂即用</a:t>
            </a:r>
            <a:endParaRPr lang="en-US" sz="960" dirty="0"/>
          </a:p>
        </p:txBody>
      </p:sp>
      <p:sp>
        <p:nvSpPr>
          <p:cNvPr id="19" name="Text 13"/>
          <p:cNvSpPr/>
          <p:nvPr/>
        </p:nvSpPr>
        <p:spPr>
          <a:xfrm>
            <a:off x="3098216" y="26974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3390824" y="1828800"/>
            <a:ext cx="25678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3390824" y="1828800"/>
            <a:ext cx="2567864" cy="73152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6"/>
          <p:cNvSpPr/>
          <p:nvPr/>
        </p:nvSpPr>
        <p:spPr>
          <a:xfrm>
            <a:off x="4345572" y="2084832"/>
            <a:ext cx="658368" cy="658368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3331" y="2262591"/>
            <a:ext cx="302849" cy="30284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518840" y="2871216"/>
            <a:ext cx="231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OS · 应用商店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3537128" y="3310128"/>
            <a:ext cx="2275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AI PC 上一键安装 Openclaw 等各类 agent</a:t>
            </a:r>
            <a:endParaRPr lang="en-US" sz="960" dirty="0"/>
          </a:p>
        </p:txBody>
      </p:sp>
      <p:sp>
        <p:nvSpPr>
          <p:cNvPr id="26" name="Text 19"/>
          <p:cNvSpPr/>
          <p:nvPr/>
        </p:nvSpPr>
        <p:spPr>
          <a:xfrm>
            <a:off x="5940400" y="26974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0"/>
          <p:cNvSpPr/>
          <p:nvPr/>
        </p:nvSpPr>
        <p:spPr>
          <a:xfrm>
            <a:off x="6233008" y="1828800"/>
            <a:ext cx="25678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1"/>
          <p:cNvSpPr/>
          <p:nvPr/>
        </p:nvSpPr>
        <p:spPr>
          <a:xfrm>
            <a:off x="6233008" y="1828800"/>
            <a:ext cx="2567864" cy="73152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2"/>
          <p:cNvSpPr/>
          <p:nvPr/>
        </p:nvSpPr>
        <p:spPr>
          <a:xfrm>
            <a:off x="7187756" y="2084832"/>
            <a:ext cx="658368" cy="658368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5515" y="2262591"/>
            <a:ext cx="302849" cy="30284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61024" y="2871216"/>
            <a:ext cx="231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激活商汤 Token Plan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6379312" y="3310128"/>
            <a:ext cx="2275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注册激活账户，绑定模型 API</a:t>
            </a:r>
            <a:endParaRPr lang="en-US" sz="960" dirty="0"/>
          </a:p>
        </p:txBody>
      </p:sp>
      <p:sp>
        <p:nvSpPr>
          <p:cNvPr id="33" name="Text 25"/>
          <p:cNvSpPr/>
          <p:nvPr/>
        </p:nvSpPr>
        <p:spPr>
          <a:xfrm>
            <a:off x="8782583" y="26974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6"/>
          <p:cNvSpPr/>
          <p:nvPr/>
        </p:nvSpPr>
        <p:spPr>
          <a:xfrm>
            <a:off x="9075191" y="1828800"/>
            <a:ext cx="2567864" cy="2240280"/>
          </a:xfrm>
          <a:prstGeom prst="roundRect">
            <a:avLst>
              <a:gd name="adj" fmla="val 3265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7"/>
          <p:cNvSpPr/>
          <p:nvPr/>
        </p:nvSpPr>
        <p:spPr>
          <a:xfrm>
            <a:off x="9075191" y="1828800"/>
            <a:ext cx="2567864" cy="73152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28"/>
          <p:cNvSpPr/>
          <p:nvPr/>
        </p:nvSpPr>
        <p:spPr>
          <a:xfrm>
            <a:off x="10029939" y="2084832"/>
            <a:ext cx="658368" cy="658368"/>
          </a:xfrm>
          <a:prstGeom prst="ellipse">
            <a:avLst/>
          </a:prstGeom>
          <a:solidFill>
            <a:srgbClr val="1C3E6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7699" y="2262591"/>
            <a:ext cx="302849" cy="302849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203207" y="2871216"/>
            <a:ext cx="231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+ 云端模型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9221495" y="3310128"/>
            <a:ext cx="2275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本地模型即用；激活后云端可切 16 款多模态</a:t>
            </a:r>
            <a:endParaRPr lang="en-US" sz="960" dirty="0"/>
          </a:p>
        </p:txBody>
      </p:sp>
      <p:sp>
        <p:nvSpPr>
          <p:cNvPr id="40" name="Shape 31"/>
          <p:cNvSpPr/>
          <p:nvPr/>
        </p:nvSpPr>
        <p:spPr>
          <a:xfrm>
            <a:off x="548640" y="4261104"/>
            <a:ext cx="5318608" cy="1773936"/>
          </a:xfrm>
          <a:prstGeom prst="roundRect">
            <a:avLst>
              <a:gd name="adj" fmla="val 4124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2"/>
          <p:cNvSpPr/>
          <p:nvPr/>
        </p:nvSpPr>
        <p:spPr>
          <a:xfrm>
            <a:off x="548640" y="4261104"/>
            <a:ext cx="82296" cy="1773936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3"/>
          <p:cNvSpPr/>
          <p:nvPr/>
        </p:nvSpPr>
        <p:spPr>
          <a:xfrm>
            <a:off x="859536" y="4425696"/>
            <a:ext cx="476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1 · 打包付费</a:t>
            </a:r>
            <a:endParaRPr lang="en-US" sz="1450" dirty="0"/>
          </a:p>
        </p:txBody>
      </p:sp>
      <p:sp>
        <p:nvSpPr>
          <p:cNvPr id="43" name="Text 34"/>
          <p:cNvSpPr/>
          <p:nvPr/>
        </p:nvSpPr>
        <p:spPr>
          <a:xfrm>
            <a:off x="859536" y="4791456"/>
            <a:ext cx="476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PC + Token Plan 一起卖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859536" y="5138928"/>
            <a:ext cx="473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厂商成本 ¥80–300/台 · PC 溢价 ¥200–800/台 · 利润 ¥120–500/台 · 适合中高端</a:t>
            </a:r>
            <a:endParaRPr lang="en-US" sz="1030" dirty="0"/>
          </a:p>
        </p:txBody>
      </p:sp>
      <p:sp>
        <p:nvSpPr>
          <p:cNvPr id="45" name="Shape 36"/>
          <p:cNvSpPr/>
          <p:nvPr/>
        </p:nvSpPr>
        <p:spPr>
          <a:xfrm>
            <a:off x="6324448" y="4261104"/>
            <a:ext cx="5318608" cy="1773936"/>
          </a:xfrm>
          <a:prstGeom prst="roundRect">
            <a:avLst>
              <a:gd name="adj" fmla="val 4124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37"/>
          <p:cNvSpPr/>
          <p:nvPr/>
        </p:nvSpPr>
        <p:spPr>
          <a:xfrm>
            <a:off x="6324448" y="4261104"/>
            <a:ext cx="82296" cy="177393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38"/>
          <p:cNvSpPr/>
          <p:nvPr/>
        </p:nvSpPr>
        <p:spPr>
          <a:xfrm>
            <a:off x="6635344" y="4425696"/>
            <a:ext cx="476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2 · 免费激活 + 续费分润</a:t>
            </a:r>
            <a:endParaRPr lang="en-US" sz="1450" dirty="0"/>
          </a:p>
        </p:txBody>
      </p:sp>
      <p:sp>
        <p:nvSpPr>
          <p:cNvPr id="48" name="Text 39"/>
          <p:cNvSpPr/>
          <p:nvPr/>
        </p:nvSpPr>
        <p:spPr>
          <a:xfrm>
            <a:off x="6635344" y="4791456"/>
            <a:ext cx="476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硬件免费预装、用户激活转化</a:t>
            </a:r>
            <a:endParaRPr lang="en-US" sz="1100" dirty="0"/>
          </a:p>
        </p:txBody>
      </p:sp>
      <p:sp>
        <p:nvSpPr>
          <p:cNvPr id="49" name="Text 40"/>
          <p:cNvSpPr/>
          <p:nvPr/>
        </p:nvSpPr>
        <p:spPr>
          <a:xfrm>
            <a:off x="6635344" y="5138928"/>
            <a:ext cx="473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成本预装 · 3 个月免费试用 · 到期付费 → 厂商分润 30–50% · 适合走量</a:t>
            </a:r>
            <a:endParaRPr lang="en-US" sz="103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奥尼硬件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奥尼 AI 终端产品线 —— 预装 Openclaw，开放生态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深圳上市公司（301189）· AI PC / 工作站 / 服务器全覆盖 · 商汤等开放生态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345429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841248" y="2121408"/>
            <a:ext cx="676656" cy="676656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945" y="2304105"/>
            <a:ext cx="311262" cy="3112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64208" y="2176272"/>
            <a:ext cx="2174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服务器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841248" y="3017520"/>
            <a:ext cx="2869082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2"/>
          <p:cNvSpPr/>
          <p:nvPr/>
        </p:nvSpPr>
        <p:spPr>
          <a:xfrm>
            <a:off x="841248" y="3127248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NC001 / NC302 / NC303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368698" y="1828800"/>
            <a:ext cx="345429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4"/>
          <p:cNvSpPr/>
          <p:nvPr/>
        </p:nvSpPr>
        <p:spPr>
          <a:xfrm>
            <a:off x="4661306" y="2121408"/>
            <a:ext cx="676656" cy="676656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4004" y="2304105"/>
            <a:ext cx="311262" cy="31126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84266" y="2176272"/>
            <a:ext cx="2174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工作站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4661306" y="3017520"/>
            <a:ext cx="2869082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7"/>
          <p:cNvSpPr/>
          <p:nvPr/>
        </p:nvSpPr>
        <p:spPr>
          <a:xfrm>
            <a:off x="4661306" y="3127248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aoniclaw MS01/02/04/05/06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8188757" y="1828800"/>
            <a:ext cx="345429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19"/>
          <p:cNvSpPr/>
          <p:nvPr/>
        </p:nvSpPr>
        <p:spPr>
          <a:xfrm>
            <a:off x="8481365" y="2121408"/>
            <a:ext cx="676656" cy="676656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4062" y="2304105"/>
            <a:ext cx="311262" cy="31126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304325" y="2176272"/>
            <a:ext cx="2174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PC / AI 本</a:t>
            </a:r>
            <a:endParaRPr lang="en-US" sz="1500" dirty="0"/>
          </a:p>
        </p:txBody>
      </p:sp>
      <p:sp>
        <p:nvSpPr>
          <p:cNvPr id="29" name="Shape 21"/>
          <p:cNvSpPr/>
          <p:nvPr/>
        </p:nvSpPr>
        <p:spPr>
          <a:xfrm>
            <a:off x="8481365" y="3017520"/>
            <a:ext cx="2869082" cy="0"/>
          </a:xfrm>
          <a:prstGeom prst="line">
            <a:avLst/>
          </a:prstGeom>
          <a:noFill/>
          <a:ln w="12700">
            <a:solidFill>
              <a:srgbClr val="DDE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2"/>
          <p:cNvSpPr/>
          <p:nvPr/>
        </p:nvSpPr>
        <p:spPr>
          <a:xfrm>
            <a:off x="8481365" y="3127248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MW01 / MM01 / MM02 / AI 本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548640" y="4114800"/>
            <a:ext cx="11094415" cy="877824"/>
          </a:xfrm>
          <a:prstGeom prst="roundRect">
            <a:avLst>
              <a:gd name="adj" fmla="val 8333"/>
            </a:avLst>
          </a:prstGeom>
          <a:solidFill>
            <a:srgbClr val="EAF2F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4"/>
          <p:cNvSpPr/>
          <p:nvPr/>
        </p:nvSpPr>
        <p:spPr>
          <a:xfrm>
            <a:off x="877824" y="4224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1920240" y="4187952"/>
            <a:ext cx="9448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· AMD · Intel · 摩尔线程 · 沐曦 · DeepSeek · 商汤 SenseTime · 豆包 · 阿里云 · AWS · Azure —— 芯片到模型，全开放可选。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48640" y="5138928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7"/>
          <p:cNvSpPr/>
          <p:nvPr/>
        </p:nvSpPr>
        <p:spPr>
          <a:xfrm>
            <a:off x="548640" y="5138928"/>
            <a:ext cx="91440" cy="896112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8"/>
          <p:cNvSpPr/>
          <p:nvPr/>
        </p:nvSpPr>
        <p:spPr>
          <a:xfrm>
            <a:off x="914400" y="524865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为什么硬件 + Token 是绝配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14400" y="55412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预装获客 ¥3–5/台 vs Google 投流 $30–50 —— 100 倍效率差。硬件铺路、Token 收钱，本地模型即用、云端模型按需，软硬一体最丝滑。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新平台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重磅：商汤海外 Token Plan 平台 · 8 月上线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 Claude / ChatGPT / Gemini + 国内 S2 等 —— 一个平台，国内外模型全有，全新套餐定价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78308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822960" y="2057400"/>
            <a:ext cx="603504" cy="603504"/>
          </a:xfrm>
          <a:prstGeom prst="ellipse">
            <a:avLst/>
          </a:prstGeom>
          <a:solidFill>
            <a:srgbClr val="1C3E6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06" y="2220346"/>
            <a:ext cx="277612" cy="2776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36192" y="2057400"/>
            <a:ext cx="2204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2026.08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7" name="Text 11"/>
          <p:cNvSpPr/>
          <p:nvPr/>
        </p:nvSpPr>
        <p:spPr>
          <a:xfrm>
            <a:off x="1536192" y="2459736"/>
            <a:ext cx="2204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平台正式上线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822960" y="2953512"/>
            <a:ext cx="28812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 + 国内模型聚合 · 全新定价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3987698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4"/>
          <p:cNvSpPr/>
          <p:nvPr/>
        </p:nvSpPr>
        <p:spPr>
          <a:xfrm>
            <a:off x="4399178" y="178308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4673498" y="20574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6444" y="2220346"/>
            <a:ext cx="277612" cy="2776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86730" y="2057400"/>
            <a:ext cx="2204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起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5386730" y="2459736"/>
            <a:ext cx="2204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东盟市场推广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4673498" y="2953512"/>
            <a:ext cx="28812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新加坡主体 · 东盟先行落地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7838237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0"/>
          <p:cNvSpPr/>
          <p:nvPr/>
        </p:nvSpPr>
        <p:spPr>
          <a:xfrm>
            <a:off x="8249717" y="178308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1"/>
          <p:cNvSpPr/>
          <p:nvPr/>
        </p:nvSpPr>
        <p:spPr>
          <a:xfrm>
            <a:off x="8524037" y="20574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983" y="2220346"/>
            <a:ext cx="277612" cy="2776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237269" y="2057400"/>
            <a:ext cx="2204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A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</a:t>
            </a:r>
            <a:endParaRPr lang="en-US" sz="1900" dirty="0"/>
          </a:p>
        </p:txBody>
      </p:sp>
      <p:sp>
        <p:nvSpPr>
          <p:cNvPr id="31" name="Text 23"/>
          <p:cNvSpPr/>
          <p:nvPr/>
        </p:nvSpPr>
        <p:spPr>
          <a:xfrm>
            <a:off x="9237269" y="2459736"/>
            <a:ext cx="2204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复制扩展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8524037" y="2953512"/>
            <a:ext cx="28812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更多区域 · 渠道白标自有品牌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548640" y="3822192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6"/>
          <p:cNvSpPr/>
          <p:nvPr/>
        </p:nvSpPr>
        <p:spPr>
          <a:xfrm>
            <a:off x="548640" y="3822192"/>
            <a:ext cx="82296" cy="1417320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7"/>
          <p:cNvSpPr/>
          <p:nvPr/>
        </p:nvSpPr>
        <p:spPr>
          <a:xfrm>
            <a:off x="841248" y="3986784"/>
            <a:ext cx="476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海外头部模型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859536" y="4443984"/>
            <a:ext cx="109728" cy="109728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9"/>
          <p:cNvSpPr/>
          <p:nvPr/>
        </p:nvSpPr>
        <p:spPr>
          <a:xfrm>
            <a:off x="1060704" y="4352544"/>
            <a:ext cx="216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4.x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3207944" y="4443984"/>
            <a:ext cx="109728" cy="109728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1"/>
          <p:cNvSpPr/>
          <p:nvPr/>
        </p:nvSpPr>
        <p:spPr>
          <a:xfrm>
            <a:off x="3409112" y="4352544"/>
            <a:ext cx="216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 (GPT-5)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859536" y="4828032"/>
            <a:ext cx="109728" cy="109728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3"/>
          <p:cNvSpPr/>
          <p:nvPr/>
        </p:nvSpPr>
        <p:spPr>
          <a:xfrm>
            <a:off x="1060704" y="4736592"/>
            <a:ext cx="216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3.x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3207944" y="4828032"/>
            <a:ext cx="109728" cy="109728"/>
          </a:xfrm>
          <a:prstGeom prst="ellipse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5"/>
          <p:cNvSpPr/>
          <p:nvPr/>
        </p:nvSpPr>
        <p:spPr>
          <a:xfrm>
            <a:off x="3409112" y="4736592"/>
            <a:ext cx="216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 / Mistral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6324448" y="3822192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37"/>
          <p:cNvSpPr/>
          <p:nvPr/>
        </p:nvSpPr>
        <p:spPr>
          <a:xfrm>
            <a:off x="6324448" y="3822192"/>
            <a:ext cx="82296" cy="141732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38"/>
          <p:cNvSpPr/>
          <p:nvPr/>
        </p:nvSpPr>
        <p:spPr>
          <a:xfrm>
            <a:off x="6617056" y="3986784"/>
            <a:ext cx="476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国内模型</a:t>
            </a:r>
            <a:endParaRPr lang="en-US" sz="1400" dirty="0"/>
          </a:p>
        </p:txBody>
      </p:sp>
      <p:sp>
        <p:nvSpPr>
          <p:cNvPr id="47" name="Shape 39"/>
          <p:cNvSpPr/>
          <p:nvPr/>
        </p:nvSpPr>
        <p:spPr>
          <a:xfrm>
            <a:off x="6635344" y="4443984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0"/>
          <p:cNvSpPr/>
          <p:nvPr/>
        </p:nvSpPr>
        <p:spPr>
          <a:xfrm>
            <a:off x="6836512" y="4352544"/>
            <a:ext cx="216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S2 旗舰</a:t>
            </a:r>
            <a:endParaRPr lang="en-US" sz="1100" dirty="0"/>
          </a:p>
        </p:txBody>
      </p:sp>
      <p:sp>
        <p:nvSpPr>
          <p:cNvPr id="49" name="Shape 41"/>
          <p:cNvSpPr/>
          <p:nvPr/>
        </p:nvSpPr>
        <p:spPr>
          <a:xfrm>
            <a:off x="8983751" y="4443984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2"/>
          <p:cNvSpPr/>
          <p:nvPr/>
        </p:nvSpPr>
        <p:spPr>
          <a:xfrm>
            <a:off x="9184919" y="4352544"/>
            <a:ext cx="216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Kimi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6635344" y="4828032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4"/>
          <p:cNvSpPr/>
          <p:nvPr/>
        </p:nvSpPr>
        <p:spPr>
          <a:xfrm>
            <a:off x="6836512" y="4736592"/>
            <a:ext cx="216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 / 通义 / 豆包</a:t>
            </a:r>
            <a:endParaRPr lang="en-US" sz="1100" dirty="0"/>
          </a:p>
        </p:txBody>
      </p:sp>
      <p:sp>
        <p:nvSpPr>
          <p:cNvPr id="53" name="Shape 45"/>
          <p:cNvSpPr/>
          <p:nvPr/>
        </p:nvSpPr>
        <p:spPr>
          <a:xfrm>
            <a:off x="8983751" y="4828032"/>
            <a:ext cx="109728" cy="109728"/>
          </a:xfrm>
          <a:prstGeom prst="ellipse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6"/>
          <p:cNvSpPr/>
          <p:nvPr/>
        </p:nvSpPr>
        <p:spPr>
          <a:xfrm>
            <a:off x="9184919" y="4736592"/>
            <a:ext cx="216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7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全模态 文图音视乐</a:t>
            </a:r>
            <a:endParaRPr lang="en-US" sz="1100" dirty="0"/>
          </a:p>
        </p:txBody>
      </p:sp>
      <p:sp>
        <p:nvSpPr>
          <p:cNvPr id="55" name="Shape 47"/>
          <p:cNvSpPr/>
          <p:nvPr/>
        </p:nvSpPr>
        <p:spPr>
          <a:xfrm>
            <a:off x="548640" y="5358384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48"/>
          <p:cNvSpPr/>
          <p:nvPr/>
        </p:nvSpPr>
        <p:spPr>
          <a:xfrm>
            <a:off x="548640" y="5358384"/>
            <a:ext cx="91440" cy="676656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49"/>
          <p:cNvSpPr/>
          <p:nvPr/>
        </p:nvSpPr>
        <p:spPr>
          <a:xfrm>
            <a:off x="914400" y="5358384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给深信服经销商的意义   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出海客户跨境一键迁移 —— Q3 东盟先行，越早布局越占先机，这是一块刚启动的蓝海。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赋能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商汤给深信服经销商的赋能 —— 不是给货就走，是一起卖好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产品、培训、服务、营销全套支持 —— 让你的团队「拿起来就能卖、卖出去能交付」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2880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548640" y="1828800"/>
            <a:ext cx="82296" cy="137160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877824" y="2194560"/>
            <a:ext cx="640080" cy="64008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646" y="2367382"/>
            <a:ext cx="294437" cy="29443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37360" y="2029968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学院培训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737360" y="2395728"/>
            <a:ext cx="3992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天速成 Lite FDE，第 6 天上岗；1:5 杠杆带教，全国 500+ FDE 同行</a:t>
            </a:r>
            <a:endParaRPr lang="en-US" sz="1030" dirty="0"/>
          </a:p>
        </p:txBody>
      </p:sp>
      <p:sp>
        <p:nvSpPr>
          <p:cNvPr id="19" name="Shape 13"/>
          <p:cNvSpPr/>
          <p:nvPr/>
        </p:nvSpPr>
        <p:spPr>
          <a:xfrm>
            <a:off x="6278728" y="182880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4"/>
          <p:cNvSpPr/>
          <p:nvPr/>
        </p:nvSpPr>
        <p:spPr>
          <a:xfrm>
            <a:off x="6278728" y="1828800"/>
            <a:ext cx="82296" cy="1371600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6607912" y="2194560"/>
            <a:ext cx="640080" cy="64008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0733" y="2367382"/>
            <a:ext cx="294437" cy="29443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67448" y="2029968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整套产品与范本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7467448" y="2395728"/>
            <a:ext cx="3992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 + 16 模型 + Agent + ABCDE 范本（定价/套餐/算法/KPI）直接复用</a:t>
            </a:r>
            <a:endParaRPr lang="en-US" sz="1030" dirty="0"/>
          </a:p>
        </p:txBody>
      </p:sp>
      <p:sp>
        <p:nvSpPr>
          <p:cNvPr id="25" name="Shape 18"/>
          <p:cNvSpPr/>
          <p:nvPr/>
        </p:nvSpPr>
        <p:spPr>
          <a:xfrm>
            <a:off x="548640" y="3401568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19"/>
          <p:cNvSpPr/>
          <p:nvPr/>
        </p:nvSpPr>
        <p:spPr>
          <a:xfrm>
            <a:off x="548640" y="3401568"/>
            <a:ext cx="82296" cy="137160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0"/>
          <p:cNvSpPr/>
          <p:nvPr/>
        </p:nvSpPr>
        <p:spPr>
          <a:xfrm>
            <a:off x="877824" y="3767328"/>
            <a:ext cx="640080" cy="64008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646" y="3940150"/>
            <a:ext cx="294437" cy="29443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737360" y="3602736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共建陪跑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1737360" y="3968496"/>
            <a:ext cx="3992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关键场景商汤 FDE 托底，把客户「用起来、用得好」—— 续费 +20pp</a:t>
            </a:r>
            <a:endParaRPr lang="en-US" sz="1030" dirty="0"/>
          </a:p>
        </p:txBody>
      </p:sp>
      <p:sp>
        <p:nvSpPr>
          <p:cNvPr id="31" name="Shape 23"/>
          <p:cNvSpPr/>
          <p:nvPr/>
        </p:nvSpPr>
        <p:spPr>
          <a:xfrm>
            <a:off x="6278728" y="3401568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BE6F5"/>
            </a:solidFill>
            <a:prstDash val="solid"/>
          </a:ln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4"/>
          <p:cNvSpPr/>
          <p:nvPr/>
        </p:nvSpPr>
        <p:spPr>
          <a:xfrm>
            <a:off x="6278728" y="3401568"/>
            <a:ext cx="82296" cy="1371600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5"/>
          <p:cNvSpPr/>
          <p:nvPr/>
        </p:nvSpPr>
        <p:spPr>
          <a:xfrm>
            <a:off x="6607912" y="3767328"/>
            <a:ext cx="640080" cy="640080"/>
          </a:xfrm>
          <a:prstGeom prst="ellipse">
            <a:avLst/>
          </a:prstGeom>
          <a:solidFill>
            <a:srgbClr val="EAF2F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0733" y="3940150"/>
            <a:ext cx="294437" cy="294437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467448" y="3602736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营销与商机支持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7467448" y="3968496"/>
            <a:ext cx="3992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联合市场活动、标杆案例、销售物料 —— 现场注册即送 VIP Token</a:t>
            </a:r>
            <a:endParaRPr lang="en-US" sz="1030" dirty="0"/>
          </a:p>
        </p:txBody>
      </p:sp>
      <p:sp>
        <p:nvSpPr>
          <p:cNvPr id="37" name="Shape 28"/>
          <p:cNvSpPr/>
          <p:nvPr/>
        </p:nvSpPr>
        <p:spPr>
          <a:xfrm>
            <a:off x="548640" y="50292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29"/>
          <p:cNvSpPr/>
          <p:nvPr/>
        </p:nvSpPr>
        <p:spPr>
          <a:xfrm>
            <a:off x="548640" y="5029200"/>
            <a:ext cx="91440" cy="100584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0"/>
          <p:cNvSpPr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  </a:t>
            </a: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商汤把「跑通的范本 + 最强的货 + 贴身的服务」整套交给深信服经销商 —— 你只管卖，剩下的我们一起兜。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起步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457200"/>
          </a:xfrm>
          <a:prstGeom prst="roundRect">
            <a:avLst>
              <a:gd name="adj" fmla="val 44444"/>
            </a:avLst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怎么开始：Token 业务 5 步闭环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8096" y="124358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先从一两个场景跑起来 —— 可行则继续推进，不行则换模式，小步快跑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sangf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2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6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874520"/>
            <a:ext cx="1999427" cy="2240280"/>
          </a:xfrm>
          <a:prstGeom prst="roundRect">
            <a:avLst>
              <a:gd name="adj" fmla="val 3659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1228314" y="21488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1135" y="2321662"/>
            <a:ext cx="294437" cy="29443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6656" y="2916936"/>
            <a:ext cx="17433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商机拓展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58368" y="3282696"/>
            <a:ext cx="17799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经销商客户经理找场景</a:t>
            </a:r>
            <a:endParaRPr lang="en-US" sz="960" dirty="0"/>
          </a:p>
        </p:txBody>
      </p:sp>
      <p:sp>
        <p:nvSpPr>
          <p:cNvPr id="18" name="Text 12"/>
          <p:cNvSpPr/>
          <p:nvPr/>
        </p:nvSpPr>
        <p:spPr>
          <a:xfrm>
            <a:off x="2548067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2822387" y="1874520"/>
            <a:ext cx="1999427" cy="2240280"/>
          </a:xfrm>
          <a:prstGeom prst="roundRect">
            <a:avLst>
              <a:gd name="adj" fmla="val 3659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4"/>
          <p:cNvSpPr/>
          <p:nvPr/>
        </p:nvSpPr>
        <p:spPr>
          <a:xfrm>
            <a:off x="3502061" y="21488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4882" y="2321662"/>
            <a:ext cx="294437" cy="29443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950403" y="2916936"/>
            <a:ext cx="17433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FDE 介入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2932115" y="3282696"/>
            <a:ext cx="17799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总代 FDE 做 AI onboarding</a:t>
            </a:r>
            <a:endParaRPr lang="en-US" sz="960" dirty="0"/>
          </a:p>
        </p:txBody>
      </p:sp>
      <p:sp>
        <p:nvSpPr>
          <p:cNvPr id="24" name="Text 17"/>
          <p:cNvSpPr/>
          <p:nvPr/>
        </p:nvSpPr>
        <p:spPr>
          <a:xfrm>
            <a:off x="4821814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5096134" y="1874520"/>
            <a:ext cx="1999427" cy="2240280"/>
          </a:xfrm>
          <a:prstGeom prst="roundRect">
            <a:avLst>
              <a:gd name="adj" fmla="val 3659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19"/>
          <p:cNvSpPr/>
          <p:nvPr/>
        </p:nvSpPr>
        <p:spPr>
          <a:xfrm>
            <a:off x="5775808" y="21488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8629" y="2321662"/>
            <a:ext cx="294437" cy="29443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24150" y="2916936"/>
            <a:ext cx="17433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建 AI 流程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5205862" y="3282696"/>
            <a:ext cx="17799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跑通企业 AI 工作流</a:t>
            </a:r>
            <a:endParaRPr lang="en-US" sz="960" dirty="0"/>
          </a:p>
        </p:txBody>
      </p:sp>
      <p:sp>
        <p:nvSpPr>
          <p:cNvPr id="30" name="Text 22"/>
          <p:cNvSpPr/>
          <p:nvPr/>
        </p:nvSpPr>
        <p:spPr>
          <a:xfrm>
            <a:off x="7095561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3"/>
          <p:cNvSpPr/>
          <p:nvPr/>
        </p:nvSpPr>
        <p:spPr>
          <a:xfrm>
            <a:off x="7369881" y="1874520"/>
            <a:ext cx="1999427" cy="2240280"/>
          </a:xfrm>
          <a:prstGeom prst="roundRect">
            <a:avLst>
              <a:gd name="adj" fmla="val 3659"/>
            </a:avLst>
          </a:prstGeom>
          <a:solidFill>
            <a:srgbClr val="F0F5FD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4"/>
          <p:cNvSpPr/>
          <p:nvPr/>
        </p:nvSpPr>
        <p:spPr>
          <a:xfrm>
            <a:off x="8049555" y="21488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2376" y="2321662"/>
            <a:ext cx="294437" cy="29443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497897" y="2916936"/>
            <a:ext cx="17433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Token 订阅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7479609" y="3282696"/>
            <a:ext cx="17799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企业开始消耗 Token</a:t>
            </a:r>
            <a:endParaRPr lang="en-US" sz="960" dirty="0"/>
          </a:p>
        </p:txBody>
      </p:sp>
      <p:sp>
        <p:nvSpPr>
          <p:cNvPr id="36" name="Text 27"/>
          <p:cNvSpPr/>
          <p:nvPr/>
        </p:nvSpPr>
        <p:spPr>
          <a:xfrm>
            <a:off x="9369308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28"/>
          <p:cNvSpPr/>
          <p:nvPr/>
        </p:nvSpPr>
        <p:spPr>
          <a:xfrm>
            <a:off x="9643628" y="1874520"/>
            <a:ext cx="1999427" cy="2240280"/>
          </a:xfrm>
          <a:prstGeom prst="roundRect">
            <a:avLst>
              <a:gd name="adj" fmla="val 3659"/>
            </a:avLst>
          </a:prstGeom>
          <a:solidFill>
            <a:srgbClr val="0E2A4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29"/>
          <p:cNvSpPr/>
          <p:nvPr/>
        </p:nvSpPr>
        <p:spPr>
          <a:xfrm>
            <a:off x="10323302" y="2148840"/>
            <a:ext cx="640080" cy="640080"/>
          </a:xfrm>
          <a:prstGeom prst="ellipse">
            <a:avLst/>
          </a:prstGeom>
          <a:solidFill>
            <a:srgbClr val="1C3E6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6123" y="2321662"/>
            <a:ext cx="294437" cy="294437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9771644" y="2916936"/>
            <a:ext cx="17433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续费闭环</a:t>
            </a:r>
            <a:endParaRPr lang="en-US" sz="1350" dirty="0"/>
          </a:p>
        </p:txBody>
      </p:sp>
      <p:sp>
        <p:nvSpPr>
          <p:cNvPr id="41" name="Text 31"/>
          <p:cNvSpPr/>
          <p:nvPr/>
        </p:nvSpPr>
        <p:spPr>
          <a:xfrm>
            <a:off x="9753356" y="3282696"/>
            <a:ext cx="17799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持续使用并续费扩容</a:t>
            </a:r>
            <a:endParaRPr lang="en-US" sz="960" dirty="0"/>
          </a:p>
        </p:txBody>
      </p:sp>
      <p:sp>
        <p:nvSpPr>
          <p:cNvPr id="42" name="Shape 32"/>
          <p:cNvSpPr/>
          <p:nvPr/>
        </p:nvSpPr>
        <p:spPr>
          <a:xfrm>
            <a:off x="548640" y="4425696"/>
            <a:ext cx="11094415" cy="1609344"/>
          </a:xfrm>
          <a:prstGeom prst="roundRect">
            <a:avLst>
              <a:gd name="adj" fmla="val 4545"/>
            </a:avLst>
          </a:prstGeom>
          <a:solidFill>
            <a:srgbClr val="EAF2FE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33"/>
          <p:cNvSpPr/>
          <p:nvPr/>
        </p:nvSpPr>
        <p:spPr>
          <a:xfrm>
            <a:off x="548640" y="4425696"/>
            <a:ext cx="82296" cy="1609344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4"/>
          <p:cNvSpPr/>
          <p:nvPr/>
        </p:nvSpPr>
        <p:spPr>
          <a:xfrm>
            <a:off x="877824" y="45720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天就能 onboard 起步</a:t>
            </a:r>
            <a:endParaRPr lang="en-US" sz="1300" dirty="0"/>
          </a:p>
        </p:txBody>
      </p:sp>
      <p:sp>
        <p:nvSpPr>
          <p:cNvPr id="45" name="Text 35"/>
          <p:cNvSpPr/>
          <p:nvPr/>
        </p:nvSpPr>
        <p:spPr>
          <a:xfrm>
            <a:off x="877824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200" dirty="0"/>
          </a:p>
        </p:txBody>
      </p:sp>
      <p:sp>
        <p:nvSpPr>
          <p:cNvPr id="46" name="Text 36"/>
          <p:cNvSpPr/>
          <p:nvPr/>
        </p:nvSpPr>
        <p:spPr>
          <a:xfrm>
            <a:off x="1335024" y="5029200"/>
            <a:ext cx="28690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· 验证</a:t>
            </a:r>
            <a:endParaRPr lang="en-US" sz="1250" dirty="0"/>
          </a:p>
        </p:txBody>
      </p:sp>
      <p:sp>
        <p:nvSpPr>
          <p:cNvPr id="47" name="Text 37"/>
          <p:cNvSpPr/>
          <p:nvPr/>
        </p:nvSpPr>
        <p:spPr>
          <a:xfrm>
            <a:off x="1335024" y="5321808"/>
            <a:ext cx="296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 1 个场景跑通 PoC</a:t>
            </a:r>
            <a:endParaRPr lang="en-US" sz="1000" dirty="0"/>
          </a:p>
        </p:txBody>
      </p:sp>
      <p:sp>
        <p:nvSpPr>
          <p:cNvPr id="48" name="Text 38"/>
          <p:cNvSpPr/>
          <p:nvPr/>
        </p:nvSpPr>
        <p:spPr>
          <a:xfrm>
            <a:off x="4478426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200" dirty="0"/>
          </a:p>
        </p:txBody>
      </p:sp>
      <p:sp>
        <p:nvSpPr>
          <p:cNvPr id="49" name="Text 39"/>
          <p:cNvSpPr/>
          <p:nvPr/>
        </p:nvSpPr>
        <p:spPr>
          <a:xfrm>
            <a:off x="4935626" y="5029200"/>
            <a:ext cx="28690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· 复制</a:t>
            </a:r>
            <a:endParaRPr lang="en-US" sz="1250" dirty="0"/>
          </a:p>
        </p:txBody>
      </p:sp>
      <p:sp>
        <p:nvSpPr>
          <p:cNvPr id="50" name="Text 40"/>
          <p:cNvSpPr/>
          <p:nvPr/>
        </p:nvSpPr>
        <p:spPr>
          <a:xfrm>
            <a:off x="4935626" y="5321808"/>
            <a:ext cx="296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复制到相邻客户与场景</a:t>
            </a:r>
            <a:endParaRPr lang="en-US" sz="1000" dirty="0"/>
          </a:p>
        </p:txBody>
      </p:sp>
      <p:sp>
        <p:nvSpPr>
          <p:cNvPr id="51" name="Text 41"/>
          <p:cNvSpPr/>
          <p:nvPr/>
        </p:nvSpPr>
        <p:spPr>
          <a:xfrm>
            <a:off x="8079029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200" dirty="0"/>
          </a:p>
        </p:txBody>
      </p:sp>
      <p:sp>
        <p:nvSpPr>
          <p:cNvPr id="52" name="Text 42"/>
          <p:cNvSpPr/>
          <p:nvPr/>
        </p:nvSpPr>
        <p:spPr>
          <a:xfrm>
            <a:off x="8536229" y="5029200"/>
            <a:ext cx="28690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 · 规模化</a:t>
            </a:r>
            <a:endParaRPr lang="en-US" sz="1250" dirty="0"/>
          </a:p>
        </p:txBody>
      </p:sp>
      <p:sp>
        <p:nvSpPr>
          <p:cNvPr id="53" name="Text 43"/>
          <p:cNvSpPr/>
          <p:nvPr/>
        </p:nvSpPr>
        <p:spPr>
          <a:xfrm>
            <a:off x="8536229" y="5321808"/>
            <a:ext cx="296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区域铺开、批量签约</a:t>
            </a:r>
            <a:endParaRPr lang="en-US" sz="1000" dirty="0"/>
          </a:p>
        </p:txBody>
      </p:sp>
      <p:sp>
        <p:nvSpPr>
          <p:cNvPr id="54" name="Text 44"/>
          <p:cNvSpPr/>
          <p:nvPr/>
        </p:nvSpPr>
        <p:spPr>
          <a:xfrm>
            <a:off x="877824" y="574243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落地哲学：模式可探讨，结合实际案例，找一两个点尝试实践 —— 可行则继续推进，不行则换模式。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E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194560"/>
            <a:ext cx="7315200" cy="7315200"/>
          </a:xfrm>
          <a:prstGeom prst="ellipse">
            <a:avLst/>
          </a:prstGeom>
          <a:solidFill>
            <a:srgbClr val="1F6BEB">
              <a:alpha val="16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2011680" y="3291840"/>
            <a:ext cx="5669280" cy="5669280"/>
          </a:xfrm>
          <a:prstGeom prst="ellipse">
            <a:avLst/>
          </a:prstGeom>
          <a:solidFill>
            <a:srgbClr val="C04A42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96" y="292608"/>
            <a:ext cx="974659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40380" y="310896"/>
            <a:ext cx="0" cy="237744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2" descr="sangfo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558" y="292608"/>
            <a:ext cx="940095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" y="6473952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 ·  AI Token 渠道合作  ·  致深信服经销商伙伴</a:t>
            </a:r>
            <a:endParaRPr lang="en-US" sz="760" dirty="0"/>
          </a:p>
        </p:txBody>
      </p:sp>
      <p:sp>
        <p:nvSpPr>
          <p:cNvPr id="10" name="Text 5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50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566928" y="868680"/>
            <a:ext cx="1645920" cy="54864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7"/>
          <p:cNvSpPr/>
          <p:nvPr/>
        </p:nvSpPr>
        <p:spPr>
          <a:xfrm>
            <a:off x="548640" y="10607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现在就合作 · 一起把 AI Token 卖起来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48640" y="14630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扫码留资 · 现场注册即享 VIP</a:t>
            </a:r>
            <a:endParaRPr lang="en-US" sz="3600" dirty="0"/>
          </a:p>
        </p:txBody>
      </p:sp>
      <p:sp>
        <p:nvSpPr>
          <p:cNvPr id="14" name="Shape 9"/>
          <p:cNvSpPr/>
          <p:nvPr/>
        </p:nvSpPr>
        <p:spPr>
          <a:xfrm>
            <a:off x="914400" y="2697480"/>
            <a:ext cx="3108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914400" y="2697480"/>
            <a:ext cx="3108960" cy="91440"/>
          </a:xfrm>
          <a:prstGeom prst="rect">
            <a:avLst/>
          </a:prstGeom>
          <a:solidFill>
            <a:srgbClr val="1F6B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3"/>
          <p:cNvSpPr/>
          <p:nvPr/>
        </p:nvSpPr>
        <p:spPr>
          <a:xfrm>
            <a:off x="1097280" y="4983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留资 · 渠道合作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097280" y="5294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申请成为商汤 Token Plan 渠道伙伴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4572000" y="2697480"/>
            <a:ext cx="3108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3355F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4572000" y="2697480"/>
            <a:ext cx="3108960" cy="9144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5257800" y="3154680"/>
            <a:ext cx="1737360" cy="1737360"/>
          </a:xfrm>
          <a:prstGeom prst="rect">
            <a:avLst/>
          </a:prstGeom>
          <a:solidFill>
            <a:srgbClr val="F0F4F9"/>
          </a:solidFill>
          <a:ln w="15240">
            <a:solidFill>
              <a:srgbClr val="C04A4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5257800" y="3154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C7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754880" y="4983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韩启微 · </a:t>
            </a:r>
            <a:r>
              <a:rPr lang="en-US" sz="1500" b="1" dirty="0" err="1">
                <a:solidFill>
                  <a:srgbClr val="0E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业务交流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4754880" y="5294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6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扫码加微信，一对一聊合作</a:t>
            </a:r>
            <a:endParaRPr lang="en-US" sz="980" dirty="0"/>
          </a:p>
        </p:txBody>
      </p:sp>
      <p:sp>
        <p:nvSpPr>
          <p:cNvPr id="26" name="Shape 21"/>
          <p:cNvSpPr/>
          <p:nvPr/>
        </p:nvSpPr>
        <p:spPr>
          <a:xfrm>
            <a:off x="8229600" y="2697480"/>
            <a:ext cx="3413455" cy="2834640"/>
          </a:xfrm>
          <a:prstGeom prst="roundRect">
            <a:avLst>
              <a:gd name="adj" fmla="val 2581"/>
            </a:avLst>
          </a:prstGeom>
          <a:solidFill>
            <a:srgbClr val="163A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2"/>
          <p:cNvSpPr/>
          <p:nvPr/>
        </p:nvSpPr>
        <p:spPr>
          <a:xfrm>
            <a:off x="8229600" y="2697480"/>
            <a:ext cx="91440" cy="2834640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8540496" y="2971800"/>
            <a:ext cx="2864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现场注册福利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8540496" y="3410712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 VIP Token 套餐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8540496" y="4069080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现场注册用户，免费领 VIP Token 套餐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8540496" y="4544568"/>
            <a:ext cx="31025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亲手试一次 Sowork，体验「替你把事做完」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8540496" y="5020056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FD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1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现场对接：选场景、谈合作、定试点</a:t>
            </a:r>
            <a:endParaRPr lang="en-US" sz="1150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0E9370D5-392A-3B60-4760-10284450A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626" y="3081528"/>
            <a:ext cx="1850036" cy="1838177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D84CD450-FFA7-B1B8-D0A4-4689D1402B9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336" t="23256" r="7341" b="13698"/>
          <a:stretch>
            <a:fillRect/>
          </a:stretch>
        </p:blipFill>
        <p:spPr>
          <a:xfrm>
            <a:off x="5176682" y="3099815"/>
            <a:ext cx="1867446" cy="181988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377440"/>
            <a:ext cx="7680960" cy="7680960"/>
          </a:xfrm>
          <a:prstGeom prst="ellipse">
            <a:avLst/>
          </a:prstGeom>
          <a:solidFill>
            <a:srgbClr val="1F6BEB">
              <a:alpha val="1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692640" y="2926080"/>
            <a:ext cx="4754880" cy="4754880"/>
          </a:xfrm>
          <a:prstGeom prst="ellipse">
            <a:avLst/>
          </a:prstGeom>
          <a:solidFill>
            <a:srgbClr val="2BA6F0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778240" y="640080"/>
            <a:ext cx="4480560" cy="4480560"/>
          </a:xfrm>
          <a:prstGeom prst="ellipse">
            <a:avLst/>
          </a:prstGeom>
          <a:noFill/>
          <a:ln w="12700">
            <a:solidFill>
              <a:srgbClr val="BCD6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1645920" cy="54864"/>
          </a:xfrm>
          <a:prstGeom prst="rect">
            <a:avLst/>
          </a:prstGeom>
          <a:solidFill>
            <a:srgbClr val="C04A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</a:t>
            </a:r>
            <a:r>
              <a:rPr lang="en-US" sz="5000" b="1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用到「</a:t>
            </a:r>
            <a:r>
              <a:rPr lang="en-US" sz="5000" b="1" dirty="0">
                <a:solidFill>
                  <a:srgbClr val="C04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离不开</a:t>
            </a: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48640" y="41696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商汤供货 · 深信服卖货 · 奥尼出硬件 —— 一起把 AI Token 卖给每一家企业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029200"/>
            <a:ext cx="11094415" cy="0"/>
          </a:xfrm>
          <a:prstGeom prst="line">
            <a:avLst/>
          </a:prstGeom>
          <a:noFill/>
          <a:ln w="12700">
            <a:solidFill>
              <a:srgbClr val="2E51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48640" y="51755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  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商汤科技 · 大模型事业群</a:t>
            </a:r>
            <a:r>
              <a:rPr lang="en-US" sz="1300" dirty="0">
                <a:solidFill>
                  <a:srgbClr val="BC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商务合作  partner@sensetime.com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5595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商汤大模型事业群 · AI Token 渠道合作 · 致深信服经销商 · 2026</a:t>
            </a:r>
            <a:endParaRPr lang="en-US" sz="1050" dirty="0"/>
          </a:p>
        </p:txBody>
      </p:sp>
      <p:pic>
        <p:nvPicPr>
          <p:cNvPr id="12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575" y="5907024"/>
            <a:ext cx="1554480" cy="437512"/>
          </a:xfrm>
          <a:prstGeom prst="rect">
            <a:avLst/>
          </a:prstGeom>
        </p:spPr>
      </p:pic>
      <p:pic>
        <p:nvPicPr>
          <p:cNvPr id="14" name="Image 2" descr="sangfo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292" y="5943600"/>
            <a:ext cx="1128114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5636</Words>
  <Application>Microsoft Macintosh PowerPoint</Application>
  <PresentationFormat>宽屏</PresentationFormat>
  <Paragraphs>1247</Paragraphs>
  <Slides>52</Slides>
  <Notes>52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5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商汤科技 SenseTime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商汤大模型事业群 × 深信服 · AI Token 渠道合作</dc:title>
  <dc:subject>PptxGenJS Presentation</dc:subject>
  <dc:creator>商汤科技 · 大模型事业群</dc:creator>
  <cp:lastModifiedBy>薛佳欣</cp:lastModifiedBy>
  <cp:revision>14</cp:revision>
  <dcterms:created xsi:type="dcterms:W3CDTF">2026-06-29T21:43:31Z</dcterms:created>
  <dcterms:modified xsi:type="dcterms:W3CDTF">2026-06-30T05:57:36Z</dcterms:modified>
</cp:coreProperties>
</file>