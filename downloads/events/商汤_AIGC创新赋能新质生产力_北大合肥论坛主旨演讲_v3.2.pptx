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8"/>
    <p:restoredTop sz="94610"/>
  </p:normalViewPr>
  <p:slideViewPr>
    <p:cSldViewPr snapToGrid="0" snapToObjects="1">
      <p:cViewPr>
        <p:scale>
          <a:sx n="88" d="100"/>
          <a:sy n="88" d="100"/>
        </p:scale>
        <p:origin x="1504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6306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4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5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4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5.png"/><Relationship Id="rId9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4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5.png"/><Relationship Id="rId9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4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5.png"/><Relationship Id="rId9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4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39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0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4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4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4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33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44.pn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4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4.pn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18.png"/><Relationship Id="rId4" Type="http://schemas.openxmlformats.org/officeDocument/2006/relationships/image" Target="../media/image5.png"/><Relationship Id="rId9" Type="http://schemas.openxmlformats.org/officeDocument/2006/relationships/image" Target="../media/image8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5" Type="http://schemas.openxmlformats.org/officeDocument/2006/relationships/image" Target="../media/image44.png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4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5.png"/><Relationship Id="rId9" Type="http://schemas.openxmlformats.org/officeDocument/2006/relationships/image" Target="../media/image86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4.png"/><Relationship Id="rId7" Type="http://schemas.openxmlformats.org/officeDocument/2006/relationships/image" Target="../media/image8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5" Type="http://schemas.openxmlformats.org/officeDocument/2006/relationships/image" Target="../media/image67.png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4.png"/><Relationship Id="rId7" Type="http://schemas.openxmlformats.org/officeDocument/2006/relationships/image" Target="../media/image9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5" Type="http://schemas.openxmlformats.org/officeDocument/2006/relationships/image" Target="../media/image68.png"/><Relationship Id="rId4" Type="http://schemas.openxmlformats.org/officeDocument/2006/relationships/image" Target="../media/image5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4.png"/><Relationship Id="rId7" Type="http://schemas.openxmlformats.org/officeDocument/2006/relationships/image" Target="../media/image9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10" Type="http://schemas.openxmlformats.org/officeDocument/2006/relationships/image" Target="../media/image98.png"/><Relationship Id="rId4" Type="http://schemas.openxmlformats.org/officeDocument/2006/relationships/image" Target="../media/image5.png"/><Relationship Id="rId9" Type="http://schemas.openxmlformats.org/officeDocument/2006/relationships/image" Target="../media/image9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5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image" Target="../media/image4.png"/><Relationship Id="rId7" Type="http://schemas.openxmlformats.org/officeDocument/2006/relationships/image" Target="../media/image10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4.png"/><Relationship Id="rId7" Type="http://schemas.openxmlformats.org/officeDocument/2006/relationships/image" Target="../media/image10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5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3" Type="http://schemas.openxmlformats.org/officeDocument/2006/relationships/image" Target="../media/image1.png"/><Relationship Id="rId7" Type="http://schemas.openxmlformats.org/officeDocument/2006/relationships/image" Target="../media/image11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194560"/>
            <a:ext cx="6949440" cy="6949440"/>
          </a:xfrm>
          <a:prstGeom prst="ellipse">
            <a:avLst/>
          </a:prstGeom>
          <a:solidFill>
            <a:srgbClr val="2C6498">
              <a:alpha val="16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9966960" y="3108960"/>
            <a:ext cx="4389120" cy="4389120"/>
          </a:xfrm>
          <a:prstGeom prst="ellipse">
            <a:avLst/>
          </a:prstGeom>
          <a:solidFill>
            <a:srgbClr val="C2A14B">
              <a:alpha val="1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8869680" y="822960"/>
            <a:ext cx="4297680" cy="4297680"/>
          </a:xfrm>
          <a:prstGeom prst="ellipse">
            <a:avLst/>
          </a:prstGeom>
          <a:noFill/>
          <a:ln w="12700">
            <a:solidFill>
              <a:srgbClr val="7AA0C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北大合肥论坛 · 新质生产力与智能经济 · 主旨演讲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8229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50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7 月 11 日 · 安徽合肥 · 中安创谷科技园全球路演中心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884664" y="39684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扫码留资 · 获取方案与试用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85216" y="2359152"/>
            <a:ext cx="1554480" cy="41148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566928" y="25420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kern="0" spc="10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从技术突破，到生产力跃迁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566928" y="298094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 </a:t>
            </a:r>
            <a:r>
              <a:rPr lang="en-US" sz="44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AIGC</a:t>
            </a: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创新赋能新质生产力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566928" y="409651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一次突破巡礼 · 一组场景验证 · 一条企业用上用好 AI 的路径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66928" y="5806440"/>
            <a:ext cx="11057839" cy="0"/>
          </a:xfrm>
          <a:prstGeom prst="line">
            <a:avLst/>
          </a:prstGeom>
          <a:noFill/>
          <a:ln w="12700">
            <a:solidFill>
              <a:srgbClr val="29466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566928" y="59893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主讲 · 韩启微</a:t>
            </a:r>
            <a:r>
              <a:rPr lang="en-US" sz="125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商汤科技 副总裁 / 大模型商业化及生态负责人</a:t>
            </a:r>
            <a:endParaRPr lang="en-US" sz="1250" dirty="0"/>
          </a:p>
        </p:txBody>
      </p:sp>
      <p:pic>
        <p:nvPicPr>
          <p:cNvPr id="15" name="Image 1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9093" y="5980176"/>
            <a:ext cx="1365675" cy="38404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10057925" y="6025896"/>
            <a:ext cx="0" cy="292608"/>
          </a:xfrm>
          <a:prstGeom prst="line">
            <a:avLst/>
          </a:prstGeom>
          <a:noFill/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7" name="Image 2" descr="gfy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8909" y="5980176"/>
            <a:ext cx="1977847" cy="384048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89408AE2-6D67-84E3-D5EE-7F809D3AF2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3273" y="2054172"/>
            <a:ext cx="1877314" cy="18773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 · 关于商汤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关于商汤：从视觉 AI 原创技术，到 AIGC 全栈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2014 年出发的原创 AI 公司，如今打通算力、模型与 Agent 应用的全栈闭环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9221" y="329184"/>
            <a:ext cx="1105546" cy="310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372917" y="356616"/>
            <a:ext cx="0" cy="256032"/>
          </a:xfrm>
          <a:prstGeom prst="line">
            <a:avLst/>
          </a:prstGeom>
          <a:noFill/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1" descr="gfy_logo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5499" y="329184"/>
            <a:ext cx="1601114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 AIGC 创新赋能新质生产力   |   北大合肥论坛 · 新质生产力与智能经济   |   商汤科技 SenseTime</a:t>
            </a:r>
            <a:endParaRPr lang="en-US" sz="760" dirty="0"/>
          </a:p>
        </p:txBody>
      </p:sp>
      <p:sp>
        <p:nvSpPr>
          <p:cNvPr id="10" name="Text 6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37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66928" y="1755648"/>
            <a:ext cx="252443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8"/>
          <p:cNvSpPr/>
          <p:nvPr/>
        </p:nvSpPr>
        <p:spPr>
          <a:xfrm>
            <a:off x="566928" y="1755648"/>
            <a:ext cx="2524430" cy="82296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9"/>
          <p:cNvSpPr/>
          <p:nvPr/>
        </p:nvSpPr>
        <p:spPr>
          <a:xfrm>
            <a:off x="2396414" y="1993392"/>
            <a:ext cx="457200" cy="45720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9858" y="2116836"/>
            <a:ext cx="210312" cy="2103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4672" y="1993392"/>
            <a:ext cx="155516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2014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804672" y="2624328"/>
            <a:ext cx="20672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十余年 AI 原创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804672" y="2962656"/>
            <a:ext cx="20672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以原创技术研究为根基，从视觉 AI 一路走到生成式全模态，港交所人工智能第一股。</a:t>
            </a:r>
            <a:endParaRPr lang="en-US" sz="960" dirty="0"/>
          </a:p>
        </p:txBody>
      </p:sp>
      <p:sp>
        <p:nvSpPr>
          <p:cNvPr id="18" name="Shape 13"/>
          <p:cNvSpPr/>
          <p:nvPr/>
        </p:nvSpPr>
        <p:spPr>
          <a:xfrm>
            <a:off x="3411398" y="1755648"/>
            <a:ext cx="252443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4"/>
          <p:cNvSpPr/>
          <p:nvPr/>
        </p:nvSpPr>
        <p:spPr>
          <a:xfrm>
            <a:off x="3411398" y="1755648"/>
            <a:ext cx="2524430" cy="82296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5"/>
          <p:cNvSpPr/>
          <p:nvPr/>
        </p:nvSpPr>
        <p:spPr>
          <a:xfrm>
            <a:off x="5240884" y="1993392"/>
            <a:ext cx="457200" cy="45720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4328" y="2116836"/>
            <a:ext cx="210312" cy="2103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649142" y="1993392"/>
            <a:ext cx="155516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日日新</a:t>
            </a:r>
            <a:endParaRPr lang="en-US" sz="2400" dirty="0"/>
          </a:p>
        </p:txBody>
      </p:sp>
      <p:sp>
        <p:nvSpPr>
          <p:cNvPr id="23" name="Text 17"/>
          <p:cNvSpPr/>
          <p:nvPr/>
        </p:nvSpPr>
        <p:spPr>
          <a:xfrm>
            <a:off x="3649142" y="2624328"/>
            <a:ext cx="20672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全模态大模型体系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3649142" y="2962656"/>
            <a:ext cx="20672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从语言、视觉一路延伸到世界模型，全模态能力自研自迭代，逐月上新。</a:t>
            </a:r>
            <a:endParaRPr lang="en-US" sz="960" dirty="0"/>
          </a:p>
        </p:txBody>
      </p:sp>
      <p:sp>
        <p:nvSpPr>
          <p:cNvPr id="25" name="Shape 19"/>
          <p:cNvSpPr/>
          <p:nvPr/>
        </p:nvSpPr>
        <p:spPr>
          <a:xfrm>
            <a:off x="6255868" y="1755648"/>
            <a:ext cx="252443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0"/>
          <p:cNvSpPr/>
          <p:nvPr/>
        </p:nvSpPr>
        <p:spPr>
          <a:xfrm>
            <a:off x="6255868" y="1755648"/>
            <a:ext cx="2524430" cy="82296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1"/>
          <p:cNvSpPr/>
          <p:nvPr/>
        </p:nvSpPr>
        <p:spPr>
          <a:xfrm>
            <a:off x="8085353" y="1993392"/>
            <a:ext cx="457200" cy="45720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8797" y="2116836"/>
            <a:ext cx="210312" cy="21031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493612" y="1993392"/>
            <a:ext cx="155516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</a:t>
            </a:r>
            <a:endParaRPr lang="en-US" sz="2400" dirty="0"/>
          </a:p>
        </p:txBody>
      </p:sp>
      <p:sp>
        <p:nvSpPr>
          <p:cNvPr id="30" name="Text 23"/>
          <p:cNvSpPr/>
          <p:nvPr/>
        </p:nvSpPr>
        <p:spPr>
          <a:xfrm>
            <a:off x="6493612" y="2624328"/>
            <a:ext cx="20672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大装置 SenseCore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6493612" y="2962656"/>
            <a:ext cx="20672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自建算力基础设施打底，原生 AI 云市场份额第一，为训练与推理提供确定性算力。</a:t>
            </a:r>
            <a:endParaRPr lang="en-US" sz="960" dirty="0"/>
          </a:p>
        </p:txBody>
      </p:sp>
      <p:sp>
        <p:nvSpPr>
          <p:cNvPr id="32" name="Shape 25"/>
          <p:cNvSpPr/>
          <p:nvPr/>
        </p:nvSpPr>
        <p:spPr>
          <a:xfrm>
            <a:off x="9100337" y="1755648"/>
            <a:ext cx="252443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26"/>
          <p:cNvSpPr/>
          <p:nvPr/>
        </p:nvSpPr>
        <p:spPr>
          <a:xfrm>
            <a:off x="9100337" y="1755648"/>
            <a:ext cx="2524430" cy="82296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27"/>
          <p:cNvSpPr/>
          <p:nvPr/>
        </p:nvSpPr>
        <p:spPr>
          <a:xfrm>
            <a:off x="10929823" y="1993392"/>
            <a:ext cx="457200" cy="45720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53267" y="2116836"/>
            <a:ext cx="210312" cy="21031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9338081" y="1993392"/>
            <a:ext cx="155516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全栈</a:t>
            </a:r>
            <a:endParaRPr lang="en-US" sz="2400" dirty="0"/>
          </a:p>
        </p:txBody>
      </p:sp>
      <p:sp>
        <p:nvSpPr>
          <p:cNvPr id="37" name="Text 29"/>
          <p:cNvSpPr/>
          <p:nvPr/>
        </p:nvSpPr>
        <p:spPr>
          <a:xfrm>
            <a:off x="9338081" y="2624328"/>
            <a:ext cx="20672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应用生态</a:t>
            </a:r>
            <a:endParaRPr lang="en-US" sz="1350" dirty="0"/>
          </a:p>
        </p:txBody>
      </p:sp>
      <p:sp>
        <p:nvSpPr>
          <p:cNvPr id="38" name="Text 30"/>
          <p:cNvSpPr/>
          <p:nvPr/>
        </p:nvSpPr>
        <p:spPr>
          <a:xfrm>
            <a:off x="9338081" y="2962656"/>
            <a:ext cx="20672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Sowork、S-Design、小浣熊、Seko 等智能体走进工位、创作台与门店，把模型能力变成真实交付。</a:t>
            </a:r>
            <a:endParaRPr lang="en-US" sz="960" dirty="0"/>
          </a:p>
        </p:txBody>
      </p:sp>
      <p:sp>
        <p:nvSpPr>
          <p:cNvPr id="39" name="Shape 31"/>
          <p:cNvSpPr/>
          <p:nvPr/>
        </p:nvSpPr>
        <p:spPr>
          <a:xfrm>
            <a:off x="566928" y="3968496"/>
            <a:ext cx="11057839" cy="2103120"/>
          </a:xfrm>
          <a:prstGeom prst="roundRect">
            <a:avLst>
              <a:gd name="adj" fmla="val 3913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2"/>
          <p:cNvSpPr/>
          <p:nvPr/>
        </p:nvSpPr>
        <p:spPr>
          <a:xfrm>
            <a:off x="566928" y="3968496"/>
            <a:ext cx="91440" cy="2103120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3"/>
          <p:cNvSpPr/>
          <p:nvPr/>
        </p:nvSpPr>
        <p:spPr>
          <a:xfrm>
            <a:off x="932688" y="416966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今天讲什么</a:t>
            </a:r>
            <a:endParaRPr lang="en-US" sz="1400" dirty="0"/>
          </a:p>
        </p:txBody>
      </p:sp>
      <p:sp>
        <p:nvSpPr>
          <p:cNvPr id="42" name="Text 34"/>
          <p:cNvSpPr/>
          <p:nvPr/>
        </p:nvSpPr>
        <p:spPr>
          <a:xfrm>
            <a:off x="932688" y="4498848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二十分钟，回答三个问题</a:t>
            </a:r>
            <a:endParaRPr lang="en-US" sz="1900" dirty="0"/>
          </a:p>
        </p:txBody>
      </p:sp>
      <p:sp>
        <p:nvSpPr>
          <p:cNvPr id="43" name="Text 35"/>
          <p:cNvSpPr/>
          <p:nvPr/>
        </p:nvSpPr>
        <p:spPr>
          <a:xfrm>
            <a:off x="932688" y="51023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44" name="Text 36"/>
          <p:cNvSpPr/>
          <p:nvPr/>
        </p:nvSpPr>
        <p:spPr>
          <a:xfrm>
            <a:off x="932688" y="53400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突破在哪</a:t>
            </a:r>
            <a:endParaRPr lang="en-US" sz="1300" dirty="0"/>
          </a:p>
        </p:txBody>
      </p:sp>
      <p:sp>
        <p:nvSpPr>
          <p:cNvPr id="45" name="Text 37"/>
          <p:cNvSpPr/>
          <p:nvPr/>
        </p:nvSpPr>
        <p:spPr>
          <a:xfrm>
            <a:off x="932688" y="56327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商汤的 AIGC 创新走到了哪一步</a:t>
            </a:r>
            <a:endParaRPr lang="en-US" sz="960" dirty="0"/>
          </a:p>
        </p:txBody>
      </p:sp>
      <p:sp>
        <p:nvSpPr>
          <p:cNvPr id="46" name="Text 38"/>
          <p:cNvSpPr/>
          <p:nvPr/>
        </p:nvSpPr>
        <p:spPr>
          <a:xfrm>
            <a:off x="3675888" y="51023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47" name="Text 39"/>
          <p:cNvSpPr/>
          <p:nvPr/>
        </p:nvSpPr>
        <p:spPr>
          <a:xfrm>
            <a:off x="3675888" y="53400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新在何处</a:t>
            </a:r>
            <a:endParaRPr lang="en-US" sz="1300" dirty="0"/>
          </a:p>
        </p:txBody>
      </p:sp>
      <p:sp>
        <p:nvSpPr>
          <p:cNvPr id="48" name="Text 40"/>
          <p:cNvSpPr/>
          <p:nvPr/>
        </p:nvSpPr>
        <p:spPr>
          <a:xfrm>
            <a:off x="3675888" y="56327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AIGC 带来了哪些新质生产力</a:t>
            </a:r>
            <a:endParaRPr lang="en-US" sz="960" dirty="0"/>
          </a:p>
        </p:txBody>
      </p:sp>
      <p:sp>
        <p:nvSpPr>
          <p:cNvPr id="49" name="Text 41"/>
          <p:cNvSpPr/>
          <p:nvPr/>
        </p:nvSpPr>
        <p:spPr>
          <a:xfrm>
            <a:off x="6419088" y="51023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50" name="Text 42"/>
          <p:cNvSpPr/>
          <p:nvPr/>
        </p:nvSpPr>
        <p:spPr>
          <a:xfrm>
            <a:off x="6419088" y="53400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路怎么走</a:t>
            </a:r>
            <a:endParaRPr lang="en-US" sz="1300" dirty="0"/>
          </a:p>
        </p:txBody>
      </p:sp>
      <p:sp>
        <p:nvSpPr>
          <p:cNvPr id="51" name="Text 43"/>
          <p:cNvSpPr/>
          <p:nvPr/>
        </p:nvSpPr>
        <p:spPr>
          <a:xfrm>
            <a:off x="6419088" y="56327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企业如何用上 AI、用好 AI</a:t>
            </a:r>
            <a:endParaRPr lang="en-US" sz="960" dirty="0"/>
          </a:p>
        </p:txBody>
      </p:sp>
      <p:sp>
        <p:nvSpPr>
          <p:cNvPr id="52" name="Shape 44"/>
          <p:cNvSpPr/>
          <p:nvPr/>
        </p:nvSpPr>
        <p:spPr>
          <a:xfrm>
            <a:off x="9070848" y="4242816"/>
            <a:ext cx="0" cy="1554480"/>
          </a:xfrm>
          <a:prstGeom prst="line">
            <a:avLst/>
          </a:prstGeom>
          <a:noFill/>
          <a:ln w="12700">
            <a:solidFill>
              <a:srgbClr val="2C4A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Text 45"/>
          <p:cNvSpPr/>
          <p:nvPr/>
        </p:nvSpPr>
        <p:spPr>
          <a:xfrm>
            <a:off x="9299448" y="431596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一个约定</a:t>
            </a:r>
            <a:endParaRPr lang="en-US" sz="1300" dirty="0"/>
          </a:p>
        </p:txBody>
      </p:sp>
      <p:sp>
        <p:nvSpPr>
          <p:cNvPr id="54" name="Text 46"/>
          <p:cNvSpPr/>
          <p:nvPr/>
        </p:nvSpPr>
        <p:spPr>
          <a:xfrm>
            <a:off x="9299448" y="4681728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不堆技术参数，只讲价值与路径 —— 用产业里的真实场景说话。</a:t>
            </a:r>
            <a:endParaRPr lang="en-US" sz="9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 · CONTENTS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今天的四个部分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四步层层递进：从时代之问到商汤突破，从场景赋能落到企业怎么用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9221" y="329184"/>
            <a:ext cx="1105546" cy="310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372917" y="356616"/>
            <a:ext cx="0" cy="256032"/>
          </a:xfrm>
          <a:prstGeom prst="line">
            <a:avLst/>
          </a:prstGeom>
          <a:noFill/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1" descr="gfy_logo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5499" y="329184"/>
            <a:ext cx="1601114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 AIGC 创新赋能新质生产力   |   北大合肥论坛 · 新质生产力与智能经济   |   商汤科技 SenseTime</a:t>
            </a:r>
            <a:endParaRPr lang="en-US" sz="760" dirty="0"/>
          </a:p>
        </p:txBody>
      </p:sp>
      <p:sp>
        <p:nvSpPr>
          <p:cNvPr id="10" name="Text 6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37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66928" y="1737360"/>
            <a:ext cx="11057839" cy="859536"/>
          </a:xfrm>
          <a:prstGeom prst="roundRect">
            <a:avLst>
              <a:gd name="adj" fmla="val 9574"/>
            </a:avLst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8"/>
          <p:cNvSpPr/>
          <p:nvPr/>
        </p:nvSpPr>
        <p:spPr>
          <a:xfrm>
            <a:off x="841248" y="1938528"/>
            <a:ext cx="457200" cy="457200"/>
          </a:xfrm>
          <a:prstGeom prst="ellipse">
            <a:avLst/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9"/>
          <p:cNvSpPr/>
          <p:nvPr/>
        </p:nvSpPr>
        <p:spPr>
          <a:xfrm>
            <a:off x="841248" y="1929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536192" y="1737360"/>
            <a:ext cx="2651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时代之问</a:t>
            </a:r>
            <a:endParaRPr lang="en-US" sz="1650" dirty="0"/>
          </a:p>
        </p:txBody>
      </p:sp>
      <p:sp>
        <p:nvSpPr>
          <p:cNvPr id="15" name="Shape 11"/>
          <p:cNvSpPr/>
          <p:nvPr/>
        </p:nvSpPr>
        <p:spPr>
          <a:xfrm>
            <a:off x="4224528" y="1920240"/>
            <a:ext cx="0" cy="493776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2"/>
          <p:cNvSpPr/>
          <p:nvPr/>
        </p:nvSpPr>
        <p:spPr>
          <a:xfrm>
            <a:off x="4498848" y="1737360"/>
            <a:ext cx="6120079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智能经济的典型特征是什么 —— 生产活动正在 Token 化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10838383" y="1911096"/>
            <a:ext cx="512064" cy="51206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1520" y="2044233"/>
            <a:ext cx="245791" cy="245791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66928" y="2724912"/>
            <a:ext cx="11057839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5"/>
          <p:cNvSpPr/>
          <p:nvPr/>
        </p:nvSpPr>
        <p:spPr>
          <a:xfrm>
            <a:off x="841248" y="2926080"/>
            <a:ext cx="457200" cy="457200"/>
          </a:xfrm>
          <a:prstGeom prst="ellipse">
            <a:avLst/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6"/>
          <p:cNvSpPr/>
          <p:nvPr/>
        </p:nvSpPr>
        <p:spPr>
          <a:xfrm>
            <a:off x="841248" y="2916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536192" y="2724912"/>
            <a:ext cx="2651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商汤突破</a:t>
            </a:r>
            <a:endParaRPr lang="en-US" sz="1650" dirty="0"/>
          </a:p>
        </p:txBody>
      </p:sp>
      <p:sp>
        <p:nvSpPr>
          <p:cNvPr id="23" name="Shape 18"/>
          <p:cNvSpPr/>
          <p:nvPr/>
        </p:nvSpPr>
        <p:spPr>
          <a:xfrm>
            <a:off x="4224528" y="2907792"/>
            <a:ext cx="0" cy="493776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19"/>
          <p:cNvSpPr/>
          <p:nvPr/>
        </p:nvSpPr>
        <p:spPr>
          <a:xfrm>
            <a:off x="4498848" y="2724912"/>
            <a:ext cx="6120079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CV 到 AIGC：全模态大模型、世界模型与 S2 旗舰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10838383" y="2898648"/>
            <a:ext cx="512064" cy="51206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1520" y="3031785"/>
            <a:ext cx="245791" cy="245791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566928" y="3712464"/>
            <a:ext cx="11057839" cy="859536"/>
          </a:xfrm>
          <a:prstGeom prst="roundRect">
            <a:avLst>
              <a:gd name="adj" fmla="val 9574"/>
            </a:avLst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2"/>
          <p:cNvSpPr/>
          <p:nvPr/>
        </p:nvSpPr>
        <p:spPr>
          <a:xfrm>
            <a:off x="841248" y="3913632"/>
            <a:ext cx="457200" cy="457200"/>
          </a:xfrm>
          <a:prstGeom prst="ellipse">
            <a:avLst/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3"/>
          <p:cNvSpPr/>
          <p:nvPr/>
        </p:nvSpPr>
        <p:spPr>
          <a:xfrm>
            <a:off x="841248" y="3904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1536192" y="3712464"/>
            <a:ext cx="2651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场景赋能</a:t>
            </a:r>
            <a:endParaRPr lang="en-US" sz="1650" dirty="0"/>
          </a:p>
        </p:txBody>
      </p:sp>
      <p:sp>
        <p:nvSpPr>
          <p:cNvPr id="31" name="Shape 25"/>
          <p:cNvSpPr/>
          <p:nvPr/>
        </p:nvSpPr>
        <p:spPr>
          <a:xfrm>
            <a:off x="4224528" y="3895344"/>
            <a:ext cx="0" cy="493776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26"/>
          <p:cNvSpPr/>
          <p:nvPr/>
        </p:nvSpPr>
        <p:spPr>
          <a:xfrm>
            <a:off x="4498848" y="3712464"/>
            <a:ext cx="6120079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代码办公、内容创意、实体门店、产业纵深 —— 生产函数在改变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10838383" y="3886200"/>
            <a:ext cx="512064" cy="51206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1520" y="4019337"/>
            <a:ext cx="245791" cy="245791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566928" y="4700016"/>
            <a:ext cx="11057839" cy="859536"/>
          </a:xfrm>
          <a:prstGeom prst="roundRect">
            <a:avLst>
              <a:gd name="adj" fmla="val 9574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29"/>
          <p:cNvSpPr/>
          <p:nvPr/>
        </p:nvSpPr>
        <p:spPr>
          <a:xfrm>
            <a:off x="841248" y="4901184"/>
            <a:ext cx="457200" cy="457200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0"/>
          <p:cNvSpPr/>
          <p:nvPr/>
        </p:nvSpPr>
        <p:spPr>
          <a:xfrm>
            <a:off x="841248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500" dirty="0"/>
          </a:p>
        </p:txBody>
      </p:sp>
      <p:sp>
        <p:nvSpPr>
          <p:cNvPr id="38" name="Text 31"/>
          <p:cNvSpPr/>
          <p:nvPr/>
        </p:nvSpPr>
        <p:spPr>
          <a:xfrm>
            <a:off x="1536192" y="4700016"/>
            <a:ext cx="2651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关键一公里</a:t>
            </a:r>
            <a:endParaRPr lang="en-US" sz="1650" dirty="0"/>
          </a:p>
        </p:txBody>
      </p:sp>
      <p:sp>
        <p:nvSpPr>
          <p:cNvPr id="39" name="Shape 32"/>
          <p:cNvSpPr/>
          <p:nvPr/>
        </p:nvSpPr>
        <p:spPr>
          <a:xfrm>
            <a:off x="4224528" y="4882896"/>
            <a:ext cx="0" cy="493776"/>
          </a:xfrm>
          <a:prstGeom prst="line">
            <a:avLst/>
          </a:prstGeom>
          <a:noFill/>
          <a:ln w="12700">
            <a:solidFill>
              <a:srgbClr val="2C4A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3"/>
          <p:cNvSpPr/>
          <p:nvPr/>
        </p:nvSpPr>
        <p:spPr>
          <a:xfrm>
            <a:off x="4498848" y="4700016"/>
            <a:ext cx="6120079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Plan：三支柱 · 双模式 · 16 款模型 · 开放不锁定 · FDE 陪跑</a:t>
            </a:r>
            <a:endParaRPr lang="en-US" sz="1150" dirty="0"/>
          </a:p>
        </p:txBody>
      </p:sp>
      <p:sp>
        <p:nvSpPr>
          <p:cNvPr id="41" name="Shape 34"/>
          <p:cNvSpPr/>
          <p:nvPr/>
        </p:nvSpPr>
        <p:spPr>
          <a:xfrm>
            <a:off x="10838383" y="4873752"/>
            <a:ext cx="512064" cy="512064"/>
          </a:xfrm>
          <a:prstGeom prst="ellipse">
            <a:avLst/>
          </a:prstGeom>
          <a:solidFill>
            <a:srgbClr val="12365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1520" y="5006889"/>
            <a:ext cx="245791" cy="245791"/>
          </a:xfrm>
          <a:prstGeom prst="rect">
            <a:avLst/>
          </a:prstGeom>
        </p:spPr>
      </p:pic>
      <p:sp>
        <p:nvSpPr>
          <p:cNvPr id="43" name="Shape 35"/>
          <p:cNvSpPr/>
          <p:nvPr/>
        </p:nvSpPr>
        <p:spPr>
          <a:xfrm>
            <a:off x="566928" y="5760720"/>
            <a:ext cx="11057839" cy="457200"/>
          </a:xfrm>
          <a:prstGeom prst="roundRect">
            <a:avLst>
              <a:gd name="adj" fmla="val 18000"/>
            </a:avLst>
          </a:prstGeom>
          <a:solidFill>
            <a:srgbClr val="EEF3F9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4" name="Text 36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重点在第四部分 —— Token Plan：企业用上 AI、用好 AI 的关键一公里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737360"/>
            <a:ext cx="5486400" cy="5486400"/>
          </a:xfrm>
          <a:prstGeom prst="ellipse">
            <a:avLst/>
          </a:prstGeom>
          <a:solidFill>
            <a:srgbClr val="2C6498">
              <a:alpha val="1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9966960" y="3108960"/>
            <a:ext cx="4206240" cy="4206240"/>
          </a:xfrm>
          <a:prstGeom prst="ellipse">
            <a:avLst/>
          </a:prstGeom>
          <a:solidFill>
            <a:srgbClr val="C2A14B">
              <a:alpha val="1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9052560" y="731520"/>
            <a:ext cx="4206240" cy="4206240"/>
          </a:xfrm>
          <a:prstGeom prst="ellipse">
            <a:avLst/>
          </a:prstGeom>
          <a:noFill/>
          <a:ln w="12700">
            <a:solidFill>
              <a:srgbClr val="7AA0C4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03504" y="16276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6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12064" y="1847088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 kern="0" spc="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5000" dirty="0"/>
          </a:p>
        </p:txBody>
      </p:sp>
      <p:sp>
        <p:nvSpPr>
          <p:cNvPr id="7" name="Shape 5"/>
          <p:cNvSpPr/>
          <p:nvPr/>
        </p:nvSpPr>
        <p:spPr>
          <a:xfrm>
            <a:off x="621792" y="4114800"/>
            <a:ext cx="1371600" cy="41148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66928" y="42976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时代之问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585216" y="499262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7AA0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QUESTION OF OUR TIME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5216" y="537667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智能经济的典型特征是什么？—— 先看清时代的问题，再谈企业的答案：它不是将来时，而是进行时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83880" y="19659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430768" y="18470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新质生产力，「新」在哪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83880" y="24231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430768" y="23042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智能经济长什么样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83880" y="28803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430768" y="27614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= 新的「用电量」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83880" y="33375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430768" y="32186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 7 倍的增长曲线</a:t>
            </a:r>
            <a:endParaRPr lang="en-US" sz="1250" dirty="0"/>
          </a:p>
        </p:txBody>
      </p:sp>
      <p:pic>
        <p:nvPicPr>
          <p:cNvPr id="19" name="Image 0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9221" y="329184"/>
            <a:ext cx="1105546" cy="310896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10372917" y="356616"/>
            <a:ext cx="0" cy="256032"/>
          </a:xfrm>
          <a:prstGeom prst="line">
            <a:avLst/>
          </a:prstGeom>
          <a:noFill/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1" name="Image 1" descr="gfy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5499" y="329184"/>
            <a:ext cx="1601114" cy="31089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7F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 AIGC 创新赋能新质生产力   |   北大合肥论坛 · 新质生产力与智能经济   |   商汤科技 SenseTime</a:t>
            </a:r>
            <a:endParaRPr lang="en-US" sz="760" dirty="0"/>
          </a:p>
        </p:txBody>
      </p:sp>
      <p:sp>
        <p:nvSpPr>
          <p:cNvPr id="23" name="Text 19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r>
              <a:rPr lang="en-US" sz="900" dirty="0">
                <a:solidFill>
                  <a:srgbClr val="7F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37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 · 新质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新质生产力的「新」，AI 给得出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对照官方三个关键词 —— 高科技、高效能、高质量，AIGC 每一条都接得住，落点是全要素生产率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9221" y="329184"/>
            <a:ext cx="1105546" cy="310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372917" y="356616"/>
            <a:ext cx="0" cy="256032"/>
          </a:xfrm>
          <a:prstGeom prst="line">
            <a:avLst/>
          </a:prstGeom>
          <a:noFill/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1" descr="gfy_logo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5499" y="329184"/>
            <a:ext cx="1601114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 AIGC 创新赋能新质生产力   |   北大合肥论坛 · 新质生产力与智能经济   |   商汤科技 SenseTime</a:t>
            </a:r>
            <a:endParaRPr lang="en-US" sz="760" dirty="0"/>
          </a:p>
        </p:txBody>
      </p:sp>
      <p:sp>
        <p:nvSpPr>
          <p:cNvPr id="10" name="Text 6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37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66928" y="1810512"/>
            <a:ext cx="3442106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8"/>
          <p:cNvSpPr/>
          <p:nvPr/>
        </p:nvSpPr>
        <p:spPr>
          <a:xfrm>
            <a:off x="566928" y="1810512"/>
            <a:ext cx="3442106" cy="82296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9"/>
          <p:cNvSpPr/>
          <p:nvPr/>
        </p:nvSpPr>
        <p:spPr>
          <a:xfrm>
            <a:off x="859536" y="2157984"/>
            <a:ext cx="713232" cy="713232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109" y="2350557"/>
            <a:ext cx="328087" cy="32808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737360" y="2212848"/>
            <a:ext cx="20705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技术革命性突破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1737360" y="2468880"/>
            <a:ext cx="207050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高科技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859536" y="3163824"/>
            <a:ext cx="28568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大模型正是这一轮革命性突破的主角：从读懂文字，到看懂世界、生成世界，能力还在逐月跃迁。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59536" y="4261104"/>
            <a:ext cx="285689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4"/>
          <p:cNvSpPr/>
          <p:nvPr/>
        </p:nvSpPr>
        <p:spPr>
          <a:xfrm>
            <a:off x="859536" y="4370832"/>
            <a:ext cx="2856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64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</a:t>
            </a:r>
            <a:r>
              <a:rPr lang="en-US" sz="9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新在源头：原创技术代际跃迁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374794" y="1810512"/>
            <a:ext cx="3442106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6"/>
          <p:cNvSpPr/>
          <p:nvPr/>
        </p:nvSpPr>
        <p:spPr>
          <a:xfrm>
            <a:off x="4374794" y="1810512"/>
            <a:ext cx="3442106" cy="82296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7"/>
          <p:cNvSpPr/>
          <p:nvPr/>
        </p:nvSpPr>
        <p:spPr>
          <a:xfrm>
            <a:off x="4667402" y="2157984"/>
            <a:ext cx="713232" cy="713232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9975" y="2350557"/>
            <a:ext cx="328087" cy="32808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45226" y="2212848"/>
            <a:ext cx="20705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生产要素创新性配置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5545226" y="2468880"/>
            <a:ext cx="207050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高效能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4667402" y="3163824"/>
            <a:ext cx="28568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数据成了新原料、算力成了新动力、人人配上 AI 助理 —— 老要素的新组合，效率不是加法是乘法。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667402" y="4261104"/>
            <a:ext cx="285689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2"/>
          <p:cNvSpPr/>
          <p:nvPr/>
        </p:nvSpPr>
        <p:spPr>
          <a:xfrm>
            <a:off x="4667402" y="4370832"/>
            <a:ext cx="2856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</a:t>
            </a:r>
            <a:r>
              <a:rPr lang="en-US" sz="9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新在组合：要素配置效率倍增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8182661" y="1810512"/>
            <a:ext cx="3442106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4"/>
          <p:cNvSpPr/>
          <p:nvPr/>
        </p:nvSpPr>
        <p:spPr>
          <a:xfrm>
            <a:off x="8182661" y="1810512"/>
            <a:ext cx="3442106" cy="82296"/>
          </a:xfrm>
          <a:prstGeom prst="rect">
            <a:avLst/>
          </a:prstGeom>
          <a:solidFill>
            <a:srgbClr val="2C80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5"/>
          <p:cNvSpPr/>
          <p:nvPr/>
        </p:nvSpPr>
        <p:spPr>
          <a:xfrm>
            <a:off x="8475269" y="2157984"/>
            <a:ext cx="713232" cy="713232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841" y="2350557"/>
            <a:ext cx="328087" cy="328087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353093" y="2212848"/>
            <a:ext cx="20705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产业深度转型升级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9353093" y="2468880"/>
            <a:ext cx="207050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高质量</a:t>
            </a:r>
            <a:endParaRPr lang="en-US" sz="2000" dirty="0"/>
          </a:p>
        </p:txBody>
      </p:sp>
      <p:sp>
        <p:nvSpPr>
          <p:cNvPr id="35" name="Text 28"/>
          <p:cNvSpPr/>
          <p:nvPr/>
        </p:nvSpPr>
        <p:spPr>
          <a:xfrm>
            <a:off x="8475269" y="3163824"/>
            <a:ext cx="28568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不止于问答演示，而是走进研发、产线与门店的核心流程，推动产业从数字化迈向智能化。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8475269" y="4261104"/>
            <a:ext cx="285689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0"/>
          <p:cNvSpPr/>
          <p:nvPr/>
        </p:nvSpPr>
        <p:spPr>
          <a:xfrm>
            <a:off x="8475269" y="4370832"/>
            <a:ext cx="2856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80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</a:t>
            </a:r>
            <a:r>
              <a:rPr lang="en-US" sz="9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新在结构：产业向智能化跃升</a:t>
            </a:r>
            <a:endParaRPr lang="en-US" sz="950" dirty="0"/>
          </a:p>
        </p:txBody>
      </p:sp>
      <p:sp>
        <p:nvSpPr>
          <p:cNvPr id="38" name="Shape 31"/>
          <p:cNvSpPr/>
          <p:nvPr/>
        </p:nvSpPr>
        <p:spPr>
          <a:xfrm>
            <a:off x="566928" y="5074920"/>
            <a:ext cx="11057839" cy="777240"/>
          </a:xfrm>
          <a:prstGeom prst="roundRect">
            <a:avLst>
              <a:gd name="adj" fmla="val 10588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2"/>
          <p:cNvSpPr/>
          <p:nvPr/>
        </p:nvSpPr>
        <p:spPr>
          <a:xfrm>
            <a:off x="566928" y="5074920"/>
            <a:ext cx="91440" cy="777240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3"/>
          <p:cNvSpPr/>
          <p:nvPr/>
        </p:nvSpPr>
        <p:spPr>
          <a:xfrm>
            <a:off x="914400" y="507492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一个落点</a:t>
            </a:r>
            <a:endParaRPr lang="en-US" sz="1300" dirty="0"/>
          </a:p>
        </p:txBody>
      </p:sp>
      <p:sp>
        <p:nvSpPr>
          <p:cNvPr id="41" name="Text 34"/>
          <p:cNvSpPr/>
          <p:nvPr/>
        </p:nvSpPr>
        <p:spPr>
          <a:xfrm>
            <a:off x="2167128" y="5074920"/>
            <a:ext cx="91375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三个「高」指向同一个落点：全要素生产率大幅提升 —— 而 AIGC，正是新质生产力最典型的载体。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 · 信号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智能经济的确定性信号：Token 是新「用电量」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电气化时代看用电量，智能化时代看 Token 消耗 —— 生产活动正在一笔一笔地 token 化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9221" y="329184"/>
            <a:ext cx="1105546" cy="310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372917" y="356616"/>
            <a:ext cx="0" cy="256032"/>
          </a:xfrm>
          <a:prstGeom prst="line">
            <a:avLst/>
          </a:prstGeom>
          <a:noFill/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1" descr="gfy_logo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5499" y="329184"/>
            <a:ext cx="1601114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 AIGC 创新赋能新质生产力   |   北大合肥论坛 · 新质生产力与智能经济   |   商汤科技 SenseTime</a:t>
            </a:r>
            <a:endParaRPr lang="en-US" sz="760" dirty="0"/>
          </a:p>
        </p:txBody>
      </p:sp>
      <p:sp>
        <p:nvSpPr>
          <p:cNvPr id="10" name="Text 6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37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66928" y="1828800"/>
            <a:ext cx="3291840" cy="3017520"/>
          </a:xfrm>
          <a:prstGeom prst="roundRect">
            <a:avLst>
              <a:gd name="adj" fmla="val 2727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8"/>
          <p:cNvSpPr/>
          <p:nvPr/>
        </p:nvSpPr>
        <p:spPr>
          <a:xfrm>
            <a:off x="566928" y="1828800"/>
            <a:ext cx="3291840" cy="82296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9"/>
          <p:cNvSpPr/>
          <p:nvPr/>
        </p:nvSpPr>
        <p:spPr>
          <a:xfrm>
            <a:off x="3035808" y="2103120"/>
            <a:ext cx="548640" cy="548640"/>
          </a:xfrm>
          <a:prstGeom prst="ellipse">
            <a:avLst/>
          </a:prstGeom>
          <a:solidFill>
            <a:srgbClr val="12365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3941" y="2251253"/>
            <a:ext cx="252374" cy="25237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1248" y="213969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微观印证 · 商汤 Token Plan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822960" y="245059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倍</a:t>
            </a:r>
            <a:endParaRPr lang="en-US" sz="4200" dirty="0"/>
          </a:p>
        </p:txBody>
      </p:sp>
      <p:sp>
        <p:nvSpPr>
          <p:cNvPr id="17" name="Text 12"/>
          <p:cNvSpPr/>
          <p:nvPr/>
        </p:nvSpPr>
        <p:spPr>
          <a:xfrm>
            <a:off x="841248" y="331012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两个月，用量 7 倍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41248" y="3712464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Plan 今年 5 月推出 —— 企业不是在讨论 AI，而是在按下开关、真金白银地消耗 AI。</a:t>
            </a:r>
            <a:endParaRPr lang="en-US" sz="1040" dirty="0"/>
          </a:p>
        </p:txBody>
      </p:sp>
      <p:sp>
        <p:nvSpPr>
          <p:cNvPr id="19" name="Shape 14"/>
          <p:cNvSpPr/>
          <p:nvPr/>
        </p:nvSpPr>
        <p:spPr>
          <a:xfrm>
            <a:off x="4133088" y="1828800"/>
            <a:ext cx="36086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5"/>
          <p:cNvSpPr/>
          <p:nvPr/>
        </p:nvSpPr>
        <p:spPr>
          <a:xfrm>
            <a:off x="4352544" y="2029968"/>
            <a:ext cx="493776" cy="49377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926" y="2158350"/>
            <a:ext cx="237012" cy="2370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92624" y="2011680"/>
            <a:ext cx="2602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生产活动正在 Token 化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4992624" y="2322576"/>
            <a:ext cx="2602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定性趋势</a:t>
            </a:r>
            <a:endParaRPr lang="en-US" sz="850" dirty="0"/>
          </a:p>
        </p:txBody>
      </p:sp>
      <p:sp>
        <p:nvSpPr>
          <p:cNvPr id="24" name="Text 18"/>
          <p:cNvSpPr/>
          <p:nvPr/>
        </p:nvSpPr>
        <p:spPr>
          <a:xfrm>
            <a:off x="4352544" y="2615184"/>
            <a:ext cx="3169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写代码、做分析、生成视频、巡检门店 —— 越来越多的工作产出，开始以 Token 计量、按用量交付。</a:t>
            </a:r>
            <a:endParaRPr lang="en-US" sz="960" dirty="0"/>
          </a:p>
        </p:txBody>
      </p:sp>
      <p:sp>
        <p:nvSpPr>
          <p:cNvPr id="25" name="Shape 19"/>
          <p:cNvSpPr/>
          <p:nvPr/>
        </p:nvSpPr>
        <p:spPr>
          <a:xfrm>
            <a:off x="8016088" y="1828800"/>
            <a:ext cx="36086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0"/>
          <p:cNvSpPr/>
          <p:nvPr/>
        </p:nvSpPr>
        <p:spPr>
          <a:xfrm>
            <a:off x="8235544" y="2029968"/>
            <a:ext cx="493776" cy="49377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3925" y="2158350"/>
            <a:ext cx="237012" cy="23701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875624" y="2011680"/>
            <a:ext cx="2602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成本曲线一路向下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8875624" y="2322576"/>
            <a:ext cx="2602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定性趋势</a:t>
            </a:r>
            <a:endParaRPr lang="en-US" sz="850" dirty="0"/>
          </a:p>
        </p:txBody>
      </p:sp>
      <p:sp>
        <p:nvSpPr>
          <p:cNvPr id="30" name="Text 23"/>
          <p:cNvSpPr/>
          <p:nvPr/>
        </p:nvSpPr>
        <p:spPr>
          <a:xfrm>
            <a:off x="8235544" y="2615184"/>
            <a:ext cx="3169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同等能力的调用成本持续下降，像早年的电价：越便宜、越渗透；越渗透、越离不开。</a:t>
            </a:r>
            <a:endParaRPr lang="en-US" sz="960" dirty="0"/>
          </a:p>
        </p:txBody>
      </p:sp>
      <p:sp>
        <p:nvSpPr>
          <p:cNvPr id="31" name="Shape 24"/>
          <p:cNvSpPr/>
          <p:nvPr/>
        </p:nvSpPr>
        <p:spPr>
          <a:xfrm>
            <a:off x="4133088" y="3429000"/>
            <a:ext cx="36086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25"/>
          <p:cNvSpPr/>
          <p:nvPr/>
        </p:nvSpPr>
        <p:spPr>
          <a:xfrm>
            <a:off x="4352544" y="3630168"/>
            <a:ext cx="493776" cy="49377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0926" y="3758550"/>
            <a:ext cx="237012" cy="23701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992624" y="3611880"/>
            <a:ext cx="2602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能力曲线一路向上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4992624" y="3922776"/>
            <a:ext cx="2602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定性趋势</a:t>
            </a:r>
            <a:endParaRPr lang="en-US" sz="850" dirty="0"/>
          </a:p>
        </p:txBody>
      </p:sp>
      <p:sp>
        <p:nvSpPr>
          <p:cNvPr id="36" name="Text 28"/>
          <p:cNvSpPr/>
          <p:nvPr/>
        </p:nvSpPr>
        <p:spPr>
          <a:xfrm>
            <a:off x="4352544" y="4215384"/>
            <a:ext cx="3169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模型从会答题到会干活再到进流程，能力持续跃迁 —— 今天的天花板，就是明天的起跑线。</a:t>
            </a:r>
            <a:endParaRPr lang="en-US" sz="960" dirty="0"/>
          </a:p>
        </p:txBody>
      </p:sp>
      <p:sp>
        <p:nvSpPr>
          <p:cNvPr id="37" name="Shape 29"/>
          <p:cNvSpPr/>
          <p:nvPr/>
        </p:nvSpPr>
        <p:spPr>
          <a:xfrm>
            <a:off x="8016088" y="3429000"/>
            <a:ext cx="36086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0"/>
          <p:cNvSpPr/>
          <p:nvPr/>
        </p:nvSpPr>
        <p:spPr>
          <a:xfrm>
            <a:off x="8235544" y="3630168"/>
            <a:ext cx="493776" cy="49377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3925" y="3758550"/>
            <a:ext cx="237012" cy="237012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8875624" y="3611880"/>
            <a:ext cx="2602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+25% / +40%  </a:t>
            </a:r>
            <a:r>
              <a:rPr lang="en-US" sz="12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人效红利有实证</a:t>
            </a:r>
            <a:endParaRPr lang="en-US" sz="1250" dirty="0"/>
          </a:p>
        </p:txBody>
      </p:sp>
      <p:sp>
        <p:nvSpPr>
          <p:cNvPr id="41" name="Text 32"/>
          <p:cNvSpPr/>
          <p:nvPr/>
        </p:nvSpPr>
        <p:spPr>
          <a:xfrm>
            <a:off x="8875624" y="3922776"/>
            <a:ext cx="2602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哈佛 × BCG</a:t>
            </a:r>
            <a:endParaRPr lang="en-US" sz="850" dirty="0"/>
          </a:p>
        </p:txBody>
      </p:sp>
      <p:sp>
        <p:nvSpPr>
          <p:cNvPr id="42" name="Text 33"/>
          <p:cNvSpPr/>
          <p:nvPr/>
        </p:nvSpPr>
        <p:spPr>
          <a:xfrm>
            <a:off x="8235544" y="4215384"/>
            <a:ext cx="3169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AI 的知识工作者，任务完成速度提升 25%、质量提升 40% —— 生产率红利已被严谨验证。</a:t>
            </a:r>
            <a:endParaRPr lang="en-US" sz="960" dirty="0"/>
          </a:p>
        </p:txBody>
      </p:sp>
      <p:sp>
        <p:nvSpPr>
          <p:cNvPr id="43" name="Shape 34"/>
          <p:cNvSpPr/>
          <p:nvPr/>
        </p:nvSpPr>
        <p:spPr>
          <a:xfrm>
            <a:off x="566928" y="5074920"/>
            <a:ext cx="11057839" cy="777240"/>
          </a:xfrm>
          <a:prstGeom prst="roundRect">
            <a:avLst>
              <a:gd name="adj" fmla="val 10588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35"/>
          <p:cNvSpPr/>
          <p:nvPr/>
        </p:nvSpPr>
        <p:spPr>
          <a:xfrm>
            <a:off x="566928" y="5074920"/>
            <a:ext cx="91440" cy="777240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36"/>
          <p:cNvSpPr/>
          <p:nvPr/>
        </p:nvSpPr>
        <p:spPr>
          <a:xfrm>
            <a:off x="914400" y="507492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一个判断</a:t>
            </a:r>
            <a:endParaRPr lang="en-US" sz="1300" dirty="0"/>
          </a:p>
        </p:txBody>
      </p:sp>
      <p:sp>
        <p:nvSpPr>
          <p:cNvPr id="46" name="Text 37"/>
          <p:cNvSpPr/>
          <p:nvPr/>
        </p:nvSpPr>
        <p:spPr>
          <a:xfrm>
            <a:off x="2167128" y="5074920"/>
            <a:ext cx="91375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判断智能经济来没来，别听观点，看电表 —— 一家企业的 Token 消耗曲线，就是它最诚实的智能化「用电量」。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737360"/>
            <a:ext cx="5486400" cy="5486400"/>
          </a:xfrm>
          <a:prstGeom prst="ellipse">
            <a:avLst/>
          </a:prstGeom>
          <a:solidFill>
            <a:srgbClr val="2C6498">
              <a:alpha val="1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9966960" y="3108960"/>
            <a:ext cx="4206240" cy="4206240"/>
          </a:xfrm>
          <a:prstGeom prst="ellipse">
            <a:avLst/>
          </a:prstGeom>
          <a:solidFill>
            <a:srgbClr val="C2A14B">
              <a:alpha val="1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9052560" y="731520"/>
            <a:ext cx="4206240" cy="4206240"/>
          </a:xfrm>
          <a:prstGeom prst="ellipse">
            <a:avLst/>
          </a:prstGeom>
          <a:noFill/>
          <a:ln w="12700">
            <a:solidFill>
              <a:srgbClr val="7AA0C4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03504" y="16276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6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12064" y="1847088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 kern="0" spc="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5000" dirty="0"/>
          </a:p>
        </p:txBody>
      </p:sp>
      <p:sp>
        <p:nvSpPr>
          <p:cNvPr id="7" name="Shape 5"/>
          <p:cNvSpPr/>
          <p:nvPr/>
        </p:nvSpPr>
        <p:spPr>
          <a:xfrm>
            <a:off x="621792" y="4114800"/>
            <a:ext cx="1371600" cy="41148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66928" y="42976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商汤突破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585216" y="499262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7AA0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AIGC BREAKTHROUGH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5216" y="537667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从「看懂世界」到「生成世界」—— 商汤把十余年视觉智能的积累，长成了 AIGC 的完整能力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83880" y="19659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430768" y="18470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CV 到 AIGC：一根主干上的两次跨越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83880" y="24231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430768" y="23042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 × 模型 × 应用：三位一体全栈布局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83880" y="28803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430768" y="27614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日日新全模态：看懂世界、生成世界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83880" y="33375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430768" y="32186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「开悟」世界模型：横扫四大榜单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83880" y="37947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430768" y="36758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S2 旗舰：全模态 · 全球第一梯队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183880" y="42519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430768" y="41330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6·24 成绩单：数字验证商业化</a:t>
            </a:r>
            <a:endParaRPr lang="en-US" sz="1250" dirty="0"/>
          </a:p>
        </p:txBody>
      </p:sp>
      <p:pic>
        <p:nvPicPr>
          <p:cNvPr id="23" name="Image 0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9221" y="329184"/>
            <a:ext cx="1105546" cy="310896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10372917" y="356616"/>
            <a:ext cx="0" cy="256032"/>
          </a:xfrm>
          <a:prstGeom prst="line">
            <a:avLst/>
          </a:prstGeom>
          <a:noFill/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5" name="Image 1" descr="gfy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5499" y="329184"/>
            <a:ext cx="1601114" cy="310896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7F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 AIGC 创新赋能新质生产力   |   北大合肥论坛 · 新质生产力与智能经济   |   商汤科技 SenseTime</a:t>
            </a:r>
            <a:endParaRPr lang="en-US" sz="760" dirty="0"/>
          </a:p>
        </p:txBody>
      </p:sp>
      <p:sp>
        <p:nvSpPr>
          <p:cNvPr id="27" name="Text 23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r>
              <a:rPr lang="en-US" sz="900" dirty="0">
                <a:solidFill>
                  <a:srgbClr val="7F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37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· 跨越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CV 到 AIGC：一根主干上的两次跨越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感知、认知、行动 —— 不是三次转行，而是同一棵深度学习之树上长出的三层新枝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9221" y="329184"/>
            <a:ext cx="1105546" cy="310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372917" y="356616"/>
            <a:ext cx="0" cy="256032"/>
          </a:xfrm>
          <a:prstGeom prst="line">
            <a:avLst/>
          </a:prstGeom>
          <a:noFill/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1" descr="gfy_logo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5499" y="329184"/>
            <a:ext cx="1601114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 AIGC 创新赋能新质生产力   |   北大合肥论坛 · 新质生产力与智能经济   |   商汤科技 SenseTime</a:t>
            </a:r>
            <a:endParaRPr lang="en-US" sz="760" dirty="0"/>
          </a:p>
        </p:txBody>
      </p:sp>
      <p:sp>
        <p:nvSpPr>
          <p:cNvPr id="10" name="Text 6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37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1024128" y="2212848"/>
            <a:ext cx="10143439" cy="0"/>
          </a:xfrm>
          <a:prstGeom prst="line">
            <a:avLst/>
          </a:prstGeom>
          <a:noFill/>
          <a:ln w="254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8"/>
          <p:cNvSpPr/>
          <p:nvPr/>
        </p:nvSpPr>
        <p:spPr>
          <a:xfrm>
            <a:off x="2025853" y="1965960"/>
            <a:ext cx="493776" cy="49377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4235" y="2094342"/>
            <a:ext cx="237012" cy="23701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566928" y="2578608"/>
            <a:ext cx="3411626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0"/>
          <p:cNvSpPr/>
          <p:nvPr/>
        </p:nvSpPr>
        <p:spPr>
          <a:xfrm>
            <a:off x="566928" y="2578608"/>
            <a:ext cx="3411626" cy="73152"/>
          </a:xfrm>
          <a:prstGeom prst="rect">
            <a:avLst/>
          </a:prstGeom>
          <a:solidFill>
            <a:srgbClr val="7AA0C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1"/>
          <p:cNvSpPr/>
          <p:nvPr/>
        </p:nvSpPr>
        <p:spPr>
          <a:xfrm>
            <a:off x="749808" y="2852928"/>
            <a:ext cx="30458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64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2014 起 · 感知智能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749808" y="3182112"/>
            <a:ext cx="304586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看懂世界</a:t>
            </a:r>
            <a:endParaRPr lang="en-US" sz="2400" dirty="0"/>
          </a:p>
        </p:txBody>
      </p:sp>
      <p:sp>
        <p:nvSpPr>
          <p:cNvPr id="18" name="Shape 13"/>
          <p:cNvSpPr/>
          <p:nvPr/>
        </p:nvSpPr>
        <p:spPr>
          <a:xfrm>
            <a:off x="1952701" y="3822192"/>
            <a:ext cx="640080" cy="0"/>
          </a:xfrm>
          <a:prstGeom prst="line">
            <a:avLst/>
          </a:prstGeom>
          <a:noFill/>
          <a:ln w="25400">
            <a:solidFill>
              <a:srgbClr val="7AA0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4"/>
          <p:cNvSpPr/>
          <p:nvPr/>
        </p:nvSpPr>
        <p:spPr>
          <a:xfrm>
            <a:off x="804672" y="3986784"/>
            <a:ext cx="29361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以视觉 AI 起家，图像与视频理解做到行业领先 —— 让机器第一次真正「看懂」现实世界。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005986" y="3675888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6"/>
          <p:cNvSpPr/>
          <p:nvPr/>
        </p:nvSpPr>
        <p:spPr>
          <a:xfrm>
            <a:off x="5848960" y="1965960"/>
            <a:ext cx="493776" cy="49377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7341" y="2094342"/>
            <a:ext cx="237012" cy="237012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390034" y="2578608"/>
            <a:ext cx="3411626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18"/>
          <p:cNvSpPr/>
          <p:nvPr/>
        </p:nvSpPr>
        <p:spPr>
          <a:xfrm>
            <a:off x="4390034" y="2578608"/>
            <a:ext cx="3411626" cy="73152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19"/>
          <p:cNvSpPr/>
          <p:nvPr/>
        </p:nvSpPr>
        <p:spPr>
          <a:xfrm>
            <a:off x="4572914" y="2852928"/>
            <a:ext cx="30458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64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 起 · 认知与生成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572914" y="3182112"/>
            <a:ext cx="304586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理解与生成</a:t>
            </a:r>
            <a:endParaRPr lang="en-US" sz="2400" dirty="0"/>
          </a:p>
        </p:txBody>
      </p:sp>
      <p:sp>
        <p:nvSpPr>
          <p:cNvPr id="27" name="Shape 21"/>
          <p:cNvSpPr/>
          <p:nvPr/>
        </p:nvSpPr>
        <p:spPr>
          <a:xfrm>
            <a:off x="5775808" y="3822192"/>
            <a:ext cx="640080" cy="0"/>
          </a:xfrm>
          <a:prstGeom prst="line">
            <a:avLst/>
          </a:prstGeom>
          <a:noFill/>
          <a:ln w="25400">
            <a:solidFill>
              <a:srgbClr val="2C649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2"/>
          <p:cNvSpPr/>
          <p:nvPr/>
        </p:nvSpPr>
        <p:spPr>
          <a:xfrm>
            <a:off x="4627778" y="3986784"/>
            <a:ext cx="29361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全面转向大模型：日日新体系既读得懂语言与图文，也能写、能画、能生成 —— 从理解世界走向创造内容。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7829093" y="3675888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30" name="Shape 24"/>
          <p:cNvSpPr/>
          <p:nvPr/>
        </p:nvSpPr>
        <p:spPr>
          <a:xfrm>
            <a:off x="9672066" y="1965960"/>
            <a:ext cx="493776" cy="493776"/>
          </a:xfrm>
          <a:prstGeom prst="ellipse">
            <a:avLst/>
          </a:prstGeom>
          <a:solidFill>
            <a:srgbClr val="0C2545"/>
          </a:solidFill>
          <a:ln w="15875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00448" y="2094342"/>
            <a:ext cx="237012" cy="237012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8213141" y="2578608"/>
            <a:ext cx="3411626" cy="2834640"/>
          </a:xfrm>
          <a:prstGeom prst="roundRect">
            <a:avLst>
              <a:gd name="adj" fmla="val 2903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26"/>
          <p:cNvSpPr/>
          <p:nvPr/>
        </p:nvSpPr>
        <p:spPr>
          <a:xfrm>
            <a:off x="8213141" y="2578608"/>
            <a:ext cx="3411626" cy="73152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27"/>
          <p:cNvSpPr/>
          <p:nvPr/>
        </p:nvSpPr>
        <p:spPr>
          <a:xfrm>
            <a:off x="8396021" y="2852928"/>
            <a:ext cx="30458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· 全模态 + Agent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8396021" y="3182112"/>
            <a:ext cx="304586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干活交付</a:t>
            </a:r>
            <a:endParaRPr lang="en-US" sz="2400" dirty="0"/>
          </a:p>
        </p:txBody>
      </p:sp>
      <p:sp>
        <p:nvSpPr>
          <p:cNvPr id="36" name="Shape 29"/>
          <p:cNvSpPr/>
          <p:nvPr/>
        </p:nvSpPr>
        <p:spPr>
          <a:xfrm>
            <a:off x="9598914" y="3822192"/>
            <a:ext cx="640080" cy="0"/>
          </a:xfrm>
          <a:prstGeom prst="line">
            <a:avLst/>
          </a:prstGeom>
          <a:noFill/>
          <a:ln w="25400">
            <a:solidFill>
              <a:srgbClr val="C2A1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0"/>
          <p:cNvSpPr/>
          <p:nvPr/>
        </p:nvSpPr>
        <p:spPr>
          <a:xfrm>
            <a:off x="8450885" y="3986784"/>
            <a:ext cx="29361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全模态大模型加上 Agent：不止回答问题，还能拆任务、用工具、交成果 —— AI 从「会说」走向「会做」。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566928" y="5715000"/>
            <a:ext cx="11057839" cy="475488"/>
          </a:xfrm>
          <a:prstGeom prst="roundRect">
            <a:avLst>
              <a:gd name="adj" fmla="val 17308"/>
            </a:avLst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2"/>
          <p:cNvSpPr/>
          <p:nvPr/>
        </p:nvSpPr>
        <p:spPr>
          <a:xfrm>
            <a:off x="841248" y="5715000"/>
            <a:ext cx="105091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两次跨越共用同一根技术主干：深度学习原创研究 × 大装置算力 —— 积累没有归零，而是一直在长高。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· 全栈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 × 模型 × 应用 —— 三位一体的全栈布局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算力喂模型、模型养应用、应用的真实用量再反哺模型 —— 国内少有的全栈闭环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9221" y="329184"/>
            <a:ext cx="1105546" cy="310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372917" y="356616"/>
            <a:ext cx="0" cy="256032"/>
          </a:xfrm>
          <a:prstGeom prst="line">
            <a:avLst/>
          </a:prstGeom>
          <a:noFill/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1" descr="gfy_logo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5499" y="329184"/>
            <a:ext cx="1601114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 AIGC 创新赋能新质生产力   |   北大合肥论坛 · 新质生产力与智能经济   |   商汤科技 SenseTime</a:t>
            </a:r>
            <a:endParaRPr lang="en-US" sz="760" dirty="0"/>
          </a:p>
        </p:txBody>
      </p:sp>
      <p:sp>
        <p:nvSpPr>
          <p:cNvPr id="10" name="Text 6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37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66928" y="1847088"/>
            <a:ext cx="832104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8"/>
          <p:cNvSpPr/>
          <p:nvPr/>
        </p:nvSpPr>
        <p:spPr>
          <a:xfrm>
            <a:off x="566928" y="1847088"/>
            <a:ext cx="109728" cy="1188720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9"/>
          <p:cNvSpPr/>
          <p:nvPr/>
        </p:nvSpPr>
        <p:spPr>
          <a:xfrm>
            <a:off x="950976" y="2157984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047" y="2311055"/>
            <a:ext cx="260787" cy="26078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737360" y="1847088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9C7E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应用生态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3218688" y="21031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应用矩阵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3218688" y="248716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Agents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5413248" y="2048256"/>
            <a:ext cx="0" cy="786384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4"/>
          <p:cNvSpPr/>
          <p:nvPr/>
        </p:nvSpPr>
        <p:spPr>
          <a:xfrm>
            <a:off x="5614416" y="1847088"/>
            <a:ext cx="3044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Sowork/小浣熊管代码办公、S-Design/Seko 管内容创作、普惠管零售门店 —— 模型能力直接变成岗位上的生产力。</a:t>
            </a:r>
            <a:endParaRPr lang="en-US" sz="1030" dirty="0"/>
          </a:p>
        </p:txBody>
      </p:sp>
      <p:sp>
        <p:nvSpPr>
          <p:cNvPr id="20" name="Shape 15"/>
          <p:cNvSpPr/>
          <p:nvPr/>
        </p:nvSpPr>
        <p:spPr>
          <a:xfrm>
            <a:off x="566928" y="3182112"/>
            <a:ext cx="832104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6"/>
          <p:cNvSpPr/>
          <p:nvPr/>
        </p:nvSpPr>
        <p:spPr>
          <a:xfrm>
            <a:off x="566928" y="3182112"/>
            <a:ext cx="109728" cy="1188720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7"/>
          <p:cNvSpPr/>
          <p:nvPr/>
        </p:nvSpPr>
        <p:spPr>
          <a:xfrm>
            <a:off x="950976" y="3493008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4047" y="3646079"/>
            <a:ext cx="260787" cy="26078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737360" y="3182112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C64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模型中枢</a:t>
            </a:r>
            <a:endParaRPr lang="en-US" sz="1650" dirty="0"/>
          </a:p>
        </p:txBody>
      </p:sp>
      <p:sp>
        <p:nvSpPr>
          <p:cNvPr id="25" name="Text 19"/>
          <p:cNvSpPr/>
          <p:nvPr/>
        </p:nvSpPr>
        <p:spPr>
          <a:xfrm>
            <a:off x="3218688" y="343814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日日新大模型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3218688" y="38221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SenseNova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5413248" y="3383280"/>
            <a:ext cx="0" cy="786384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2"/>
          <p:cNvSpPr/>
          <p:nvPr/>
        </p:nvSpPr>
        <p:spPr>
          <a:xfrm>
            <a:off x="5614416" y="3182112"/>
            <a:ext cx="3044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自研日日新体系：语言、图文、音频、视频、世界模型，多模态输入输出一体打通。</a:t>
            </a:r>
            <a:endParaRPr lang="en-US" sz="1030" dirty="0"/>
          </a:p>
        </p:txBody>
      </p:sp>
      <p:sp>
        <p:nvSpPr>
          <p:cNvPr id="29" name="Shape 23"/>
          <p:cNvSpPr/>
          <p:nvPr/>
        </p:nvSpPr>
        <p:spPr>
          <a:xfrm>
            <a:off x="566928" y="4517136"/>
            <a:ext cx="8321040" cy="1188720"/>
          </a:xfrm>
          <a:prstGeom prst="roundRect">
            <a:avLst>
              <a:gd name="adj" fmla="val 6923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4"/>
          <p:cNvSpPr/>
          <p:nvPr/>
        </p:nvSpPr>
        <p:spPr>
          <a:xfrm>
            <a:off x="566928" y="4517136"/>
            <a:ext cx="109728" cy="1188720"/>
          </a:xfrm>
          <a:prstGeom prst="rect">
            <a:avLst/>
          </a:prstGeom>
          <a:solidFill>
            <a:srgbClr val="2C80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5"/>
          <p:cNvSpPr/>
          <p:nvPr/>
        </p:nvSpPr>
        <p:spPr>
          <a:xfrm>
            <a:off x="950976" y="4828032"/>
            <a:ext cx="566928" cy="566928"/>
          </a:xfrm>
          <a:prstGeom prst="ellipse">
            <a:avLst/>
          </a:prstGeom>
          <a:solidFill>
            <a:srgbClr val="16365C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4047" y="4981103"/>
            <a:ext cx="260787" cy="260787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737360" y="4517136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算力底座</a:t>
            </a:r>
            <a:endParaRPr lang="en-US" sz="1650" dirty="0"/>
          </a:p>
        </p:txBody>
      </p:sp>
      <p:sp>
        <p:nvSpPr>
          <p:cNvPr id="34" name="Text 27"/>
          <p:cNvSpPr/>
          <p:nvPr/>
        </p:nvSpPr>
        <p:spPr>
          <a:xfrm>
            <a:off x="3218688" y="477316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商汤大装置</a:t>
            </a:r>
            <a:endParaRPr lang="en-US" sz="1450" dirty="0"/>
          </a:p>
        </p:txBody>
      </p:sp>
      <p:sp>
        <p:nvSpPr>
          <p:cNvPr id="35" name="Text 28"/>
          <p:cNvSpPr/>
          <p:nvPr/>
        </p:nvSpPr>
        <p:spPr>
          <a:xfrm>
            <a:off x="3218688" y="515721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FA6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SenseCore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5413248" y="4718304"/>
            <a:ext cx="0" cy="786384"/>
          </a:xfrm>
          <a:prstGeom prst="line">
            <a:avLst/>
          </a:prstGeom>
          <a:noFill/>
          <a:ln w="12700">
            <a:solidFill>
              <a:srgbClr val="2C4A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0"/>
          <p:cNvSpPr/>
          <p:nvPr/>
        </p:nvSpPr>
        <p:spPr>
          <a:xfrm>
            <a:off x="5614416" y="4517136"/>
            <a:ext cx="3044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自建智算基础设施，原生 AI 云市场份额第一 —— 大模型时代的「发电厂」，训练与推理都在自己手里。</a:t>
            </a:r>
            <a:endParaRPr lang="en-US" sz="1030" dirty="0"/>
          </a:p>
        </p:txBody>
      </p:sp>
      <p:sp>
        <p:nvSpPr>
          <p:cNvPr id="38" name="Shape 31"/>
          <p:cNvSpPr/>
          <p:nvPr/>
        </p:nvSpPr>
        <p:spPr>
          <a:xfrm>
            <a:off x="9162288" y="1847088"/>
            <a:ext cx="2462479" cy="3858768"/>
          </a:xfrm>
          <a:prstGeom prst="roundRect">
            <a:avLst>
              <a:gd name="adj" fmla="val 3342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2"/>
          <p:cNvSpPr/>
          <p:nvPr/>
        </p:nvSpPr>
        <p:spPr>
          <a:xfrm>
            <a:off x="9162288" y="1847088"/>
            <a:ext cx="2462479" cy="73152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3"/>
          <p:cNvSpPr/>
          <p:nvPr/>
        </p:nvSpPr>
        <p:spPr>
          <a:xfrm>
            <a:off x="9436608" y="2048256"/>
            <a:ext cx="1913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全栈闭环</a:t>
            </a:r>
            <a:endParaRPr lang="en-US" sz="1350" dirty="0"/>
          </a:p>
        </p:txBody>
      </p:sp>
      <p:sp>
        <p:nvSpPr>
          <p:cNvPr id="41" name="Shape 34"/>
          <p:cNvSpPr/>
          <p:nvPr/>
        </p:nvSpPr>
        <p:spPr>
          <a:xfrm>
            <a:off x="9436608" y="2395728"/>
            <a:ext cx="1913839" cy="0"/>
          </a:xfrm>
          <a:prstGeom prst="line">
            <a:avLst/>
          </a:prstGeom>
          <a:noFill/>
          <a:ln w="12700">
            <a:solidFill>
              <a:srgbClr val="2C4A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35"/>
          <p:cNvSpPr/>
          <p:nvPr/>
        </p:nvSpPr>
        <p:spPr>
          <a:xfrm>
            <a:off x="9436608" y="2596896"/>
            <a:ext cx="310896" cy="310896"/>
          </a:xfrm>
          <a:prstGeom prst="ellipse">
            <a:avLst/>
          </a:prstGeom>
          <a:solidFill>
            <a:srgbClr val="16365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36"/>
          <p:cNvSpPr/>
          <p:nvPr/>
        </p:nvSpPr>
        <p:spPr>
          <a:xfrm>
            <a:off x="9436608" y="2587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44" name="Text 37"/>
          <p:cNvSpPr/>
          <p:nvPr/>
        </p:nvSpPr>
        <p:spPr>
          <a:xfrm>
            <a:off x="9857232" y="2578608"/>
            <a:ext cx="1548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算力喂模型</a:t>
            </a:r>
            <a:endParaRPr lang="en-US" sz="1200" dirty="0"/>
          </a:p>
        </p:txBody>
      </p:sp>
      <p:sp>
        <p:nvSpPr>
          <p:cNvPr id="45" name="Text 38"/>
          <p:cNvSpPr/>
          <p:nvPr/>
        </p:nvSpPr>
        <p:spPr>
          <a:xfrm>
            <a:off x="9857232" y="2871216"/>
            <a:ext cx="1493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训练与推理，节奏自己定</a:t>
            </a:r>
            <a:endParaRPr lang="en-US" sz="930" dirty="0"/>
          </a:p>
        </p:txBody>
      </p:sp>
      <p:sp>
        <p:nvSpPr>
          <p:cNvPr id="46" name="Shape 39"/>
          <p:cNvSpPr/>
          <p:nvPr/>
        </p:nvSpPr>
        <p:spPr>
          <a:xfrm>
            <a:off x="9436608" y="3566160"/>
            <a:ext cx="310896" cy="310896"/>
          </a:xfrm>
          <a:prstGeom prst="ellipse">
            <a:avLst/>
          </a:prstGeom>
          <a:solidFill>
            <a:srgbClr val="16365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0"/>
          <p:cNvSpPr/>
          <p:nvPr/>
        </p:nvSpPr>
        <p:spPr>
          <a:xfrm>
            <a:off x="9436608" y="3557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48" name="Text 41"/>
          <p:cNvSpPr/>
          <p:nvPr/>
        </p:nvSpPr>
        <p:spPr>
          <a:xfrm>
            <a:off x="9857232" y="3547872"/>
            <a:ext cx="1548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模型养应用</a:t>
            </a:r>
            <a:endParaRPr lang="en-US" sz="1200" dirty="0"/>
          </a:p>
        </p:txBody>
      </p:sp>
      <p:sp>
        <p:nvSpPr>
          <p:cNvPr id="49" name="Text 42"/>
          <p:cNvSpPr/>
          <p:nvPr/>
        </p:nvSpPr>
        <p:spPr>
          <a:xfrm>
            <a:off x="9857232" y="3840480"/>
            <a:ext cx="1493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全模态上新，应用同步强</a:t>
            </a:r>
            <a:endParaRPr lang="en-US" sz="930" dirty="0"/>
          </a:p>
        </p:txBody>
      </p:sp>
      <p:sp>
        <p:nvSpPr>
          <p:cNvPr id="50" name="Shape 43"/>
          <p:cNvSpPr/>
          <p:nvPr/>
        </p:nvSpPr>
        <p:spPr>
          <a:xfrm>
            <a:off x="9436608" y="4535424"/>
            <a:ext cx="310896" cy="310896"/>
          </a:xfrm>
          <a:prstGeom prst="ellipse">
            <a:avLst/>
          </a:prstGeom>
          <a:solidFill>
            <a:srgbClr val="16365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4"/>
          <p:cNvSpPr/>
          <p:nvPr/>
        </p:nvSpPr>
        <p:spPr>
          <a:xfrm>
            <a:off x="9436608" y="4526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52" name="Text 45"/>
          <p:cNvSpPr/>
          <p:nvPr/>
        </p:nvSpPr>
        <p:spPr>
          <a:xfrm>
            <a:off x="9857232" y="4517136"/>
            <a:ext cx="1548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用量反哺模型</a:t>
            </a:r>
            <a:endParaRPr lang="en-US" sz="1200" dirty="0"/>
          </a:p>
        </p:txBody>
      </p:sp>
      <p:sp>
        <p:nvSpPr>
          <p:cNvPr id="53" name="Text 46"/>
          <p:cNvSpPr/>
          <p:nvPr/>
        </p:nvSpPr>
        <p:spPr>
          <a:xfrm>
            <a:off x="9857232" y="4809744"/>
            <a:ext cx="1493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消耗回流，驱动下轮迭代</a:t>
            </a:r>
            <a:endParaRPr lang="en-US" sz="930" dirty="0"/>
          </a:p>
        </p:txBody>
      </p:sp>
      <p:sp>
        <p:nvSpPr>
          <p:cNvPr id="54" name="Shape 47"/>
          <p:cNvSpPr/>
          <p:nvPr/>
        </p:nvSpPr>
        <p:spPr>
          <a:xfrm>
            <a:off x="566928" y="5815584"/>
            <a:ext cx="11057839" cy="475488"/>
          </a:xfrm>
          <a:prstGeom prst="roundRect">
            <a:avLst>
              <a:gd name="adj" fmla="val 17308"/>
            </a:avLst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48"/>
          <p:cNvSpPr/>
          <p:nvPr/>
        </p:nvSpPr>
        <p:spPr>
          <a:xfrm>
            <a:off x="841248" y="5815584"/>
            <a:ext cx="105091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一句话：底座不求人、模型不断代、应用见真章 —— 这就是突破能够持续发生的结构性原因。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· 全模态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从「读懂文字」到「看懂世界、生成世界」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日日新全模态大模型的五路能力 —— 真实的生产场景，从来不只有文字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9221" y="329184"/>
            <a:ext cx="1105546" cy="310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372917" y="356616"/>
            <a:ext cx="0" cy="256032"/>
          </a:xfrm>
          <a:prstGeom prst="line">
            <a:avLst/>
          </a:prstGeom>
          <a:noFill/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1" descr="gfy_logo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5499" y="329184"/>
            <a:ext cx="1601114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 AIGC 创新赋能新质生产力   |   北大合肥论坛 · 新质生产力与智能经济   |   商汤科技 SenseTime</a:t>
            </a:r>
            <a:endParaRPr lang="en-US" sz="760" dirty="0"/>
          </a:p>
        </p:txBody>
      </p:sp>
      <p:sp>
        <p:nvSpPr>
          <p:cNvPr id="10" name="Text 6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37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66928" y="1874520"/>
            <a:ext cx="1962851" cy="3520440"/>
          </a:xfrm>
          <a:prstGeom prst="roundRect">
            <a:avLst>
              <a:gd name="adj" fmla="val 4193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8"/>
          <p:cNvSpPr/>
          <p:nvPr/>
        </p:nvSpPr>
        <p:spPr>
          <a:xfrm>
            <a:off x="566928" y="1874520"/>
            <a:ext cx="1962851" cy="73152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9"/>
          <p:cNvSpPr/>
          <p:nvPr/>
        </p:nvSpPr>
        <p:spPr>
          <a:xfrm>
            <a:off x="1246602" y="2185416"/>
            <a:ext cx="603504" cy="60350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9548" y="2348362"/>
            <a:ext cx="277612" cy="2776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4088" y="2953512"/>
            <a:ext cx="1688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2C64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704088" y="3227832"/>
            <a:ext cx="16885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读写与推理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1292322" y="3685032"/>
            <a:ext cx="512064" cy="0"/>
          </a:xfrm>
          <a:prstGeom prst="line">
            <a:avLst/>
          </a:prstGeom>
          <a:noFill/>
          <a:ln w="22225">
            <a:solidFill>
              <a:srgbClr val="2C649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3"/>
          <p:cNvSpPr/>
          <p:nvPr/>
        </p:nvSpPr>
        <p:spPr>
          <a:xfrm>
            <a:off x="731520" y="3831336"/>
            <a:ext cx="1633667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读长文、写报告、写代码 —— 知识工作的通用底盘，所有智能的起点。</a:t>
            </a:r>
            <a:endParaRPr lang="en-US" sz="980" dirty="0"/>
          </a:p>
        </p:txBody>
      </p:sp>
      <p:sp>
        <p:nvSpPr>
          <p:cNvPr id="19" name="Text 14"/>
          <p:cNvSpPr/>
          <p:nvPr/>
        </p:nvSpPr>
        <p:spPr>
          <a:xfrm>
            <a:off x="2511491" y="329184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2840675" y="1874520"/>
            <a:ext cx="1962851" cy="3520440"/>
          </a:xfrm>
          <a:prstGeom prst="roundRect">
            <a:avLst>
              <a:gd name="adj" fmla="val 4193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6"/>
          <p:cNvSpPr/>
          <p:nvPr/>
        </p:nvSpPr>
        <p:spPr>
          <a:xfrm>
            <a:off x="2840675" y="1874520"/>
            <a:ext cx="1962851" cy="73152"/>
          </a:xfrm>
          <a:prstGeom prst="rect">
            <a:avLst/>
          </a:prstGeom>
          <a:solidFill>
            <a:srgbClr val="2C80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7"/>
          <p:cNvSpPr/>
          <p:nvPr/>
        </p:nvSpPr>
        <p:spPr>
          <a:xfrm>
            <a:off x="3520349" y="2185416"/>
            <a:ext cx="603504" cy="60350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3295" y="2348362"/>
            <a:ext cx="277612" cy="2776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977835" y="2953512"/>
            <a:ext cx="1688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2C80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图文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2977835" y="3227832"/>
            <a:ext cx="16885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看图与作图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3566069" y="3685032"/>
            <a:ext cx="512064" cy="0"/>
          </a:xfrm>
          <a:prstGeom prst="line">
            <a:avLst/>
          </a:prstGeom>
          <a:noFill/>
          <a:ln w="22225">
            <a:solidFill>
              <a:srgbClr val="2C80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1"/>
          <p:cNvSpPr/>
          <p:nvPr/>
        </p:nvSpPr>
        <p:spPr>
          <a:xfrm>
            <a:off x="3005267" y="3831336"/>
            <a:ext cx="1633667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看得懂图纸报表，也画得出设计稿 —— 一句话生成一张能用的图。</a:t>
            </a:r>
            <a:endParaRPr lang="en-US" sz="980" dirty="0"/>
          </a:p>
        </p:txBody>
      </p:sp>
      <p:sp>
        <p:nvSpPr>
          <p:cNvPr id="28" name="Text 22"/>
          <p:cNvSpPr/>
          <p:nvPr/>
        </p:nvSpPr>
        <p:spPr>
          <a:xfrm>
            <a:off x="4785238" y="329184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5114422" y="1874520"/>
            <a:ext cx="1962851" cy="3520440"/>
          </a:xfrm>
          <a:prstGeom prst="roundRect">
            <a:avLst>
              <a:gd name="adj" fmla="val 4193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4"/>
          <p:cNvSpPr/>
          <p:nvPr/>
        </p:nvSpPr>
        <p:spPr>
          <a:xfrm>
            <a:off x="5114422" y="1874520"/>
            <a:ext cx="1962851" cy="73152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5"/>
          <p:cNvSpPr/>
          <p:nvPr/>
        </p:nvSpPr>
        <p:spPr>
          <a:xfrm>
            <a:off x="5794096" y="2185416"/>
            <a:ext cx="603504" cy="60350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7042" y="2348362"/>
            <a:ext cx="277612" cy="27761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251582" y="2953512"/>
            <a:ext cx="1688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A4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音频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5251582" y="3227832"/>
            <a:ext cx="16885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听懂与开口</a:t>
            </a:r>
            <a:endParaRPr lang="en-US" sz="1400" dirty="0"/>
          </a:p>
        </p:txBody>
      </p:sp>
      <p:sp>
        <p:nvSpPr>
          <p:cNvPr id="35" name="Shape 28"/>
          <p:cNvSpPr/>
          <p:nvPr/>
        </p:nvSpPr>
        <p:spPr>
          <a:xfrm>
            <a:off x="5839816" y="3685032"/>
            <a:ext cx="512064" cy="0"/>
          </a:xfrm>
          <a:prstGeom prst="line">
            <a:avLst/>
          </a:prstGeom>
          <a:noFill/>
          <a:ln w="22225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29"/>
          <p:cNvSpPr/>
          <p:nvPr/>
        </p:nvSpPr>
        <p:spPr>
          <a:xfrm>
            <a:off x="5279014" y="3831336"/>
            <a:ext cx="1633667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语音识别与合成，让 AI 走进会议室、客服坐席与智能座舱。</a:t>
            </a:r>
            <a:endParaRPr lang="en-US" sz="980" dirty="0"/>
          </a:p>
        </p:txBody>
      </p:sp>
      <p:sp>
        <p:nvSpPr>
          <p:cNvPr id="37" name="Text 30"/>
          <p:cNvSpPr/>
          <p:nvPr/>
        </p:nvSpPr>
        <p:spPr>
          <a:xfrm>
            <a:off x="7058985" y="329184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00" dirty="0"/>
          </a:p>
        </p:txBody>
      </p:sp>
      <p:sp>
        <p:nvSpPr>
          <p:cNvPr id="38" name="Shape 31"/>
          <p:cNvSpPr/>
          <p:nvPr/>
        </p:nvSpPr>
        <p:spPr>
          <a:xfrm>
            <a:off x="7388169" y="1874520"/>
            <a:ext cx="1962851" cy="3520440"/>
          </a:xfrm>
          <a:prstGeom prst="roundRect">
            <a:avLst>
              <a:gd name="adj" fmla="val 4193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2"/>
          <p:cNvSpPr/>
          <p:nvPr/>
        </p:nvSpPr>
        <p:spPr>
          <a:xfrm>
            <a:off x="7388169" y="1874520"/>
            <a:ext cx="1962851" cy="73152"/>
          </a:xfrm>
          <a:prstGeom prst="rect">
            <a:avLst/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3"/>
          <p:cNvSpPr/>
          <p:nvPr/>
        </p:nvSpPr>
        <p:spPr>
          <a:xfrm>
            <a:off x="8067843" y="2185416"/>
            <a:ext cx="603504" cy="60350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30789" y="2348362"/>
            <a:ext cx="277612" cy="277612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7525329" y="2953512"/>
            <a:ext cx="1688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</a:t>
            </a:r>
            <a:endParaRPr lang="en-US" sz="1050" dirty="0"/>
          </a:p>
        </p:txBody>
      </p:sp>
      <p:sp>
        <p:nvSpPr>
          <p:cNvPr id="43" name="Text 35"/>
          <p:cNvSpPr/>
          <p:nvPr/>
        </p:nvSpPr>
        <p:spPr>
          <a:xfrm>
            <a:off x="7525329" y="3227832"/>
            <a:ext cx="16885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从文字到影片</a:t>
            </a:r>
            <a:endParaRPr lang="en-US" sz="1400" dirty="0"/>
          </a:p>
        </p:txBody>
      </p:sp>
      <p:sp>
        <p:nvSpPr>
          <p:cNvPr id="44" name="Shape 36"/>
          <p:cNvSpPr/>
          <p:nvPr/>
        </p:nvSpPr>
        <p:spPr>
          <a:xfrm>
            <a:off x="8113563" y="3685032"/>
            <a:ext cx="512064" cy="0"/>
          </a:xfrm>
          <a:prstGeom prst="line">
            <a:avLst/>
          </a:prstGeom>
          <a:noFill/>
          <a:ln w="22225">
            <a:solidFill>
              <a:srgbClr val="B43A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37"/>
          <p:cNvSpPr/>
          <p:nvPr/>
        </p:nvSpPr>
        <p:spPr>
          <a:xfrm>
            <a:off x="7552761" y="3831336"/>
            <a:ext cx="1633667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文字直接生成视频，内容生产线从「拍摄剪辑」变成「描述生成」。</a:t>
            </a:r>
            <a:endParaRPr lang="en-US" sz="980" dirty="0"/>
          </a:p>
        </p:txBody>
      </p:sp>
      <p:sp>
        <p:nvSpPr>
          <p:cNvPr id="46" name="Text 38"/>
          <p:cNvSpPr/>
          <p:nvPr/>
        </p:nvSpPr>
        <p:spPr>
          <a:xfrm>
            <a:off x="9332732" y="329184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00" dirty="0"/>
          </a:p>
        </p:txBody>
      </p:sp>
      <p:sp>
        <p:nvSpPr>
          <p:cNvPr id="47" name="Shape 39"/>
          <p:cNvSpPr/>
          <p:nvPr/>
        </p:nvSpPr>
        <p:spPr>
          <a:xfrm>
            <a:off x="9661916" y="1874520"/>
            <a:ext cx="1962851" cy="3520440"/>
          </a:xfrm>
          <a:prstGeom prst="roundRect">
            <a:avLst>
              <a:gd name="adj" fmla="val 4193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0"/>
          <p:cNvSpPr/>
          <p:nvPr/>
        </p:nvSpPr>
        <p:spPr>
          <a:xfrm>
            <a:off x="9661916" y="1874520"/>
            <a:ext cx="1962851" cy="73152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1"/>
          <p:cNvSpPr/>
          <p:nvPr/>
        </p:nvSpPr>
        <p:spPr>
          <a:xfrm>
            <a:off x="10341590" y="2185416"/>
            <a:ext cx="603504" cy="603504"/>
          </a:xfrm>
          <a:prstGeom prst="ellipse">
            <a:avLst/>
          </a:prstGeom>
          <a:solidFill>
            <a:srgbClr val="16365C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5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04536" y="2348362"/>
            <a:ext cx="277612" cy="277612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9799076" y="2953512"/>
            <a:ext cx="1688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世界模型</a:t>
            </a:r>
            <a:endParaRPr lang="en-US" sz="1050" dirty="0"/>
          </a:p>
        </p:txBody>
      </p:sp>
      <p:sp>
        <p:nvSpPr>
          <p:cNvPr id="52" name="Text 43"/>
          <p:cNvSpPr/>
          <p:nvPr/>
        </p:nvSpPr>
        <p:spPr>
          <a:xfrm>
            <a:off x="9799076" y="3227832"/>
            <a:ext cx="16885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推演物理世界</a:t>
            </a:r>
            <a:endParaRPr lang="en-US" sz="1400" dirty="0"/>
          </a:p>
        </p:txBody>
      </p:sp>
      <p:sp>
        <p:nvSpPr>
          <p:cNvPr id="53" name="Shape 44"/>
          <p:cNvSpPr/>
          <p:nvPr/>
        </p:nvSpPr>
        <p:spPr>
          <a:xfrm>
            <a:off x="10387310" y="3685032"/>
            <a:ext cx="512064" cy="0"/>
          </a:xfrm>
          <a:prstGeom prst="line">
            <a:avLst/>
          </a:prstGeom>
          <a:noFill/>
          <a:ln w="22225">
            <a:solidFill>
              <a:srgbClr val="C2A1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Text 45"/>
          <p:cNvSpPr/>
          <p:nvPr/>
        </p:nvSpPr>
        <p:spPr>
          <a:xfrm>
            <a:off x="9826508" y="3831336"/>
            <a:ext cx="1633667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理解时空与因果，为自动驾驶、具身智能提供「物理直觉」。</a:t>
            </a:r>
            <a:endParaRPr lang="en-US" sz="980" dirty="0"/>
          </a:p>
        </p:txBody>
      </p:sp>
      <p:sp>
        <p:nvSpPr>
          <p:cNvPr id="55" name="Shape 46"/>
          <p:cNvSpPr/>
          <p:nvPr/>
        </p:nvSpPr>
        <p:spPr>
          <a:xfrm>
            <a:off x="566928" y="5669280"/>
            <a:ext cx="11057839" cy="512064"/>
          </a:xfrm>
          <a:prstGeom prst="roundRect">
            <a:avLst>
              <a:gd name="adj" fmla="val 16071"/>
            </a:avLst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47"/>
          <p:cNvSpPr/>
          <p:nvPr/>
        </p:nvSpPr>
        <p:spPr>
          <a:xfrm>
            <a:off x="841248" y="5669280"/>
            <a:ext cx="1050919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为什么押注全模态：客户的真实流程里，图纸、报表、语音、监控混在一起 —— 单一模态的 AI 进不了核心业务。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· 世界模型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「开悟」世界模型：让 AI 理解物理世界的时空规律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横扫生成、预测四大榜单，全面超越全球主流世界模型 —— 商汤最前沿的一项突破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9221" y="329184"/>
            <a:ext cx="1105546" cy="310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372917" y="356616"/>
            <a:ext cx="0" cy="256032"/>
          </a:xfrm>
          <a:prstGeom prst="line">
            <a:avLst/>
          </a:prstGeom>
          <a:noFill/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1" descr="gfy_logo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5499" y="329184"/>
            <a:ext cx="1601114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 AIGC 创新赋能新质生产力   |   北大合肥论坛 · 新质生产力与智能经济   |   商汤科技 SenseTime</a:t>
            </a:r>
            <a:endParaRPr lang="en-US" sz="760" dirty="0"/>
          </a:p>
        </p:txBody>
      </p:sp>
      <p:sp>
        <p:nvSpPr>
          <p:cNvPr id="10" name="Text 6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37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66928" y="1828800"/>
            <a:ext cx="4572000" cy="1965960"/>
          </a:xfrm>
          <a:prstGeom prst="roundRect">
            <a:avLst>
              <a:gd name="adj" fmla="val 4186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8"/>
          <p:cNvSpPr/>
          <p:nvPr/>
        </p:nvSpPr>
        <p:spPr>
          <a:xfrm>
            <a:off x="566928" y="1828800"/>
            <a:ext cx="4572000" cy="73152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9"/>
          <p:cNvSpPr/>
          <p:nvPr/>
        </p:nvSpPr>
        <p:spPr>
          <a:xfrm>
            <a:off x="859536" y="2103120"/>
            <a:ext cx="548640" cy="548640"/>
          </a:xfrm>
          <a:prstGeom prst="ellipse">
            <a:avLst/>
          </a:prstGeom>
          <a:solidFill>
            <a:srgbClr val="16365C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69" y="2251253"/>
            <a:ext cx="252374" cy="25237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36192" y="213969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榜单成绩 · 6·24 发布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1536192" y="237744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横扫 四大榜单</a:t>
            </a:r>
            <a:endParaRPr lang="en-US" sz="2800" dirty="0"/>
          </a:p>
        </p:txBody>
      </p:sp>
      <p:sp>
        <p:nvSpPr>
          <p:cNvPr id="17" name="Text 12"/>
          <p:cNvSpPr/>
          <p:nvPr/>
        </p:nvSpPr>
        <p:spPr>
          <a:xfrm>
            <a:off x="859536" y="2980944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生成、预测全面领先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59536" y="3291840"/>
            <a:ext cx="3986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不是单点冠军，而是生成与预测两类基准全面领先 —— 世界模型赛道的第一梯队。</a:t>
            </a:r>
            <a:endParaRPr lang="en-US" sz="1020" dirty="0"/>
          </a:p>
        </p:txBody>
      </p:sp>
      <p:sp>
        <p:nvSpPr>
          <p:cNvPr id="19" name="Shape 14"/>
          <p:cNvSpPr/>
          <p:nvPr/>
        </p:nvSpPr>
        <p:spPr>
          <a:xfrm>
            <a:off x="566928" y="3950208"/>
            <a:ext cx="4572000" cy="1737360"/>
          </a:xfrm>
          <a:prstGeom prst="roundRect">
            <a:avLst>
              <a:gd name="adj" fmla="val 4737"/>
            </a:avLst>
          </a:prstGeom>
          <a:solidFill>
            <a:srgbClr val="EEF3F9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5"/>
          <p:cNvSpPr/>
          <p:nvPr/>
        </p:nvSpPr>
        <p:spPr>
          <a:xfrm>
            <a:off x="566928" y="3950208"/>
            <a:ext cx="82296" cy="1737360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6"/>
          <p:cNvSpPr/>
          <p:nvPr/>
        </p:nvSpPr>
        <p:spPr>
          <a:xfrm>
            <a:off x="841248" y="4187952"/>
            <a:ext cx="512064" cy="51206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385" y="4321089"/>
            <a:ext cx="245791" cy="24579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99616" y="42062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9C7E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它是什么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1499616" y="446227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的「物理直觉」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859536" y="4882896"/>
            <a:ext cx="3986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不只看懂一帧画面，还能推演下一秒：物体怎么动、光影怎么变、因果怎么发生 —— 机器第一次学会「脑补」世界。</a:t>
            </a:r>
            <a:endParaRPr lang="en-US" sz="1020" dirty="0"/>
          </a:p>
        </p:txBody>
      </p:sp>
      <p:sp>
        <p:nvSpPr>
          <p:cNvPr id="26" name="Shape 20"/>
          <p:cNvSpPr/>
          <p:nvPr/>
        </p:nvSpPr>
        <p:spPr>
          <a:xfrm>
            <a:off x="5458968" y="1828800"/>
            <a:ext cx="6165799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1"/>
          <p:cNvSpPr/>
          <p:nvPr/>
        </p:nvSpPr>
        <p:spPr>
          <a:xfrm>
            <a:off x="5458968" y="1828800"/>
            <a:ext cx="82296" cy="1188720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2"/>
          <p:cNvSpPr/>
          <p:nvPr/>
        </p:nvSpPr>
        <p:spPr>
          <a:xfrm>
            <a:off x="5715000" y="2139696"/>
            <a:ext cx="548640" cy="54864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7646" y="2282342"/>
            <a:ext cx="263347" cy="263347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428232" y="2029968"/>
            <a:ext cx="34225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自动驾驶</a:t>
            </a:r>
            <a:endParaRPr lang="en-US" sz="1450" dirty="0"/>
          </a:p>
        </p:txBody>
      </p:sp>
      <p:sp>
        <p:nvSpPr>
          <p:cNvPr id="31" name="Text 24"/>
          <p:cNvSpPr/>
          <p:nvPr/>
        </p:nvSpPr>
        <p:spPr>
          <a:xfrm>
            <a:off x="9887407" y="206654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底座应用 · 01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6428232" y="2377440"/>
            <a:ext cx="488563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在虚拟世界里生成海量极端路况，让驾驶系统先「练熟」再上路 —— 训练与验证的成本大幅下降。</a:t>
            </a:r>
            <a:endParaRPr lang="en-US" sz="1030" dirty="0"/>
          </a:p>
        </p:txBody>
      </p:sp>
      <p:sp>
        <p:nvSpPr>
          <p:cNvPr id="33" name="Shape 26"/>
          <p:cNvSpPr/>
          <p:nvPr/>
        </p:nvSpPr>
        <p:spPr>
          <a:xfrm>
            <a:off x="5458968" y="3163824"/>
            <a:ext cx="6165799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27"/>
          <p:cNvSpPr/>
          <p:nvPr/>
        </p:nvSpPr>
        <p:spPr>
          <a:xfrm>
            <a:off x="5458968" y="3163824"/>
            <a:ext cx="82296" cy="1188720"/>
          </a:xfrm>
          <a:prstGeom prst="rect">
            <a:avLst/>
          </a:prstGeom>
          <a:solidFill>
            <a:srgbClr val="2C80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28"/>
          <p:cNvSpPr/>
          <p:nvPr/>
        </p:nvSpPr>
        <p:spPr>
          <a:xfrm>
            <a:off x="5715000" y="3474720"/>
            <a:ext cx="548640" cy="54864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7646" y="3617366"/>
            <a:ext cx="263347" cy="263347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428232" y="3364992"/>
            <a:ext cx="34225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具身智能</a:t>
            </a:r>
            <a:endParaRPr lang="en-US" sz="1450" dirty="0"/>
          </a:p>
        </p:txBody>
      </p:sp>
      <p:sp>
        <p:nvSpPr>
          <p:cNvPr id="38" name="Text 30"/>
          <p:cNvSpPr/>
          <p:nvPr/>
        </p:nvSpPr>
        <p:spPr>
          <a:xfrm>
            <a:off x="9887407" y="34015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底座应用 · 02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6428232" y="3712464"/>
            <a:ext cx="488563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机器人要进工厂与家庭，先得懂空间与物理 —— 世界模型就是它出发前的那堂「常识课」。</a:t>
            </a:r>
            <a:endParaRPr lang="en-US" sz="1030" dirty="0"/>
          </a:p>
        </p:txBody>
      </p:sp>
      <p:sp>
        <p:nvSpPr>
          <p:cNvPr id="40" name="Shape 32"/>
          <p:cNvSpPr/>
          <p:nvPr/>
        </p:nvSpPr>
        <p:spPr>
          <a:xfrm>
            <a:off x="5458968" y="4498848"/>
            <a:ext cx="6165799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3"/>
          <p:cNvSpPr/>
          <p:nvPr/>
        </p:nvSpPr>
        <p:spPr>
          <a:xfrm>
            <a:off x="5458968" y="4498848"/>
            <a:ext cx="82296" cy="1188720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34"/>
          <p:cNvSpPr/>
          <p:nvPr/>
        </p:nvSpPr>
        <p:spPr>
          <a:xfrm>
            <a:off x="5715000" y="4809744"/>
            <a:ext cx="548640" cy="54864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57646" y="4952390"/>
            <a:ext cx="263347" cy="263347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6428232" y="4700016"/>
            <a:ext cx="34225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产业仿真</a:t>
            </a:r>
            <a:endParaRPr lang="en-US" sz="1450" dirty="0"/>
          </a:p>
        </p:txBody>
      </p:sp>
      <p:sp>
        <p:nvSpPr>
          <p:cNvPr id="45" name="Text 36"/>
          <p:cNvSpPr/>
          <p:nvPr/>
        </p:nvSpPr>
        <p:spPr>
          <a:xfrm>
            <a:off x="9887407" y="47365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底座应用 · 03</a:t>
            </a:r>
            <a:endParaRPr lang="en-US" sz="900" dirty="0"/>
          </a:p>
        </p:txBody>
      </p:sp>
      <p:sp>
        <p:nvSpPr>
          <p:cNvPr id="46" name="Text 37"/>
          <p:cNvSpPr/>
          <p:nvPr/>
        </p:nvSpPr>
        <p:spPr>
          <a:xfrm>
            <a:off x="6428232" y="5047488"/>
            <a:ext cx="488563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产线改造、城市交通先在数字世界推演一遍 —— 试错成本从真金白银，变成一次计算。</a:t>
            </a:r>
            <a:endParaRPr lang="en-US" sz="1030" dirty="0"/>
          </a:p>
        </p:txBody>
      </p:sp>
      <p:sp>
        <p:nvSpPr>
          <p:cNvPr id="47" name="Shape 38"/>
          <p:cNvSpPr/>
          <p:nvPr/>
        </p:nvSpPr>
        <p:spPr>
          <a:xfrm>
            <a:off x="566928" y="5833872"/>
            <a:ext cx="11057839" cy="475488"/>
          </a:xfrm>
          <a:prstGeom prst="roundRect">
            <a:avLst>
              <a:gd name="adj" fmla="val 17308"/>
            </a:avLst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39"/>
          <p:cNvSpPr/>
          <p:nvPr/>
        </p:nvSpPr>
        <p:spPr>
          <a:xfrm>
            <a:off x="841248" y="5833872"/>
            <a:ext cx="105091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生成式 AI 的下一站不在屏幕里，而在物理世界里 —— 世界模型，就是那块底座。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· S2 旗舰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SenseAudio-S2：商汤旗舰，全球第一梯队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日日新自研闭源旗舰 —— 在 GPT-5.5、Claude、Gemini 定义的「前沿曲线」上，占据一席之地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9221" y="329184"/>
            <a:ext cx="1105546" cy="310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372917" y="356616"/>
            <a:ext cx="0" cy="256032"/>
          </a:xfrm>
          <a:prstGeom prst="line">
            <a:avLst/>
          </a:prstGeom>
          <a:noFill/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1" descr="gfy_logo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5499" y="329184"/>
            <a:ext cx="1601114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 AIGC 创新赋能新质生产力   |   北大合肥论坛 · 新质生产力与智能经济   |   商汤科技 SenseTime</a:t>
            </a:r>
            <a:endParaRPr lang="en-US" sz="760" dirty="0"/>
          </a:p>
        </p:txBody>
      </p:sp>
      <p:sp>
        <p:nvSpPr>
          <p:cNvPr id="10" name="Text 6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37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66928" y="1828800"/>
            <a:ext cx="576072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8"/>
          <p:cNvSpPr/>
          <p:nvPr/>
        </p:nvSpPr>
        <p:spPr>
          <a:xfrm>
            <a:off x="566928" y="1828800"/>
            <a:ext cx="82296" cy="1783080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9"/>
          <p:cNvSpPr/>
          <p:nvPr/>
        </p:nvSpPr>
        <p:spPr>
          <a:xfrm>
            <a:off x="841248" y="2121408"/>
            <a:ext cx="603504" cy="60350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194" y="2284354"/>
            <a:ext cx="277612" cy="27761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184648" y="2103120"/>
            <a:ext cx="868680" cy="292608"/>
          </a:xfrm>
          <a:prstGeom prst="roundRect">
            <a:avLst>
              <a:gd name="adj" fmla="val 50000"/>
            </a:avLst>
          </a:prstGeom>
          <a:ln w="12700">
            <a:solidFill>
              <a:srgbClr val="C2A1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1"/>
          <p:cNvSpPr/>
          <p:nvPr/>
        </p:nvSpPr>
        <p:spPr>
          <a:xfrm>
            <a:off x="5184648" y="210312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C7E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1609344" y="21214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全球第一梯队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609344" y="2596896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代码工程、智能体、数学推理、通用知识四大维度，全面跻身全球前沿 —— 参数公开、评分公开，经得起横向比较。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566928" y="3840480"/>
            <a:ext cx="576072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5"/>
          <p:cNvSpPr/>
          <p:nvPr/>
        </p:nvSpPr>
        <p:spPr>
          <a:xfrm>
            <a:off x="566928" y="3840480"/>
            <a:ext cx="82296" cy="1783080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6"/>
          <p:cNvSpPr/>
          <p:nvPr/>
        </p:nvSpPr>
        <p:spPr>
          <a:xfrm>
            <a:off x="841248" y="4133088"/>
            <a:ext cx="603504" cy="60350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194" y="4296034"/>
            <a:ext cx="277612" cy="277612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5184648" y="4114800"/>
            <a:ext cx="868680" cy="292608"/>
          </a:xfrm>
          <a:prstGeom prst="roundRect">
            <a:avLst>
              <a:gd name="adj" fmla="val 50000"/>
            </a:avLst>
          </a:prstGeom>
          <a:ln w="12700">
            <a:solidFill>
              <a:srgbClr val="C2A1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18"/>
          <p:cNvSpPr/>
          <p:nvPr/>
        </p:nvSpPr>
        <p:spPr>
          <a:xfrm>
            <a:off x="5184648" y="41148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C7E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1609344" y="41330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全模态 · 中文最强</a:t>
            </a:r>
            <a:endParaRPr lang="en-US" sz="1550" dirty="0"/>
          </a:p>
        </p:txBody>
      </p:sp>
      <p:sp>
        <p:nvSpPr>
          <p:cNvPr id="26" name="Text 20"/>
          <p:cNvSpPr/>
          <p:nvPr/>
        </p:nvSpPr>
        <p:spPr>
          <a:xfrm>
            <a:off x="1609344" y="4608576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文、图、音、视频、音乐一个底座理解与生成；中文场景最强，多语言原生 —— 还可私有化部署，数据不出境。</a:t>
            </a:r>
            <a:endParaRPr lang="en-US" sz="1080" dirty="0"/>
          </a:p>
        </p:txBody>
      </p:sp>
      <p:sp>
        <p:nvSpPr>
          <p:cNvPr id="27" name="Shape 21"/>
          <p:cNvSpPr/>
          <p:nvPr/>
        </p:nvSpPr>
        <p:spPr>
          <a:xfrm>
            <a:off x="6693408" y="1828800"/>
            <a:ext cx="4931359" cy="3794760"/>
          </a:xfrm>
          <a:prstGeom prst="roundRect">
            <a:avLst>
              <a:gd name="adj" fmla="val 2169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2"/>
          <p:cNvSpPr/>
          <p:nvPr/>
        </p:nvSpPr>
        <p:spPr>
          <a:xfrm>
            <a:off x="6693408" y="1828800"/>
            <a:ext cx="4931359" cy="82296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20095" y="2157984"/>
            <a:ext cx="457200" cy="4572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022592" y="2176272"/>
            <a:ext cx="37426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SenseAudio-S2 · 架构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7022592" y="2487168"/>
            <a:ext cx="427299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 万亿</a:t>
            </a:r>
            <a:endParaRPr lang="en-US" sz="5000" dirty="0"/>
          </a:p>
        </p:txBody>
      </p:sp>
      <p:sp>
        <p:nvSpPr>
          <p:cNvPr id="32" name="Text 25"/>
          <p:cNvSpPr/>
          <p:nvPr/>
        </p:nvSpPr>
        <p:spPr>
          <a:xfrm>
            <a:off x="7022592" y="3493008"/>
            <a:ext cx="42729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总参数 · MoE 架构</a:t>
            </a:r>
            <a:endParaRPr lang="en-US" sz="1700" dirty="0"/>
          </a:p>
        </p:txBody>
      </p:sp>
      <p:sp>
        <p:nvSpPr>
          <p:cNvPr id="33" name="Shape 26"/>
          <p:cNvSpPr/>
          <p:nvPr/>
        </p:nvSpPr>
        <p:spPr>
          <a:xfrm>
            <a:off x="7040880" y="3986784"/>
            <a:ext cx="731520" cy="0"/>
          </a:xfrm>
          <a:prstGeom prst="line">
            <a:avLst/>
          </a:prstGeom>
          <a:noFill/>
          <a:ln w="25400">
            <a:solidFill>
              <a:srgbClr val="C2A1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27"/>
          <p:cNvSpPr/>
          <p:nvPr/>
        </p:nvSpPr>
        <p:spPr>
          <a:xfrm>
            <a:off x="7022592" y="4133088"/>
            <a:ext cx="427299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混合专家架构、激活 220 亿高效推理；1M 超长上下文 —— 整本财报、整套标书一口气读完。</a:t>
            </a:r>
            <a:endParaRPr lang="en-US" sz="1080" dirty="0"/>
          </a:p>
        </p:txBody>
      </p:sp>
      <p:sp>
        <p:nvSpPr>
          <p:cNvPr id="35" name="Shape 28"/>
          <p:cNvSpPr/>
          <p:nvPr/>
        </p:nvSpPr>
        <p:spPr>
          <a:xfrm>
            <a:off x="7022592" y="5047488"/>
            <a:ext cx="2880360" cy="384048"/>
          </a:xfrm>
          <a:prstGeom prst="roundRect">
            <a:avLst>
              <a:gd name="adj" fmla="val 50000"/>
            </a:avLst>
          </a:prstGeom>
          <a:ln w="12700">
            <a:solidFill>
              <a:srgbClr val="C2A1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29"/>
          <p:cNvSpPr/>
          <p:nvPr/>
        </p:nvSpPr>
        <p:spPr>
          <a:xfrm>
            <a:off x="7022592" y="504748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越用越强 · 持续迭代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566928" y="5779008"/>
            <a:ext cx="11057839" cy="475488"/>
          </a:xfrm>
          <a:prstGeom prst="roundRect">
            <a:avLst>
              <a:gd name="adj" fmla="val 17308"/>
            </a:avLst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1"/>
          <p:cNvSpPr/>
          <p:nvPr/>
        </p:nvSpPr>
        <p:spPr>
          <a:xfrm>
            <a:off x="841248" y="5779008"/>
            <a:ext cx="105091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顺便说个彩蛋：各位今天看到的这套演讲 PPT，同样由 AI 参与制作 —— AIGC 不在远方，就在此刻的屏幕上。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· S2 实测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S2 实测：不是赢在题目上，是赢在工作里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竞争不再是「谁能答对题」，而是「谁能替你完成任务」—— 12 项公开基准，同一把尺子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9221" y="329184"/>
            <a:ext cx="1105546" cy="310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372917" y="356616"/>
            <a:ext cx="0" cy="256032"/>
          </a:xfrm>
          <a:prstGeom prst="line">
            <a:avLst/>
          </a:prstGeom>
          <a:noFill/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1" descr="gfy_logo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5499" y="329184"/>
            <a:ext cx="1601114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 AIGC 创新赋能新质生产力   |   北大合肥论坛 · 新质生产力与智能经济   |   商汤科技 SenseTime</a:t>
            </a:r>
            <a:endParaRPr lang="en-US" sz="760" dirty="0"/>
          </a:p>
        </p:txBody>
      </p:sp>
      <p:sp>
        <p:nvSpPr>
          <p:cNvPr id="10" name="Text 6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37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66928" y="1828800"/>
            <a:ext cx="2524430" cy="352044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8"/>
          <p:cNvSpPr/>
          <p:nvPr/>
        </p:nvSpPr>
        <p:spPr>
          <a:xfrm>
            <a:off x="566928" y="1828800"/>
            <a:ext cx="2524430" cy="82296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9"/>
          <p:cNvSpPr/>
          <p:nvPr/>
        </p:nvSpPr>
        <p:spPr>
          <a:xfrm>
            <a:off x="804672" y="2103120"/>
            <a:ext cx="512064" cy="51206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809" y="2236257"/>
            <a:ext cx="245791" cy="24579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26464" y="2176272"/>
            <a:ext cx="15185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代码工程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804672" y="2798064"/>
            <a:ext cx="204894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73.2%</a:t>
            </a:r>
            <a:endParaRPr lang="en-US" sz="3000" dirty="0"/>
          </a:p>
        </p:txBody>
      </p:sp>
      <p:sp>
        <p:nvSpPr>
          <p:cNvPr id="17" name="Text 12"/>
          <p:cNvSpPr/>
          <p:nvPr/>
        </p:nvSpPr>
        <p:spPr>
          <a:xfrm>
            <a:off x="804672" y="3419856"/>
            <a:ext cx="20489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64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Terminal-Bench 2.0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22960" y="3803904"/>
            <a:ext cx="548640" cy="0"/>
          </a:xfrm>
          <a:prstGeom prst="line">
            <a:avLst/>
          </a:prstGeom>
          <a:noFill/>
          <a:ln w="25400">
            <a:solidFill>
              <a:srgbClr val="C2A1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4"/>
          <p:cNvSpPr/>
          <p:nvPr/>
        </p:nvSpPr>
        <p:spPr>
          <a:xfrm>
            <a:off x="804672" y="3931920"/>
            <a:ext cx="20489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SWE-bench Pro 58.5% · 与 GPT-5.5 仅差 0.1pp</a:t>
            </a:r>
            <a:endParaRPr lang="en-US" sz="880" dirty="0"/>
          </a:p>
        </p:txBody>
      </p:sp>
      <p:sp>
        <p:nvSpPr>
          <p:cNvPr id="20" name="Text 15"/>
          <p:cNvSpPr/>
          <p:nvPr/>
        </p:nvSpPr>
        <p:spPr>
          <a:xfrm>
            <a:off x="804672" y="4535424"/>
            <a:ext cx="20489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真实终端里完整干完工程师的活 —— 超过 Gemini、DeepSeek、Kimi 同代对手。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3411398" y="1828800"/>
            <a:ext cx="2524430" cy="352044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7"/>
          <p:cNvSpPr/>
          <p:nvPr/>
        </p:nvSpPr>
        <p:spPr>
          <a:xfrm>
            <a:off x="3411398" y="1828800"/>
            <a:ext cx="2524430" cy="82296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18"/>
          <p:cNvSpPr/>
          <p:nvPr/>
        </p:nvSpPr>
        <p:spPr>
          <a:xfrm>
            <a:off x="3649142" y="2103120"/>
            <a:ext cx="512064" cy="51206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2278" y="2236257"/>
            <a:ext cx="245791" cy="24579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270934" y="2176272"/>
            <a:ext cx="15185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3649142" y="2798064"/>
            <a:ext cx="204894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74.2%</a:t>
            </a:r>
            <a:endParaRPr lang="en-US" sz="3000" dirty="0"/>
          </a:p>
        </p:txBody>
      </p:sp>
      <p:sp>
        <p:nvSpPr>
          <p:cNvPr id="27" name="Text 21"/>
          <p:cNvSpPr/>
          <p:nvPr/>
        </p:nvSpPr>
        <p:spPr>
          <a:xfrm>
            <a:off x="3649142" y="3419856"/>
            <a:ext cx="20489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OSWorld-Verified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3667430" y="3803904"/>
            <a:ext cx="548640" cy="0"/>
          </a:xfrm>
          <a:prstGeom prst="line">
            <a:avLst/>
          </a:prstGeom>
          <a:noFill/>
          <a:ln w="25400">
            <a:solidFill>
              <a:srgbClr val="C2A1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3"/>
          <p:cNvSpPr/>
          <p:nvPr/>
        </p:nvSpPr>
        <p:spPr>
          <a:xfrm>
            <a:off x="3649142" y="3931920"/>
            <a:ext cx="20489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BrowseComp 83.5% · MCP Atlas 67.8% · Toolathlon 52.6%</a:t>
            </a:r>
            <a:endParaRPr lang="en-US" sz="880" dirty="0"/>
          </a:p>
        </p:txBody>
      </p:sp>
      <p:sp>
        <p:nvSpPr>
          <p:cNvPr id="30" name="Text 24"/>
          <p:cNvSpPr/>
          <p:nvPr/>
        </p:nvSpPr>
        <p:spPr>
          <a:xfrm>
            <a:off x="3649142" y="4535424"/>
            <a:ext cx="20489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操作真实电脑的硬指标位列全球第四 —— 四项 Agent 基准全部第一梯队。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6255868" y="1828800"/>
            <a:ext cx="2524430" cy="352044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26"/>
          <p:cNvSpPr/>
          <p:nvPr/>
        </p:nvSpPr>
        <p:spPr>
          <a:xfrm>
            <a:off x="6255868" y="1828800"/>
            <a:ext cx="2524430" cy="82296"/>
          </a:xfrm>
          <a:prstGeom prst="rect">
            <a:avLst/>
          </a:prstGeom>
          <a:solidFill>
            <a:srgbClr val="2C80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27"/>
          <p:cNvSpPr/>
          <p:nvPr/>
        </p:nvSpPr>
        <p:spPr>
          <a:xfrm>
            <a:off x="6493612" y="2103120"/>
            <a:ext cx="512064" cy="51206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6748" y="2236257"/>
            <a:ext cx="245791" cy="245791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115404" y="2176272"/>
            <a:ext cx="15185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数学推理</a:t>
            </a:r>
            <a:endParaRPr lang="en-US" sz="1350" dirty="0"/>
          </a:p>
        </p:txBody>
      </p:sp>
      <p:sp>
        <p:nvSpPr>
          <p:cNvPr id="36" name="Text 29"/>
          <p:cNvSpPr/>
          <p:nvPr/>
        </p:nvSpPr>
        <p:spPr>
          <a:xfrm>
            <a:off x="6493612" y="2798064"/>
            <a:ext cx="204894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97.1%</a:t>
            </a:r>
            <a:endParaRPr lang="en-US" sz="3000" dirty="0"/>
          </a:p>
        </p:txBody>
      </p:sp>
      <p:sp>
        <p:nvSpPr>
          <p:cNvPr id="37" name="Text 30"/>
          <p:cNvSpPr/>
          <p:nvPr/>
        </p:nvSpPr>
        <p:spPr>
          <a:xfrm>
            <a:off x="6493612" y="3419856"/>
            <a:ext cx="20489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80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AIME 2026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6511900" y="3803904"/>
            <a:ext cx="548640" cy="0"/>
          </a:xfrm>
          <a:prstGeom prst="line">
            <a:avLst/>
          </a:prstGeom>
          <a:noFill/>
          <a:ln w="25400">
            <a:solidFill>
              <a:srgbClr val="C2A1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2"/>
          <p:cNvSpPr/>
          <p:nvPr/>
        </p:nvSpPr>
        <p:spPr>
          <a:xfrm>
            <a:off x="6493612" y="3931920"/>
            <a:ext cx="20489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HMMT Feb 2026 · 96.2%（均为最新真题）</a:t>
            </a:r>
            <a:endParaRPr lang="en-US" sz="880" dirty="0"/>
          </a:p>
        </p:txBody>
      </p:sp>
      <p:sp>
        <p:nvSpPr>
          <p:cNvPr id="40" name="Text 33"/>
          <p:cNvSpPr/>
          <p:nvPr/>
        </p:nvSpPr>
        <p:spPr>
          <a:xfrm>
            <a:off x="6493612" y="4535424"/>
            <a:ext cx="20489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96+ 分顶级段位，超过绝大多数主流旗舰 —— 思维深度站稳 96 分俱乐部。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9100337" y="1828800"/>
            <a:ext cx="2524430" cy="352044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35"/>
          <p:cNvSpPr/>
          <p:nvPr/>
        </p:nvSpPr>
        <p:spPr>
          <a:xfrm>
            <a:off x="9100337" y="1828800"/>
            <a:ext cx="2524430" cy="82296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36"/>
          <p:cNvSpPr/>
          <p:nvPr/>
        </p:nvSpPr>
        <p:spPr>
          <a:xfrm>
            <a:off x="9338081" y="2103120"/>
            <a:ext cx="512064" cy="51206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71218" y="2236257"/>
            <a:ext cx="245791" cy="245791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9959873" y="2176272"/>
            <a:ext cx="15185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知识问答</a:t>
            </a:r>
            <a:endParaRPr lang="en-US" sz="1350" dirty="0"/>
          </a:p>
        </p:txBody>
      </p:sp>
      <p:sp>
        <p:nvSpPr>
          <p:cNvPr id="46" name="Text 38"/>
          <p:cNvSpPr/>
          <p:nvPr/>
        </p:nvSpPr>
        <p:spPr>
          <a:xfrm>
            <a:off x="9338081" y="2798064"/>
            <a:ext cx="204894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91.5%</a:t>
            </a:r>
            <a:endParaRPr lang="en-US" sz="3000" dirty="0"/>
          </a:p>
        </p:txBody>
      </p:sp>
      <p:sp>
        <p:nvSpPr>
          <p:cNvPr id="47" name="Text 39"/>
          <p:cNvSpPr/>
          <p:nvPr/>
        </p:nvSpPr>
        <p:spPr>
          <a:xfrm>
            <a:off x="9338081" y="3419856"/>
            <a:ext cx="20489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GPQA Diamond</a:t>
            </a:r>
            <a:endParaRPr lang="en-US" sz="1100" dirty="0"/>
          </a:p>
        </p:txBody>
      </p:sp>
      <p:sp>
        <p:nvSpPr>
          <p:cNvPr id="48" name="Shape 40"/>
          <p:cNvSpPr/>
          <p:nvPr/>
        </p:nvSpPr>
        <p:spPr>
          <a:xfrm>
            <a:off x="9356369" y="3803904"/>
            <a:ext cx="548640" cy="0"/>
          </a:xfrm>
          <a:prstGeom prst="line">
            <a:avLst/>
          </a:prstGeom>
          <a:noFill/>
          <a:ln w="25400">
            <a:solidFill>
              <a:srgbClr val="C2A1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1"/>
          <p:cNvSpPr/>
          <p:nvPr/>
        </p:nvSpPr>
        <p:spPr>
          <a:xfrm>
            <a:off x="9338081" y="3931920"/>
            <a:ext cx="20489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MMLU-Pro 88.5% · HLE 带工具 52.5%</a:t>
            </a:r>
            <a:endParaRPr lang="en-US" sz="880" dirty="0"/>
          </a:p>
        </p:txBody>
      </p:sp>
      <p:sp>
        <p:nvSpPr>
          <p:cNvPr id="50" name="Text 42"/>
          <p:cNvSpPr/>
          <p:nvPr/>
        </p:nvSpPr>
        <p:spPr>
          <a:xfrm>
            <a:off x="9338081" y="4535424"/>
            <a:ext cx="20489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博士级理科问答进入全球前五 —— 最难综合推理基准领先多款旗舰。</a:t>
            </a:r>
            <a:endParaRPr lang="en-US" sz="1000" dirty="0"/>
          </a:p>
        </p:txBody>
      </p:sp>
      <p:sp>
        <p:nvSpPr>
          <p:cNvPr id="51" name="Text 43"/>
          <p:cNvSpPr/>
          <p:nvPr/>
        </p:nvSpPr>
        <p:spPr>
          <a:xfrm>
            <a:off x="566928" y="5449824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评测说明：全部采用官方 / 学术界公认标准协议 · 竞品分数取自官方发布或第三方公开评测 · 数学题为最新真题（防数据污染）</a:t>
            </a:r>
            <a:endParaRPr lang="en-US" sz="880" dirty="0"/>
          </a:p>
        </p:txBody>
      </p:sp>
      <p:sp>
        <p:nvSpPr>
          <p:cNvPr id="52" name="Shape 44"/>
          <p:cNvSpPr/>
          <p:nvPr/>
        </p:nvSpPr>
        <p:spPr>
          <a:xfrm>
            <a:off x="566928" y="5779008"/>
            <a:ext cx="11057839" cy="475488"/>
          </a:xfrm>
          <a:prstGeom prst="roundRect">
            <a:avLst>
              <a:gd name="adj" fmla="val 17308"/>
            </a:avLst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45"/>
          <p:cNvSpPr/>
          <p:nvPr/>
        </p:nvSpPr>
        <p:spPr>
          <a:xfrm>
            <a:off x="841248" y="5779008"/>
            <a:ext cx="105091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同尺对比：与 GPT-5.5、Claude Opus 4.7、Gemini 3.1 Pro、DeepSeek-V4、Kimi K2.6 同一把尺子 —— 没有短板，才是全能旗舰。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· 成绩单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6·24 成绩单：一组数字，验证 AIGC 的商业化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每个数字都来自 6 月 24 日商汤股东大会 —— 用量与客户，是市场投下的真实选票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9221" y="329184"/>
            <a:ext cx="1105546" cy="310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372917" y="356616"/>
            <a:ext cx="0" cy="256032"/>
          </a:xfrm>
          <a:prstGeom prst="line">
            <a:avLst/>
          </a:prstGeom>
          <a:noFill/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1" descr="gfy_logo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5499" y="329184"/>
            <a:ext cx="1601114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 AIGC 创新赋能新质生产力   |   北大合肥论坛 · 新质生产力与智能经济   |   商汤科技 SenseTime</a:t>
            </a:r>
            <a:endParaRPr lang="en-US" sz="760" dirty="0"/>
          </a:p>
        </p:txBody>
      </p:sp>
      <p:sp>
        <p:nvSpPr>
          <p:cNvPr id="10" name="Text 6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37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66928" y="1810512"/>
            <a:ext cx="347258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8"/>
          <p:cNvSpPr/>
          <p:nvPr/>
        </p:nvSpPr>
        <p:spPr>
          <a:xfrm>
            <a:off x="822960" y="2048256"/>
            <a:ext cx="548640" cy="54864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606" y="2190902"/>
            <a:ext cx="263347" cy="26334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99616" y="2011680"/>
            <a:ext cx="232958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倍</a:t>
            </a:r>
            <a:endParaRPr lang="en-US" sz="2700" dirty="0"/>
          </a:p>
        </p:txBody>
      </p:sp>
      <p:sp>
        <p:nvSpPr>
          <p:cNvPr id="15" name="Text 10"/>
          <p:cNvSpPr/>
          <p:nvPr/>
        </p:nvSpPr>
        <p:spPr>
          <a:xfrm>
            <a:off x="822960" y="2743200"/>
            <a:ext cx="29605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Plan · 使用量增长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822960" y="3017520"/>
            <a:ext cx="29605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5 月推出，两个月使用量增长 7 倍 —— 企业不是买了放着，而是真的在用。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4359554" y="1810512"/>
            <a:ext cx="347258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3"/>
          <p:cNvSpPr/>
          <p:nvPr/>
        </p:nvSpPr>
        <p:spPr>
          <a:xfrm>
            <a:off x="4615586" y="2048256"/>
            <a:ext cx="548640" cy="54864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8233" y="2190902"/>
            <a:ext cx="263347" cy="26334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292242" y="2011680"/>
            <a:ext cx="232958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2000 万</a:t>
            </a:r>
            <a:endParaRPr lang="en-US" sz="2700" dirty="0"/>
          </a:p>
        </p:txBody>
      </p:sp>
      <p:sp>
        <p:nvSpPr>
          <p:cNvPr id="21" name="Text 15"/>
          <p:cNvSpPr/>
          <p:nvPr/>
        </p:nvSpPr>
        <p:spPr>
          <a:xfrm>
            <a:off x="4615586" y="2743200"/>
            <a:ext cx="29605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小浣熊 · 总服务人数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4615586" y="3017520"/>
            <a:ext cx="29605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办公与代码智能体家族服务超两千万人，周活跃用户超 200 万 —— 高频，才是真需求。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8152181" y="1810512"/>
            <a:ext cx="347258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18"/>
          <p:cNvSpPr/>
          <p:nvPr/>
        </p:nvSpPr>
        <p:spPr>
          <a:xfrm>
            <a:off x="8408213" y="2048256"/>
            <a:ext cx="548640" cy="54864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0859" y="2190902"/>
            <a:ext cx="263347" cy="263347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084869" y="2011680"/>
            <a:ext cx="232958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万家</a:t>
            </a:r>
            <a:endParaRPr lang="en-US" sz="2700" dirty="0"/>
          </a:p>
        </p:txBody>
      </p:sp>
      <p:sp>
        <p:nvSpPr>
          <p:cNvPr id="27" name="Text 20"/>
          <p:cNvSpPr/>
          <p:nvPr/>
        </p:nvSpPr>
        <p:spPr>
          <a:xfrm>
            <a:off x="8408213" y="2743200"/>
            <a:ext cx="29605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小浣熊 · 企业客户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8408213" y="3017520"/>
            <a:ext cx="29605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超万家企业把小浣熊用进写码与数据分析 —— 规模化落地，不是零星试点。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566928" y="3813048"/>
            <a:ext cx="347258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3"/>
          <p:cNvSpPr/>
          <p:nvPr/>
        </p:nvSpPr>
        <p:spPr>
          <a:xfrm>
            <a:off x="822960" y="4050792"/>
            <a:ext cx="548640" cy="54864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5606" y="4193438"/>
            <a:ext cx="263347" cy="26334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499616" y="4014216"/>
            <a:ext cx="232958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 万</a:t>
            </a:r>
            <a:endParaRPr lang="en-US" sz="2700" dirty="0"/>
          </a:p>
        </p:txBody>
      </p:sp>
      <p:sp>
        <p:nvSpPr>
          <p:cNvPr id="33" name="Text 25"/>
          <p:cNvSpPr/>
          <p:nvPr/>
        </p:nvSpPr>
        <p:spPr>
          <a:xfrm>
            <a:off x="822960" y="4745736"/>
            <a:ext cx="29605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Seko · 个人创作者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822960" y="5020056"/>
            <a:ext cx="29605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视频创作 Agent 服务创作者超 80 万，同比增长 6 倍 —— 内容生产的新工厂。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4359554" y="3813048"/>
            <a:ext cx="347258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28"/>
          <p:cNvSpPr/>
          <p:nvPr/>
        </p:nvSpPr>
        <p:spPr>
          <a:xfrm>
            <a:off x="4615586" y="4050792"/>
            <a:ext cx="548640" cy="54864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8233" y="4193438"/>
            <a:ext cx="263347" cy="263347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292242" y="4014216"/>
            <a:ext cx="232958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1300 家</a:t>
            </a:r>
            <a:endParaRPr lang="en-US" sz="2700" dirty="0"/>
          </a:p>
        </p:txBody>
      </p:sp>
      <p:sp>
        <p:nvSpPr>
          <p:cNvPr id="39" name="Text 30"/>
          <p:cNvSpPr/>
          <p:nvPr/>
        </p:nvSpPr>
        <p:spPr>
          <a:xfrm>
            <a:off x="4615586" y="4745736"/>
            <a:ext cx="29605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Seko · 企业客户</a:t>
            </a:r>
            <a:endParaRPr lang="en-US" sz="1050" dirty="0"/>
          </a:p>
        </p:txBody>
      </p:sp>
      <p:sp>
        <p:nvSpPr>
          <p:cNvPr id="40" name="Text 31"/>
          <p:cNvSpPr/>
          <p:nvPr/>
        </p:nvSpPr>
        <p:spPr>
          <a:xfrm>
            <a:off x="4615586" y="5020056"/>
            <a:ext cx="29605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 1300 家企业用 Seko 批量生产视频与营销内容 —— 创意产线真正跑了起来。</a:t>
            </a:r>
            <a:endParaRPr lang="en-US" sz="950" dirty="0"/>
          </a:p>
        </p:txBody>
      </p:sp>
      <p:sp>
        <p:nvSpPr>
          <p:cNvPr id="41" name="Shape 32"/>
          <p:cNvSpPr/>
          <p:nvPr/>
        </p:nvSpPr>
        <p:spPr>
          <a:xfrm>
            <a:off x="8152181" y="3813048"/>
            <a:ext cx="347258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33"/>
          <p:cNvSpPr/>
          <p:nvPr/>
        </p:nvSpPr>
        <p:spPr>
          <a:xfrm>
            <a:off x="8408213" y="4050792"/>
            <a:ext cx="548640" cy="54864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50859" y="4193438"/>
            <a:ext cx="263347" cy="263347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9084869" y="4014216"/>
            <a:ext cx="232958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</a:t>
            </a:r>
            <a:endParaRPr lang="en-US" sz="2700" dirty="0"/>
          </a:p>
        </p:txBody>
      </p:sp>
      <p:sp>
        <p:nvSpPr>
          <p:cNvPr id="45" name="Text 35"/>
          <p:cNvSpPr/>
          <p:nvPr/>
        </p:nvSpPr>
        <p:spPr>
          <a:xfrm>
            <a:off x="8408213" y="4745736"/>
            <a:ext cx="29605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普惠 · 零售识别市占率</a:t>
            </a:r>
            <a:endParaRPr lang="en-US" sz="1050" dirty="0"/>
          </a:p>
        </p:txBody>
      </p:sp>
      <p:sp>
        <p:nvSpPr>
          <p:cNvPr id="46" name="Text 36"/>
          <p:cNvSpPr/>
          <p:nvPr/>
        </p:nvSpPr>
        <p:spPr>
          <a:xfrm>
            <a:off x="8408213" y="5020056"/>
            <a:ext cx="29605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智慧零售 Agent OS「普惠」零售识别市占率第一 —— AI 走出机房，走进了真实门店。</a:t>
            </a:r>
            <a:endParaRPr lang="en-US" sz="950" dirty="0"/>
          </a:p>
        </p:txBody>
      </p:sp>
      <p:sp>
        <p:nvSpPr>
          <p:cNvPr id="47" name="Shape 37"/>
          <p:cNvSpPr/>
          <p:nvPr/>
        </p:nvSpPr>
        <p:spPr>
          <a:xfrm>
            <a:off x="566928" y="5815584"/>
            <a:ext cx="11057839" cy="475488"/>
          </a:xfrm>
          <a:prstGeom prst="roundRect">
            <a:avLst>
              <a:gd name="adj" fmla="val 17308"/>
            </a:avLst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38"/>
          <p:cNvSpPr/>
          <p:nvPr/>
        </p:nvSpPr>
        <p:spPr>
          <a:xfrm>
            <a:off x="841248" y="5815584"/>
            <a:ext cx="105091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数字背后是同一件事：AIGC 不再是技术展示，而是被千万级用户、上万家企业每天真实使用的生产力。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737360"/>
            <a:ext cx="5486400" cy="5486400"/>
          </a:xfrm>
          <a:prstGeom prst="ellipse">
            <a:avLst/>
          </a:prstGeom>
          <a:solidFill>
            <a:srgbClr val="2C6498">
              <a:alpha val="1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9966960" y="3108960"/>
            <a:ext cx="4206240" cy="4206240"/>
          </a:xfrm>
          <a:prstGeom prst="ellipse">
            <a:avLst/>
          </a:prstGeom>
          <a:solidFill>
            <a:srgbClr val="C2A14B">
              <a:alpha val="1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9052560" y="731520"/>
            <a:ext cx="4206240" cy="4206240"/>
          </a:xfrm>
          <a:prstGeom prst="ellipse">
            <a:avLst/>
          </a:prstGeom>
          <a:noFill/>
          <a:ln w="12700">
            <a:solidFill>
              <a:srgbClr val="7AA0C4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03504" y="16276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6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12064" y="1847088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 kern="0" spc="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5000" dirty="0"/>
          </a:p>
        </p:txBody>
      </p:sp>
      <p:sp>
        <p:nvSpPr>
          <p:cNvPr id="7" name="Shape 5"/>
          <p:cNvSpPr/>
          <p:nvPr/>
        </p:nvSpPr>
        <p:spPr>
          <a:xfrm>
            <a:off x="621792" y="4114800"/>
            <a:ext cx="1371600" cy="41148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66928" y="42976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场景赋能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585216" y="499262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7AA0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INTO REAL SCENARIOS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5216" y="537667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新质生产力不在发布会里 —— 在工位上、门店里、产线上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83880" y="19659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430768" y="18470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 × 场景一张图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83880" y="24231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430768" y="23042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小浣熊 · 代码与办公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83880" y="28803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430768" y="27614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Seko · 内容创意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83880" y="33375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430768" y="32186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普惠 · 实体门店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83880" y="37947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430768" y="36758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产业纵深 · 落子合肥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183880" y="42519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430768" y="41330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生产函数在改变</a:t>
            </a:r>
            <a:endParaRPr lang="en-US" sz="1250" dirty="0"/>
          </a:p>
        </p:txBody>
      </p:sp>
      <p:pic>
        <p:nvPicPr>
          <p:cNvPr id="23" name="Image 0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9221" y="329184"/>
            <a:ext cx="1105546" cy="310896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10372917" y="356616"/>
            <a:ext cx="0" cy="256032"/>
          </a:xfrm>
          <a:prstGeom prst="line">
            <a:avLst/>
          </a:prstGeom>
          <a:noFill/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5" name="Image 1" descr="gfy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5499" y="329184"/>
            <a:ext cx="1601114" cy="310896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7F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 AIGC 创新赋能新质生产力   |   北大合肥论坛 · 新质生产力与智能经济   |   商汤科技 SenseTime</a:t>
            </a:r>
            <a:endParaRPr lang="en-US" sz="760" dirty="0"/>
          </a:p>
        </p:txBody>
      </p:sp>
      <p:sp>
        <p:nvSpPr>
          <p:cNvPr id="27" name="Text 23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r>
              <a:rPr lang="en-US" sz="900" dirty="0">
                <a:solidFill>
                  <a:srgbClr val="7F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37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· 总览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四路能力，四类生产力 —— 全模态这样落进真实场景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语言、视觉、视频、世界模型四路能力，分别落进工位、屏幕、门店与产线 —— 每一路都有跑通的产品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9221" y="329184"/>
            <a:ext cx="1105546" cy="310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372917" y="356616"/>
            <a:ext cx="0" cy="256032"/>
          </a:xfrm>
          <a:prstGeom prst="line">
            <a:avLst/>
          </a:prstGeom>
          <a:noFill/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1" descr="gfy_logo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5499" y="329184"/>
            <a:ext cx="1601114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 AIGC 创新赋能新质生产力   |   北大合肥论坛 · 新质生产力与智能经济   |   商汤科技 SenseTime</a:t>
            </a:r>
            <a:endParaRPr lang="en-US" sz="760" dirty="0"/>
          </a:p>
        </p:txBody>
      </p:sp>
      <p:sp>
        <p:nvSpPr>
          <p:cNvPr id="10" name="Text 6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37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566928" y="16824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全模态能力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785616" y="1682496"/>
            <a:ext cx="78574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四类生产力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66928" y="2171700"/>
            <a:ext cx="2011680" cy="548640"/>
          </a:xfrm>
          <a:prstGeom prst="roundRect">
            <a:avLst>
              <a:gd name="adj" fmla="val 15000"/>
            </a:avLst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0"/>
          <p:cNvSpPr/>
          <p:nvPr/>
        </p:nvSpPr>
        <p:spPr>
          <a:xfrm>
            <a:off x="566928" y="2171700"/>
            <a:ext cx="73152" cy="548640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1"/>
          <p:cNvSpPr/>
          <p:nvPr/>
        </p:nvSpPr>
        <p:spPr>
          <a:xfrm>
            <a:off x="640080" y="217170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2514600" y="2395728"/>
            <a:ext cx="100584" cy="100584"/>
          </a:xfrm>
          <a:prstGeom prst="ellipse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3"/>
          <p:cNvSpPr/>
          <p:nvPr/>
        </p:nvSpPr>
        <p:spPr>
          <a:xfrm>
            <a:off x="566928" y="3131820"/>
            <a:ext cx="2011680" cy="548640"/>
          </a:xfrm>
          <a:prstGeom prst="roundRect">
            <a:avLst>
              <a:gd name="adj" fmla="val 15000"/>
            </a:avLst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4"/>
          <p:cNvSpPr/>
          <p:nvPr/>
        </p:nvSpPr>
        <p:spPr>
          <a:xfrm>
            <a:off x="566928" y="3131820"/>
            <a:ext cx="73152" cy="548640"/>
          </a:xfrm>
          <a:prstGeom prst="rect">
            <a:avLst/>
          </a:prstGeom>
          <a:solidFill>
            <a:srgbClr val="2C80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5"/>
          <p:cNvSpPr/>
          <p:nvPr/>
        </p:nvSpPr>
        <p:spPr>
          <a:xfrm>
            <a:off x="640080" y="313182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2514600" y="3355848"/>
            <a:ext cx="100584" cy="100584"/>
          </a:xfrm>
          <a:prstGeom prst="ellipse">
            <a:avLst/>
          </a:prstGeom>
          <a:solidFill>
            <a:srgbClr val="2C80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7"/>
          <p:cNvSpPr/>
          <p:nvPr/>
        </p:nvSpPr>
        <p:spPr>
          <a:xfrm>
            <a:off x="566928" y="4091940"/>
            <a:ext cx="2011680" cy="548640"/>
          </a:xfrm>
          <a:prstGeom prst="roundRect">
            <a:avLst>
              <a:gd name="adj" fmla="val 15000"/>
            </a:avLst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8"/>
          <p:cNvSpPr/>
          <p:nvPr/>
        </p:nvSpPr>
        <p:spPr>
          <a:xfrm>
            <a:off x="566928" y="4091940"/>
            <a:ext cx="73152" cy="548640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19"/>
          <p:cNvSpPr/>
          <p:nvPr/>
        </p:nvSpPr>
        <p:spPr>
          <a:xfrm>
            <a:off x="640080" y="409194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2514600" y="4315968"/>
            <a:ext cx="100584" cy="100584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1"/>
          <p:cNvSpPr/>
          <p:nvPr/>
        </p:nvSpPr>
        <p:spPr>
          <a:xfrm>
            <a:off x="566928" y="5052060"/>
            <a:ext cx="2011680" cy="548640"/>
          </a:xfrm>
          <a:prstGeom prst="roundRect">
            <a:avLst>
              <a:gd name="adj" fmla="val 15000"/>
            </a:avLst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2"/>
          <p:cNvSpPr/>
          <p:nvPr/>
        </p:nvSpPr>
        <p:spPr>
          <a:xfrm>
            <a:off x="566928" y="5052060"/>
            <a:ext cx="73152" cy="548640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3"/>
          <p:cNvSpPr/>
          <p:nvPr/>
        </p:nvSpPr>
        <p:spPr>
          <a:xfrm>
            <a:off x="640080" y="505206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世界模型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2514600" y="5276088"/>
            <a:ext cx="100584" cy="100584"/>
          </a:xfrm>
          <a:prstGeom prst="ellipse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5"/>
          <p:cNvSpPr/>
          <p:nvPr/>
        </p:nvSpPr>
        <p:spPr>
          <a:xfrm>
            <a:off x="2633472" y="2446020"/>
            <a:ext cx="1078992" cy="0"/>
          </a:xfrm>
          <a:prstGeom prst="line">
            <a:avLst/>
          </a:prstGeom>
          <a:noFill/>
          <a:ln w="19050">
            <a:solidFill>
              <a:srgbClr val="2C6498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6"/>
          <p:cNvSpPr/>
          <p:nvPr/>
        </p:nvSpPr>
        <p:spPr>
          <a:xfrm flipV="1">
            <a:off x="2633472" y="3406140"/>
            <a:ext cx="1078992" cy="960120"/>
          </a:xfrm>
          <a:prstGeom prst="line">
            <a:avLst/>
          </a:prstGeom>
          <a:noFill/>
          <a:ln w="19050">
            <a:solidFill>
              <a:srgbClr val="C2A14B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7"/>
          <p:cNvSpPr/>
          <p:nvPr/>
        </p:nvSpPr>
        <p:spPr>
          <a:xfrm>
            <a:off x="2633472" y="3406140"/>
            <a:ext cx="1078992" cy="960120"/>
          </a:xfrm>
          <a:prstGeom prst="line">
            <a:avLst/>
          </a:prstGeom>
          <a:noFill/>
          <a:ln w="19050">
            <a:solidFill>
              <a:srgbClr val="2C8088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28"/>
          <p:cNvSpPr/>
          <p:nvPr/>
        </p:nvSpPr>
        <p:spPr>
          <a:xfrm>
            <a:off x="2633472" y="5326380"/>
            <a:ext cx="1078992" cy="0"/>
          </a:xfrm>
          <a:prstGeom prst="line">
            <a:avLst/>
          </a:prstGeom>
          <a:noFill/>
          <a:ln w="19050">
            <a:solidFill>
              <a:srgbClr val="1A4A7A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29"/>
          <p:cNvSpPr/>
          <p:nvPr/>
        </p:nvSpPr>
        <p:spPr>
          <a:xfrm>
            <a:off x="3767328" y="2011680"/>
            <a:ext cx="7857439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0"/>
          <p:cNvSpPr/>
          <p:nvPr/>
        </p:nvSpPr>
        <p:spPr>
          <a:xfrm>
            <a:off x="3767328" y="2011680"/>
            <a:ext cx="73152" cy="868680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1"/>
          <p:cNvSpPr/>
          <p:nvPr/>
        </p:nvSpPr>
        <p:spPr>
          <a:xfrm>
            <a:off x="3968496" y="2189988"/>
            <a:ext cx="512064" cy="51206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1633" y="2323125"/>
            <a:ext cx="245791" cy="245791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4626864" y="2148840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代码与办公生产力</a:t>
            </a:r>
            <a:endParaRPr lang="en-US" sz="1300" dirty="0"/>
          </a:p>
        </p:txBody>
      </p:sp>
      <p:sp>
        <p:nvSpPr>
          <p:cNvPr id="38" name="Text 33"/>
          <p:cNvSpPr/>
          <p:nvPr/>
        </p:nvSpPr>
        <p:spPr>
          <a:xfrm>
            <a:off x="4626864" y="2478024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 · 代码</a:t>
            </a:r>
            <a:endParaRPr lang="en-US" sz="860" dirty="0"/>
          </a:p>
        </p:txBody>
      </p:sp>
      <p:sp>
        <p:nvSpPr>
          <p:cNvPr id="39" name="Text 34"/>
          <p:cNvSpPr/>
          <p:nvPr/>
        </p:nvSpPr>
        <p:spPr>
          <a:xfrm>
            <a:off x="6784848" y="2011680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读得懂需求、写得出代码、做得了分析 —— 白领工位上最高频的活，交给一个不知疲倦的数字实习生。</a:t>
            </a:r>
            <a:endParaRPr lang="en-US" sz="980" dirty="0"/>
          </a:p>
        </p:txBody>
      </p:sp>
      <p:sp>
        <p:nvSpPr>
          <p:cNvPr id="40" name="Shape 35"/>
          <p:cNvSpPr/>
          <p:nvPr/>
        </p:nvSpPr>
        <p:spPr>
          <a:xfrm>
            <a:off x="10332720" y="2157984"/>
            <a:ext cx="0" cy="576072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6"/>
          <p:cNvSpPr/>
          <p:nvPr/>
        </p:nvSpPr>
        <p:spPr>
          <a:xfrm>
            <a:off x="10442448" y="2011680"/>
            <a:ext cx="107259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C7E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代表产品 · Sowork/小浣熊</a:t>
            </a:r>
            <a:endParaRPr lang="en-US" sz="900" dirty="0"/>
          </a:p>
        </p:txBody>
      </p:sp>
      <p:sp>
        <p:nvSpPr>
          <p:cNvPr id="42" name="Shape 37"/>
          <p:cNvSpPr/>
          <p:nvPr/>
        </p:nvSpPr>
        <p:spPr>
          <a:xfrm>
            <a:off x="3767328" y="2971800"/>
            <a:ext cx="7857439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38"/>
          <p:cNvSpPr/>
          <p:nvPr/>
        </p:nvSpPr>
        <p:spPr>
          <a:xfrm>
            <a:off x="3767328" y="2971800"/>
            <a:ext cx="73152" cy="868680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39"/>
          <p:cNvSpPr/>
          <p:nvPr/>
        </p:nvSpPr>
        <p:spPr>
          <a:xfrm>
            <a:off x="3968496" y="3150108"/>
            <a:ext cx="512064" cy="51206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1633" y="3283245"/>
            <a:ext cx="245791" cy="245791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4626864" y="3108960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内容创意生产力</a:t>
            </a:r>
            <a:endParaRPr lang="en-US" sz="1300" dirty="0"/>
          </a:p>
        </p:txBody>
      </p:sp>
      <p:sp>
        <p:nvSpPr>
          <p:cNvPr id="47" name="Text 41"/>
          <p:cNvSpPr/>
          <p:nvPr/>
        </p:nvSpPr>
        <p:spPr>
          <a:xfrm>
            <a:off x="4626864" y="3438144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 · 生成</a:t>
            </a:r>
            <a:endParaRPr lang="en-US" sz="860" dirty="0"/>
          </a:p>
        </p:txBody>
      </p:sp>
      <p:sp>
        <p:nvSpPr>
          <p:cNvPr id="48" name="Text 42"/>
          <p:cNvSpPr/>
          <p:nvPr/>
        </p:nvSpPr>
        <p:spPr>
          <a:xfrm>
            <a:off x="6784848" y="2971800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从脚本到成片一条链路生成，营销视频不再按周排期 —— 创意者出想法，AI 出产能。</a:t>
            </a:r>
            <a:endParaRPr lang="en-US" sz="980" dirty="0"/>
          </a:p>
        </p:txBody>
      </p:sp>
      <p:sp>
        <p:nvSpPr>
          <p:cNvPr id="49" name="Shape 43"/>
          <p:cNvSpPr/>
          <p:nvPr/>
        </p:nvSpPr>
        <p:spPr>
          <a:xfrm>
            <a:off x="10332720" y="3118104"/>
            <a:ext cx="0" cy="576072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4"/>
          <p:cNvSpPr/>
          <p:nvPr/>
        </p:nvSpPr>
        <p:spPr>
          <a:xfrm>
            <a:off x="10442448" y="2971800"/>
            <a:ext cx="107259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C7E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代表产品 · Seko</a:t>
            </a:r>
            <a:endParaRPr lang="en-US" sz="900" dirty="0"/>
          </a:p>
        </p:txBody>
      </p:sp>
      <p:sp>
        <p:nvSpPr>
          <p:cNvPr id="51" name="Shape 45"/>
          <p:cNvSpPr/>
          <p:nvPr/>
        </p:nvSpPr>
        <p:spPr>
          <a:xfrm>
            <a:off x="3767328" y="3931920"/>
            <a:ext cx="7857439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46"/>
          <p:cNvSpPr/>
          <p:nvPr/>
        </p:nvSpPr>
        <p:spPr>
          <a:xfrm>
            <a:off x="3767328" y="3931920"/>
            <a:ext cx="73152" cy="868680"/>
          </a:xfrm>
          <a:prstGeom prst="rect">
            <a:avLst/>
          </a:prstGeom>
          <a:solidFill>
            <a:srgbClr val="2C80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47"/>
          <p:cNvSpPr/>
          <p:nvPr/>
        </p:nvSpPr>
        <p:spPr>
          <a:xfrm>
            <a:off x="3968496" y="4110228"/>
            <a:ext cx="512064" cy="51206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5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1633" y="4243365"/>
            <a:ext cx="245791" cy="245791"/>
          </a:xfrm>
          <a:prstGeom prst="rect">
            <a:avLst/>
          </a:prstGeom>
        </p:spPr>
      </p:pic>
      <p:sp>
        <p:nvSpPr>
          <p:cNvPr id="55" name="Text 48"/>
          <p:cNvSpPr/>
          <p:nvPr/>
        </p:nvSpPr>
        <p:spPr>
          <a:xfrm>
            <a:off x="4626864" y="4069080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实体门店生产力</a:t>
            </a:r>
            <a:endParaRPr lang="en-US" sz="1300" dirty="0"/>
          </a:p>
        </p:txBody>
      </p:sp>
      <p:sp>
        <p:nvSpPr>
          <p:cNvPr id="56" name="Text 49"/>
          <p:cNvSpPr/>
          <p:nvPr/>
        </p:nvSpPr>
        <p:spPr>
          <a:xfrm>
            <a:off x="4626864" y="4398264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 · 识别</a:t>
            </a:r>
            <a:endParaRPr lang="en-US" sz="860" dirty="0"/>
          </a:p>
        </p:txBody>
      </p:sp>
      <p:sp>
        <p:nvSpPr>
          <p:cNvPr id="57" name="Text 50"/>
          <p:cNvSpPr/>
          <p:nvPr/>
        </p:nvSpPr>
        <p:spPr>
          <a:xfrm>
            <a:off x="6784848" y="3931920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货架、陈列、客流，摄像头里的世界被读懂 —— 线下门店第一次有了全天候的数字督导。</a:t>
            </a:r>
            <a:endParaRPr lang="en-US" sz="980" dirty="0"/>
          </a:p>
        </p:txBody>
      </p:sp>
      <p:sp>
        <p:nvSpPr>
          <p:cNvPr id="58" name="Shape 51"/>
          <p:cNvSpPr/>
          <p:nvPr/>
        </p:nvSpPr>
        <p:spPr>
          <a:xfrm>
            <a:off x="10332720" y="4078224"/>
            <a:ext cx="0" cy="576072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2"/>
          <p:cNvSpPr/>
          <p:nvPr/>
        </p:nvSpPr>
        <p:spPr>
          <a:xfrm>
            <a:off x="10442448" y="3931920"/>
            <a:ext cx="107259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C7E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代表产品 · 普惠</a:t>
            </a:r>
            <a:endParaRPr lang="en-US" sz="900" dirty="0"/>
          </a:p>
        </p:txBody>
      </p:sp>
      <p:sp>
        <p:nvSpPr>
          <p:cNvPr id="60" name="Shape 53"/>
          <p:cNvSpPr/>
          <p:nvPr/>
        </p:nvSpPr>
        <p:spPr>
          <a:xfrm>
            <a:off x="3767328" y="4892040"/>
            <a:ext cx="7857439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Shape 54"/>
          <p:cNvSpPr/>
          <p:nvPr/>
        </p:nvSpPr>
        <p:spPr>
          <a:xfrm>
            <a:off x="3767328" y="4892040"/>
            <a:ext cx="73152" cy="868680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55"/>
          <p:cNvSpPr/>
          <p:nvPr/>
        </p:nvSpPr>
        <p:spPr>
          <a:xfrm>
            <a:off x="3968496" y="5070348"/>
            <a:ext cx="512064" cy="51206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6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01633" y="5203485"/>
            <a:ext cx="245791" cy="245791"/>
          </a:xfrm>
          <a:prstGeom prst="rect">
            <a:avLst/>
          </a:prstGeom>
        </p:spPr>
      </p:pic>
      <p:sp>
        <p:nvSpPr>
          <p:cNvPr id="64" name="Text 56"/>
          <p:cNvSpPr/>
          <p:nvPr/>
        </p:nvSpPr>
        <p:spPr>
          <a:xfrm>
            <a:off x="4626864" y="5029200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产业纵深生产力</a:t>
            </a:r>
            <a:endParaRPr lang="en-US" sz="1300" dirty="0"/>
          </a:p>
        </p:txBody>
      </p:sp>
      <p:sp>
        <p:nvSpPr>
          <p:cNvPr id="65" name="Text 57"/>
          <p:cNvSpPr/>
          <p:nvPr/>
        </p:nvSpPr>
        <p:spPr>
          <a:xfrm>
            <a:off x="4626864" y="5358384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世界模型 · 全模态</a:t>
            </a:r>
            <a:endParaRPr lang="en-US" sz="860" dirty="0"/>
          </a:p>
        </p:txBody>
      </p:sp>
      <p:sp>
        <p:nvSpPr>
          <p:cNvPr id="66" name="Text 58"/>
          <p:cNvSpPr/>
          <p:nvPr/>
        </p:nvSpPr>
        <p:spPr>
          <a:xfrm>
            <a:off x="6784848" y="4892040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看懂时空与因果，为自动驾驶、具身智能与产业仿真打底 —— 通向最深的生产环节。</a:t>
            </a:r>
            <a:endParaRPr lang="en-US" sz="980" dirty="0"/>
          </a:p>
        </p:txBody>
      </p:sp>
      <p:sp>
        <p:nvSpPr>
          <p:cNvPr id="67" name="Shape 59"/>
          <p:cNvSpPr/>
          <p:nvPr/>
        </p:nvSpPr>
        <p:spPr>
          <a:xfrm>
            <a:off x="10332720" y="5038344"/>
            <a:ext cx="0" cy="576072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Text 60"/>
          <p:cNvSpPr/>
          <p:nvPr/>
        </p:nvSpPr>
        <p:spPr>
          <a:xfrm>
            <a:off x="10442448" y="4892040"/>
            <a:ext cx="107259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C7E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底座 · 开悟世界模型</a:t>
            </a:r>
            <a:endParaRPr lang="en-US" sz="900" dirty="0"/>
          </a:p>
        </p:txBody>
      </p:sp>
      <p:sp>
        <p:nvSpPr>
          <p:cNvPr id="69" name="Shape 61"/>
          <p:cNvSpPr/>
          <p:nvPr/>
        </p:nvSpPr>
        <p:spPr>
          <a:xfrm>
            <a:off x="566928" y="5870448"/>
            <a:ext cx="11057839" cy="475488"/>
          </a:xfrm>
          <a:prstGeom prst="roundRect">
            <a:avLst>
              <a:gd name="adj" fmla="val 17308"/>
            </a:avLst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0" name="Text 62"/>
          <p:cNvSpPr/>
          <p:nvPr/>
        </p:nvSpPr>
        <p:spPr>
          <a:xfrm>
            <a:off x="886968" y="5870448"/>
            <a:ext cx="1041775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全模态不是技术炫技</a:t>
            </a:r>
            <a:r>
              <a:rPr lang="en-US" sz="12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——  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真实的生产场景本来就是多模态的，能力齐了，场景才通。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· 小浣熊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代码与办公：每个工位，一个数字实习生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小浣熊办公与代码智能体家族 —— 程序员写码提效，业务人员人人能做数据分析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9221" y="329184"/>
            <a:ext cx="1105546" cy="310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372917" y="356616"/>
            <a:ext cx="0" cy="256032"/>
          </a:xfrm>
          <a:prstGeom prst="line">
            <a:avLst/>
          </a:prstGeom>
          <a:noFill/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1" descr="gfy_logo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5499" y="329184"/>
            <a:ext cx="1601114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 AIGC 创新赋能新质生产力   |   北大合肥论坛 · 新质生产力与智能经济   |   商汤科技 SenseTime</a:t>
            </a:r>
            <a:endParaRPr lang="en-US" sz="760" dirty="0"/>
          </a:p>
        </p:txBody>
      </p:sp>
      <p:sp>
        <p:nvSpPr>
          <p:cNvPr id="10" name="Text 6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37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66928" y="1719072"/>
            <a:ext cx="11057839" cy="822960"/>
          </a:xfrm>
          <a:prstGeom prst="roundRect">
            <a:avLst>
              <a:gd name="adj" fmla="val 10000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8"/>
          <p:cNvSpPr/>
          <p:nvPr/>
        </p:nvSpPr>
        <p:spPr>
          <a:xfrm>
            <a:off x="566928" y="1719072"/>
            <a:ext cx="91440" cy="822960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9"/>
          <p:cNvSpPr/>
          <p:nvPr/>
        </p:nvSpPr>
        <p:spPr>
          <a:xfrm>
            <a:off x="896112" y="1719072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2000 万+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2395728" y="1874520"/>
            <a:ext cx="1765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总服务人数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395728" y="2176272"/>
            <a:ext cx="17657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办公 / 代码智能体家族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4252874" y="1883664"/>
            <a:ext cx="0" cy="493776"/>
          </a:xfrm>
          <a:prstGeom prst="line">
            <a:avLst/>
          </a:prstGeom>
          <a:noFill/>
          <a:ln w="12700">
            <a:solidFill>
              <a:srgbClr val="2C4A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3"/>
          <p:cNvSpPr/>
          <p:nvPr/>
        </p:nvSpPr>
        <p:spPr>
          <a:xfrm>
            <a:off x="4582058" y="1719072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 万+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6081674" y="1874520"/>
            <a:ext cx="1765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周活跃用户 WAU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081674" y="2176272"/>
            <a:ext cx="17657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高频、真实地在用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7938821" y="1883664"/>
            <a:ext cx="0" cy="493776"/>
          </a:xfrm>
          <a:prstGeom prst="line">
            <a:avLst/>
          </a:prstGeom>
          <a:noFill/>
          <a:ln w="12700">
            <a:solidFill>
              <a:srgbClr val="2C4A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7"/>
          <p:cNvSpPr/>
          <p:nvPr/>
        </p:nvSpPr>
        <p:spPr>
          <a:xfrm>
            <a:off x="8268005" y="1719072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万+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9767621" y="1874520"/>
            <a:ext cx="1765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企业客户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9767621" y="2176272"/>
            <a:ext cx="17657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跨行业规模化落地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566928" y="2688336"/>
            <a:ext cx="53460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1"/>
          <p:cNvSpPr/>
          <p:nvPr/>
        </p:nvSpPr>
        <p:spPr>
          <a:xfrm>
            <a:off x="804672" y="2962656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073" y="3110057"/>
            <a:ext cx="272125" cy="272125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536192" y="2889504"/>
            <a:ext cx="415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程序员 · 写码提效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1536192" y="3236976"/>
            <a:ext cx="4120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补全、生成、评审、排错一条龙，把重复的样板代码交出去 —— 工程师的时间还给架构与难题。</a:t>
            </a:r>
            <a:endParaRPr lang="en-US" sz="1020" dirty="0"/>
          </a:p>
        </p:txBody>
      </p:sp>
      <p:sp>
        <p:nvSpPr>
          <p:cNvPr id="29" name="Shape 24"/>
          <p:cNvSpPr/>
          <p:nvPr/>
        </p:nvSpPr>
        <p:spPr>
          <a:xfrm>
            <a:off x="6278728" y="2688336"/>
            <a:ext cx="53460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5"/>
          <p:cNvSpPr/>
          <p:nvPr/>
        </p:nvSpPr>
        <p:spPr>
          <a:xfrm>
            <a:off x="6516472" y="2962656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3873" y="3110057"/>
            <a:ext cx="272125" cy="272125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247992" y="2889504"/>
            <a:ext cx="415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业务人员 · 数据分析</a:t>
            </a:r>
            <a:endParaRPr lang="en-US" sz="1350" dirty="0"/>
          </a:p>
        </p:txBody>
      </p:sp>
      <p:sp>
        <p:nvSpPr>
          <p:cNvPr id="33" name="Text 27"/>
          <p:cNvSpPr/>
          <p:nvPr/>
        </p:nvSpPr>
        <p:spPr>
          <a:xfrm>
            <a:off x="7247992" y="3236976"/>
            <a:ext cx="4120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一句话出图表、出结论，不会写 SQL 的运营与财务也能自己跑数，自己回答老板的问题。</a:t>
            </a:r>
            <a:endParaRPr lang="en-US" sz="1020" dirty="0"/>
          </a:p>
        </p:txBody>
      </p:sp>
      <p:sp>
        <p:nvSpPr>
          <p:cNvPr id="34" name="Shape 28"/>
          <p:cNvSpPr/>
          <p:nvPr/>
        </p:nvSpPr>
        <p:spPr>
          <a:xfrm>
            <a:off x="566928" y="4224528"/>
            <a:ext cx="53460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29"/>
          <p:cNvSpPr/>
          <p:nvPr/>
        </p:nvSpPr>
        <p:spPr>
          <a:xfrm>
            <a:off x="804672" y="4498848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073" y="4646249"/>
            <a:ext cx="272125" cy="272125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536192" y="4425696"/>
            <a:ext cx="415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文档材料 · 起草打底</a:t>
            </a:r>
            <a:endParaRPr lang="en-US" sz="1350" dirty="0"/>
          </a:p>
        </p:txBody>
      </p:sp>
      <p:sp>
        <p:nvSpPr>
          <p:cNvPr id="38" name="Text 31"/>
          <p:cNvSpPr/>
          <p:nvPr/>
        </p:nvSpPr>
        <p:spPr>
          <a:xfrm>
            <a:off x="1536192" y="4773168"/>
            <a:ext cx="4120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周报、方案、会议纪要按你的口径生成初稿，人只做判断与润色 —— 交付节奏快出一拍。</a:t>
            </a:r>
            <a:endParaRPr lang="en-US" sz="1020" dirty="0"/>
          </a:p>
        </p:txBody>
      </p:sp>
      <p:sp>
        <p:nvSpPr>
          <p:cNvPr id="39" name="Shape 32"/>
          <p:cNvSpPr/>
          <p:nvPr/>
        </p:nvSpPr>
        <p:spPr>
          <a:xfrm>
            <a:off x="6278728" y="4224528"/>
            <a:ext cx="53460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3"/>
          <p:cNvSpPr/>
          <p:nvPr/>
        </p:nvSpPr>
        <p:spPr>
          <a:xfrm>
            <a:off x="6516472" y="4498848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3873" y="4646249"/>
            <a:ext cx="272125" cy="272125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7247992" y="4425696"/>
            <a:ext cx="415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跨部门 · 通用办公</a:t>
            </a:r>
            <a:endParaRPr lang="en-US" sz="1350" dirty="0"/>
          </a:p>
        </p:txBody>
      </p:sp>
      <p:sp>
        <p:nvSpPr>
          <p:cNvPr id="43" name="Text 35"/>
          <p:cNvSpPr/>
          <p:nvPr/>
        </p:nvSpPr>
        <p:spPr>
          <a:xfrm>
            <a:off x="7247992" y="4773168"/>
            <a:ext cx="4120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超万家企业在用：从研发部门起步，蔓延到运营、财务、人事 —— 覆盖的工位越多，复利越大。</a:t>
            </a:r>
            <a:endParaRPr lang="en-US" sz="1020" dirty="0"/>
          </a:p>
        </p:txBody>
      </p:sp>
      <p:sp>
        <p:nvSpPr>
          <p:cNvPr id="44" name="Shape 36"/>
          <p:cNvSpPr/>
          <p:nvPr/>
        </p:nvSpPr>
        <p:spPr>
          <a:xfrm>
            <a:off x="566928" y="5742432"/>
            <a:ext cx="11057839" cy="548640"/>
          </a:xfrm>
          <a:prstGeom prst="roundRect">
            <a:avLst>
              <a:gd name="adj" fmla="val 15000"/>
            </a:avLst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37"/>
          <p:cNvSpPr/>
          <p:nvPr/>
        </p:nvSpPr>
        <p:spPr>
          <a:xfrm>
            <a:off x="886968" y="5742432"/>
            <a:ext cx="104177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改变了什么</a:t>
            </a:r>
            <a:r>
              <a:rPr lang="en-US" sz="125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——  </a:t>
            </a: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写代码和做分析，从「专业岗位的手艺」变成「每个工位的标配」。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· SEKO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一个人的创意，一座「内容工厂」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视频与内容创作 Agent「Seko」—— 让一个人的想法，拥有一个团队的产能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9221" y="329184"/>
            <a:ext cx="1105546" cy="310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372917" y="356616"/>
            <a:ext cx="0" cy="256032"/>
          </a:xfrm>
          <a:prstGeom prst="line">
            <a:avLst/>
          </a:prstGeom>
          <a:noFill/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1" descr="gfy_logo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5499" y="329184"/>
            <a:ext cx="1601114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 AIGC 创新赋能新质生产力   |   北大合肥论坛 · 新质生产力与智能经济   |   商汤科技 SenseTime</a:t>
            </a:r>
            <a:endParaRPr lang="en-US" sz="760" dirty="0"/>
          </a:p>
        </p:txBody>
      </p:sp>
      <p:sp>
        <p:nvSpPr>
          <p:cNvPr id="10" name="Text 6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37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66928" y="1719072"/>
            <a:ext cx="11057839" cy="822960"/>
          </a:xfrm>
          <a:prstGeom prst="roundRect">
            <a:avLst>
              <a:gd name="adj" fmla="val 10000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8"/>
          <p:cNvSpPr/>
          <p:nvPr/>
        </p:nvSpPr>
        <p:spPr>
          <a:xfrm>
            <a:off x="566928" y="1719072"/>
            <a:ext cx="91440" cy="822960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9"/>
          <p:cNvSpPr/>
          <p:nvPr/>
        </p:nvSpPr>
        <p:spPr>
          <a:xfrm>
            <a:off x="896112" y="1719072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 万+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2395728" y="1874520"/>
            <a:ext cx="1765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个人创作者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395728" y="2176272"/>
            <a:ext cx="17657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内容生产的主力军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4252874" y="1883664"/>
            <a:ext cx="0" cy="493776"/>
          </a:xfrm>
          <a:prstGeom prst="line">
            <a:avLst/>
          </a:prstGeom>
          <a:noFill/>
          <a:ln w="12700">
            <a:solidFill>
              <a:srgbClr val="2C4A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3"/>
          <p:cNvSpPr/>
          <p:nvPr/>
        </p:nvSpPr>
        <p:spPr>
          <a:xfrm>
            <a:off x="4582058" y="1719072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倍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6081674" y="1874520"/>
            <a:ext cx="1765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创作者同比增长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081674" y="2176272"/>
            <a:ext cx="17657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一年间的爆发曲线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7938821" y="1883664"/>
            <a:ext cx="0" cy="493776"/>
          </a:xfrm>
          <a:prstGeom prst="line">
            <a:avLst/>
          </a:prstGeom>
          <a:noFill/>
          <a:ln w="12700">
            <a:solidFill>
              <a:srgbClr val="2C4A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7"/>
          <p:cNvSpPr/>
          <p:nvPr/>
        </p:nvSpPr>
        <p:spPr>
          <a:xfrm>
            <a:off x="8268005" y="1719072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1300 家+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9767621" y="1874520"/>
            <a:ext cx="1765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企业客户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9767621" y="2176272"/>
            <a:ext cx="17657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品牌与机构批量在用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566928" y="2688336"/>
            <a:ext cx="53460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1"/>
          <p:cNvSpPr/>
          <p:nvPr/>
        </p:nvSpPr>
        <p:spPr>
          <a:xfrm>
            <a:off x="804672" y="2962656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073" y="3110057"/>
            <a:ext cx="272125" cy="272125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536192" y="2889504"/>
            <a:ext cx="415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短视频 · 从脚本到成片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1536192" y="3236976"/>
            <a:ext cx="4120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选题、脚本、分镜、成片一条流水线 —— 一个人也能保持高频更新，不再断档。</a:t>
            </a:r>
            <a:endParaRPr lang="en-US" sz="1020" dirty="0"/>
          </a:p>
        </p:txBody>
      </p:sp>
      <p:sp>
        <p:nvSpPr>
          <p:cNvPr id="29" name="Shape 24"/>
          <p:cNvSpPr/>
          <p:nvPr/>
        </p:nvSpPr>
        <p:spPr>
          <a:xfrm>
            <a:off x="6278728" y="2688336"/>
            <a:ext cx="53460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5"/>
          <p:cNvSpPr/>
          <p:nvPr/>
        </p:nvSpPr>
        <p:spPr>
          <a:xfrm>
            <a:off x="6516472" y="2962656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3873" y="3110057"/>
            <a:ext cx="272125" cy="272125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247992" y="2889504"/>
            <a:ext cx="415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品牌营销 · 素材量产</a:t>
            </a:r>
            <a:endParaRPr lang="en-US" sz="1350" dirty="0"/>
          </a:p>
        </p:txBody>
      </p:sp>
      <p:sp>
        <p:nvSpPr>
          <p:cNvPr id="33" name="Text 27"/>
          <p:cNvSpPr/>
          <p:nvPr/>
        </p:nvSpPr>
        <p:spPr>
          <a:xfrm>
            <a:off x="7247992" y="3236976"/>
            <a:ext cx="4120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一个卖点长出几十版素材，按人群、按平台快速试错 —— 好创意不是想出来的，是迭代出来的。</a:t>
            </a:r>
            <a:endParaRPr lang="en-US" sz="1020" dirty="0"/>
          </a:p>
        </p:txBody>
      </p:sp>
      <p:sp>
        <p:nvSpPr>
          <p:cNvPr id="34" name="Shape 28"/>
          <p:cNvSpPr/>
          <p:nvPr/>
        </p:nvSpPr>
        <p:spPr>
          <a:xfrm>
            <a:off x="566928" y="4224528"/>
            <a:ext cx="53460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29"/>
          <p:cNvSpPr/>
          <p:nvPr/>
        </p:nvSpPr>
        <p:spPr>
          <a:xfrm>
            <a:off x="804672" y="4498848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073" y="4646249"/>
            <a:ext cx="272125" cy="272125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536192" y="4425696"/>
            <a:ext cx="415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出海内容 · 多语改制</a:t>
            </a:r>
            <a:endParaRPr lang="en-US" sz="1350" dirty="0"/>
          </a:p>
        </p:txBody>
      </p:sp>
      <p:sp>
        <p:nvSpPr>
          <p:cNvPr id="38" name="Text 31"/>
          <p:cNvSpPr/>
          <p:nvPr/>
        </p:nvSpPr>
        <p:spPr>
          <a:xfrm>
            <a:off x="1536192" y="4773168"/>
            <a:ext cx="4120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同一支片子换语言、换风格、换尺寸批量生成 —— 中小企业也做得起全球化的内容营销。</a:t>
            </a:r>
            <a:endParaRPr lang="en-US" sz="1020" dirty="0"/>
          </a:p>
        </p:txBody>
      </p:sp>
      <p:sp>
        <p:nvSpPr>
          <p:cNvPr id="39" name="Shape 32"/>
          <p:cNvSpPr/>
          <p:nvPr/>
        </p:nvSpPr>
        <p:spPr>
          <a:xfrm>
            <a:off x="6278728" y="4224528"/>
            <a:ext cx="53460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3"/>
          <p:cNvSpPr/>
          <p:nvPr/>
        </p:nvSpPr>
        <p:spPr>
          <a:xfrm>
            <a:off x="6516472" y="4498848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3873" y="4646249"/>
            <a:ext cx="272125" cy="272125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7247992" y="4425696"/>
            <a:ext cx="415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电商直播 · 常态供给</a:t>
            </a:r>
            <a:endParaRPr lang="en-US" sz="1350" dirty="0"/>
          </a:p>
        </p:txBody>
      </p:sp>
      <p:sp>
        <p:nvSpPr>
          <p:cNvPr id="43" name="Text 35"/>
          <p:cNvSpPr/>
          <p:nvPr/>
        </p:nvSpPr>
        <p:spPr>
          <a:xfrm>
            <a:off x="7247992" y="4773168"/>
            <a:ext cx="4120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商品视频、种草图文、直播切片持续供给 —— 内容从「档期活动」变成「日常水电」。</a:t>
            </a:r>
            <a:endParaRPr lang="en-US" sz="1020" dirty="0"/>
          </a:p>
        </p:txBody>
      </p:sp>
      <p:sp>
        <p:nvSpPr>
          <p:cNvPr id="44" name="Shape 36"/>
          <p:cNvSpPr/>
          <p:nvPr/>
        </p:nvSpPr>
        <p:spPr>
          <a:xfrm>
            <a:off x="566928" y="5742432"/>
            <a:ext cx="11057839" cy="548640"/>
          </a:xfrm>
          <a:prstGeom prst="roundRect">
            <a:avLst>
              <a:gd name="adj" fmla="val 15000"/>
            </a:avLst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37"/>
          <p:cNvSpPr/>
          <p:nvPr/>
        </p:nvSpPr>
        <p:spPr>
          <a:xfrm>
            <a:off x="886968" y="5742432"/>
            <a:ext cx="104177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改变了什么</a:t>
            </a:r>
            <a:r>
              <a:rPr lang="en-US" sz="125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——  </a:t>
            </a: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内容生产从按天计的手工活，变成按分钟计的流水线，创意产业的生产函数被改写。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· 普惠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实体门店：线下零售的「数字员工」上岗了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智慧零售 AI Agent OS「普惠」—— 把督导的眼睛装进每一家门店，全天在线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9221" y="329184"/>
            <a:ext cx="1105546" cy="310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372917" y="356616"/>
            <a:ext cx="0" cy="256032"/>
          </a:xfrm>
          <a:prstGeom prst="line">
            <a:avLst/>
          </a:prstGeom>
          <a:noFill/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1" descr="gfy_logo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5499" y="329184"/>
            <a:ext cx="1601114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 AIGC 创新赋能新质生产力   |   北大合肥论坛 · 新质生产力与智能经济   |   商汤科技 SenseTime</a:t>
            </a:r>
            <a:endParaRPr lang="en-US" sz="760" dirty="0"/>
          </a:p>
        </p:txBody>
      </p:sp>
      <p:sp>
        <p:nvSpPr>
          <p:cNvPr id="10" name="Text 6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37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66928" y="1719072"/>
            <a:ext cx="11057839" cy="822960"/>
          </a:xfrm>
          <a:prstGeom prst="roundRect">
            <a:avLst>
              <a:gd name="adj" fmla="val 10000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8"/>
          <p:cNvSpPr/>
          <p:nvPr/>
        </p:nvSpPr>
        <p:spPr>
          <a:xfrm>
            <a:off x="566928" y="1719072"/>
            <a:ext cx="91440" cy="822960"/>
          </a:xfrm>
          <a:prstGeom prst="rect">
            <a:avLst/>
          </a:prstGeom>
          <a:solidFill>
            <a:srgbClr val="2C80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9"/>
          <p:cNvSpPr/>
          <p:nvPr/>
        </p:nvSpPr>
        <p:spPr>
          <a:xfrm>
            <a:off x="896112" y="1719072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2395728" y="1874520"/>
            <a:ext cx="1765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零售识别市占率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395728" y="2176272"/>
            <a:ext cx="17657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智慧零售 AI Agent OS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4252874" y="1883664"/>
            <a:ext cx="0" cy="493776"/>
          </a:xfrm>
          <a:prstGeom prst="line">
            <a:avLst/>
          </a:prstGeom>
          <a:noFill/>
          <a:ln w="12700">
            <a:solidFill>
              <a:srgbClr val="2C4A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3"/>
          <p:cNvSpPr/>
          <p:nvPr/>
        </p:nvSpPr>
        <p:spPr>
          <a:xfrm>
            <a:off x="4582058" y="1719072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全天候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6081674" y="1874520"/>
            <a:ext cx="1765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门店在线值守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081674" y="2176272"/>
            <a:ext cx="17657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不休假的数字督导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7938821" y="1883664"/>
            <a:ext cx="0" cy="493776"/>
          </a:xfrm>
          <a:prstGeom prst="line">
            <a:avLst/>
          </a:prstGeom>
          <a:noFill/>
          <a:ln w="12700">
            <a:solidFill>
              <a:srgbClr val="2C4A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7"/>
          <p:cNvSpPr/>
          <p:nvPr/>
        </p:nvSpPr>
        <p:spPr>
          <a:xfrm>
            <a:off x="8268005" y="1719072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全量化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9767621" y="1874520"/>
            <a:ext cx="1765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从抽查到全查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9767621" y="2176272"/>
            <a:ext cx="17657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每家店、每个货架都看得见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566928" y="2688336"/>
            <a:ext cx="53460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1"/>
          <p:cNvSpPr/>
          <p:nvPr/>
        </p:nvSpPr>
        <p:spPr>
          <a:xfrm>
            <a:off x="804672" y="2962656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073" y="3110057"/>
            <a:ext cx="272125" cy="272125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536192" y="2889504"/>
            <a:ext cx="415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门店巡检 · 替人跑店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1536192" y="3236976"/>
            <a:ext cx="4120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陈列是否合规、卫生是否达标，摄像头自动巡查、问题留痕生成整改单 —— 督导不必再满城跑。</a:t>
            </a:r>
            <a:endParaRPr lang="en-US" sz="1020" dirty="0"/>
          </a:p>
        </p:txBody>
      </p:sp>
      <p:sp>
        <p:nvSpPr>
          <p:cNvPr id="29" name="Shape 24"/>
          <p:cNvSpPr/>
          <p:nvPr/>
        </p:nvSpPr>
        <p:spPr>
          <a:xfrm>
            <a:off x="6278728" y="2688336"/>
            <a:ext cx="53460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5"/>
          <p:cNvSpPr/>
          <p:nvPr/>
        </p:nvSpPr>
        <p:spPr>
          <a:xfrm>
            <a:off x="6516472" y="2962656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3873" y="3110057"/>
            <a:ext cx="272125" cy="272125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247992" y="2889504"/>
            <a:ext cx="415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陈列稽核 · 货架读得懂</a:t>
            </a:r>
            <a:endParaRPr lang="en-US" sz="1350" dirty="0"/>
          </a:p>
        </p:txBody>
      </p:sp>
      <p:sp>
        <p:nvSpPr>
          <p:cNvPr id="33" name="Text 27"/>
          <p:cNvSpPr/>
          <p:nvPr/>
        </p:nvSpPr>
        <p:spPr>
          <a:xfrm>
            <a:off x="7247992" y="3236976"/>
            <a:ext cx="4120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货架识别自动核对铺货与排面，缺货、错价、串位当天发现 —— 稽核从抽查变成全量。</a:t>
            </a:r>
            <a:endParaRPr lang="en-US" sz="1020" dirty="0"/>
          </a:p>
        </p:txBody>
      </p:sp>
      <p:sp>
        <p:nvSpPr>
          <p:cNvPr id="34" name="Shape 28"/>
          <p:cNvSpPr/>
          <p:nvPr/>
        </p:nvSpPr>
        <p:spPr>
          <a:xfrm>
            <a:off x="566928" y="4224528"/>
            <a:ext cx="53460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29"/>
          <p:cNvSpPr/>
          <p:nvPr/>
        </p:nvSpPr>
        <p:spPr>
          <a:xfrm>
            <a:off x="804672" y="4498848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073" y="4646249"/>
            <a:ext cx="272125" cy="272125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536192" y="4425696"/>
            <a:ext cx="415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动线洞察 · 客流看得清</a:t>
            </a:r>
            <a:endParaRPr lang="en-US" sz="1350" dirty="0"/>
          </a:p>
        </p:txBody>
      </p:sp>
      <p:sp>
        <p:nvSpPr>
          <p:cNvPr id="38" name="Text 31"/>
          <p:cNvSpPr/>
          <p:nvPr/>
        </p:nvSpPr>
        <p:spPr>
          <a:xfrm>
            <a:off x="1536192" y="4773168"/>
            <a:ext cx="4120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顾客从哪进、在哪停、为何走，动线数据回答选品与布局问题 —— 门店调整第一次有据可依。</a:t>
            </a:r>
            <a:endParaRPr lang="en-US" sz="1020" dirty="0"/>
          </a:p>
        </p:txBody>
      </p:sp>
      <p:sp>
        <p:nvSpPr>
          <p:cNvPr id="39" name="Shape 32"/>
          <p:cNvSpPr/>
          <p:nvPr/>
        </p:nvSpPr>
        <p:spPr>
          <a:xfrm>
            <a:off x="6278728" y="4224528"/>
            <a:ext cx="53460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3"/>
          <p:cNvSpPr/>
          <p:nvPr/>
        </p:nvSpPr>
        <p:spPr>
          <a:xfrm>
            <a:off x="6516472" y="4498848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3873" y="4646249"/>
            <a:ext cx="272125" cy="272125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7247992" y="4425696"/>
            <a:ext cx="415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总部到门店 · 千店一屏</a:t>
            </a:r>
            <a:endParaRPr lang="en-US" sz="1350" dirty="0"/>
          </a:p>
        </p:txBody>
      </p:sp>
      <p:sp>
        <p:nvSpPr>
          <p:cNvPr id="43" name="Text 35"/>
          <p:cNvSpPr/>
          <p:nvPr/>
        </p:nvSpPr>
        <p:spPr>
          <a:xfrm>
            <a:off x="7247992" y="4773168"/>
            <a:ext cx="4120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总部标准一键下发，执行结果实时回传 ——「千店千面」的管理难题，变成「千店一屏」的日常。</a:t>
            </a:r>
            <a:endParaRPr lang="en-US" sz="1020" dirty="0"/>
          </a:p>
        </p:txBody>
      </p:sp>
      <p:sp>
        <p:nvSpPr>
          <p:cNvPr id="44" name="Shape 36"/>
          <p:cNvSpPr/>
          <p:nvPr/>
        </p:nvSpPr>
        <p:spPr>
          <a:xfrm>
            <a:off x="566928" y="5742432"/>
            <a:ext cx="11057839" cy="548640"/>
          </a:xfrm>
          <a:prstGeom prst="roundRect">
            <a:avLst>
              <a:gd name="adj" fmla="val 15000"/>
            </a:avLst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37"/>
          <p:cNvSpPr/>
          <p:nvPr/>
        </p:nvSpPr>
        <p:spPr>
          <a:xfrm>
            <a:off x="886968" y="5742432"/>
            <a:ext cx="104177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改变了什么</a:t>
            </a:r>
            <a:r>
              <a:rPr lang="en-US" sz="125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——  </a:t>
            </a: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线下零售第一次拥有电商同等颗粒度的数据，经验型管理升级为数字化运营。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· 纵深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产业纵深 —— AIGC 走进核心生产流程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制造、金融、能源、政务 —— AIGC 正从辅助工具，变成核心流程里的生产环节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9221" y="329184"/>
            <a:ext cx="1105546" cy="310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372917" y="356616"/>
            <a:ext cx="0" cy="256032"/>
          </a:xfrm>
          <a:prstGeom prst="line">
            <a:avLst/>
          </a:prstGeom>
          <a:noFill/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1" descr="gfy_logo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5499" y="329184"/>
            <a:ext cx="1601114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 AIGC 创新赋能新质生产力   |   北大合肥论坛 · 新质生产力与智能经济   |   商汤科技 SenseTime</a:t>
            </a:r>
            <a:endParaRPr lang="en-US" sz="760" dirty="0"/>
          </a:p>
        </p:txBody>
      </p:sp>
      <p:sp>
        <p:nvSpPr>
          <p:cNvPr id="10" name="Text 6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37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66928" y="1828800"/>
            <a:ext cx="2524430" cy="356616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8"/>
          <p:cNvSpPr/>
          <p:nvPr/>
        </p:nvSpPr>
        <p:spPr>
          <a:xfrm>
            <a:off x="566928" y="1828800"/>
            <a:ext cx="2524430" cy="82296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9"/>
          <p:cNvSpPr/>
          <p:nvPr/>
        </p:nvSpPr>
        <p:spPr>
          <a:xfrm>
            <a:off x="1463383" y="2139696"/>
            <a:ext cx="731520" cy="73152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0893" y="2337206"/>
            <a:ext cx="336499" cy="33649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9808" y="3035808"/>
            <a:ext cx="21586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749808" y="3456432"/>
            <a:ext cx="2158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C64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 · 工艺知识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1509103" y="3803904"/>
            <a:ext cx="640080" cy="0"/>
          </a:xfrm>
          <a:prstGeom prst="line">
            <a:avLst/>
          </a:prstGeom>
          <a:noFill/>
          <a:ln w="25400">
            <a:solidFill>
              <a:srgbClr val="2C649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3"/>
          <p:cNvSpPr/>
          <p:nvPr/>
        </p:nvSpPr>
        <p:spPr>
          <a:xfrm>
            <a:off x="786384" y="3950208"/>
            <a:ext cx="20855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视觉质检替代肉眼盯线，老师傅的工艺经验沉淀成人人可问的知识库 —— 产线的知与行同时提速。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3411398" y="1828800"/>
            <a:ext cx="2524430" cy="356616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5"/>
          <p:cNvSpPr/>
          <p:nvPr/>
        </p:nvSpPr>
        <p:spPr>
          <a:xfrm>
            <a:off x="3411398" y="1828800"/>
            <a:ext cx="2524430" cy="82296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6"/>
          <p:cNvSpPr/>
          <p:nvPr/>
        </p:nvSpPr>
        <p:spPr>
          <a:xfrm>
            <a:off x="4307853" y="2139696"/>
            <a:ext cx="731520" cy="73152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5363" y="2337206"/>
            <a:ext cx="336499" cy="33649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594278" y="3035808"/>
            <a:ext cx="21586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3594278" y="3456432"/>
            <a:ext cx="2158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投研 · 风控材料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353573" y="3803904"/>
            <a:ext cx="640080" cy="0"/>
          </a:xfrm>
          <a:prstGeom prst="line">
            <a:avLst/>
          </a:prstGeom>
          <a:noFill/>
          <a:ln w="25400">
            <a:solidFill>
              <a:srgbClr val="C2A1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0"/>
          <p:cNvSpPr/>
          <p:nvPr/>
        </p:nvSpPr>
        <p:spPr>
          <a:xfrm>
            <a:off x="3630854" y="3950208"/>
            <a:ext cx="20855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海量研报、财报、尽调材料由 AI 先读一遍，投研提观点、风控找疑点 —— 专业判断留给人。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6255868" y="1828800"/>
            <a:ext cx="2524430" cy="356616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2"/>
          <p:cNvSpPr/>
          <p:nvPr/>
        </p:nvSpPr>
        <p:spPr>
          <a:xfrm>
            <a:off x="6255868" y="1828800"/>
            <a:ext cx="2524430" cy="82296"/>
          </a:xfrm>
          <a:prstGeom prst="rect">
            <a:avLst/>
          </a:prstGeom>
          <a:solidFill>
            <a:srgbClr val="2C80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3"/>
          <p:cNvSpPr/>
          <p:nvPr/>
        </p:nvSpPr>
        <p:spPr>
          <a:xfrm>
            <a:off x="7152323" y="2139696"/>
            <a:ext cx="731520" cy="73152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9833" y="2337206"/>
            <a:ext cx="336499" cy="336499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438748" y="3035808"/>
            <a:ext cx="21586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能源</a:t>
            </a:r>
            <a:endParaRPr lang="en-US" sz="1700" dirty="0"/>
          </a:p>
        </p:txBody>
      </p:sp>
      <p:sp>
        <p:nvSpPr>
          <p:cNvPr id="32" name="Text 25"/>
          <p:cNvSpPr/>
          <p:nvPr/>
        </p:nvSpPr>
        <p:spPr>
          <a:xfrm>
            <a:off x="6438748" y="3456432"/>
            <a:ext cx="2158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C80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规程问答 · 缺陷研判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7198043" y="3803904"/>
            <a:ext cx="640080" cy="0"/>
          </a:xfrm>
          <a:prstGeom prst="line">
            <a:avLst/>
          </a:prstGeom>
          <a:noFill/>
          <a:ln w="25400">
            <a:solidFill>
              <a:srgbClr val="2C80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27"/>
          <p:cNvSpPr/>
          <p:nvPr/>
        </p:nvSpPr>
        <p:spPr>
          <a:xfrm>
            <a:off x="6475324" y="3950208"/>
            <a:ext cx="20855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规程预案秒级问答，设备缺陷影像交给模型初判 —— 现场经验第一次可以被复用、被传承。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9100337" y="1828800"/>
            <a:ext cx="2524430" cy="356616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29"/>
          <p:cNvSpPr/>
          <p:nvPr/>
        </p:nvSpPr>
        <p:spPr>
          <a:xfrm>
            <a:off x="9100337" y="1828800"/>
            <a:ext cx="2524430" cy="82296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0"/>
          <p:cNvSpPr/>
          <p:nvPr/>
        </p:nvSpPr>
        <p:spPr>
          <a:xfrm>
            <a:off x="9996792" y="2139696"/>
            <a:ext cx="731520" cy="73152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4303" y="2337206"/>
            <a:ext cx="336499" cy="336499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283217" y="3035808"/>
            <a:ext cx="21586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政务与公共服务</a:t>
            </a:r>
            <a:endParaRPr lang="en-US" sz="1700" dirty="0"/>
          </a:p>
        </p:txBody>
      </p:sp>
      <p:sp>
        <p:nvSpPr>
          <p:cNvPr id="40" name="Text 32"/>
          <p:cNvSpPr/>
          <p:nvPr/>
        </p:nvSpPr>
        <p:spPr>
          <a:xfrm>
            <a:off x="9283217" y="3456432"/>
            <a:ext cx="2158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4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材料预审 · 政策咨询</a:t>
            </a:r>
            <a:endParaRPr lang="en-US" sz="950" dirty="0"/>
          </a:p>
        </p:txBody>
      </p:sp>
      <p:sp>
        <p:nvSpPr>
          <p:cNvPr id="41" name="Shape 33"/>
          <p:cNvSpPr/>
          <p:nvPr/>
        </p:nvSpPr>
        <p:spPr>
          <a:xfrm>
            <a:off x="10042512" y="3803904"/>
            <a:ext cx="640080" cy="0"/>
          </a:xfrm>
          <a:prstGeom prst="line">
            <a:avLst/>
          </a:prstGeom>
          <a:noFill/>
          <a:ln w="254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34"/>
          <p:cNvSpPr/>
          <p:nvPr/>
        </p:nvSpPr>
        <p:spPr>
          <a:xfrm>
            <a:off x="9319793" y="3950208"/>
            <a:ext cx="20855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政策问答、材料预审、公文起草由 AI 打底，窗口把时间还给群众 —— 效率与温度一起升。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566928" y="5614416"/>
            <a:ext cx="11057839" cy="548640"/>
          </a:xfrm>
          <a:prstGeom prst="roundRect">
            <a:avLst>
              <a:gd name="adj" fmla="val 15000"/>
            </a:avLst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36"/>
          <p:cNvSpPr/>
          <p:nvPr/>
        </p:nvSpPr>
        <p:spPr>
          <a:xfrm>
            <a:off x="886968" y="5614416"/>
            <a:ext cx="104177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一个共识</a:t>
            </a:r>
            <a:r>
              <a:rPr lang="en-US" sz="125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——  </a:t>
            </a: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AIGC 的深水区不在聊天框里，而在各行各业的核心生产流程里。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· 合肥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落子合肥：产业集群遇上 AIGC，恰逢其时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新能源汽车、家电、新型显示、人工智能 —— 四大集群，各有一条清晰的 AIGC 赋能路径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9221" y="329184"/>
            <a:ext cx="1105546" cy="310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372917" y="356616"/>
            <a:ext cx="0" cy="256032"/>
          </a:xfrm>
          <a:prstGeom prst="line">
            <a:avLst/>
          </a:prstGeom>
          <a:noFill/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1" descr="gfy_logo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5499" y="329184"/>
            <a:ext cx="1601114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 AIGC 创新赋能新质生产力   |   北大合肥论坛 · 新质生产力与智能经济   |   商汤科技 SenseTime</a:t>
            </a:r>
            <a:endParaRPr lang="en-US" sz="760" dirty="0"/>
          </a:p>
        </p:txBody>
      </p:sp>
      <p:sp>
        <p:nvSpPr>
          <p:cNvPr id="10" name="Text 6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37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66928" y="1773936"/>
            <a:ext cx="11057839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8"/>
          <p:cNvSpPr/>
          <p:nvPr/>
        </p:nvSpPr>
        <p:spPr>
          <a:xfrm>
            <a:off x="566928" y="1773936"/>
            <a:ext cx="91440" cy="896112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9"/>
          <p:cNvSpPr/>
          <p:nvPr/>
        </p:nvSpPr>
        <p:spPr>
          <a:xfrm>
            <a:off x="859536" y="1965960"/>
            <a:ext cx="512064" cy="51206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673" y="2099097"/>
            <a:ext cx="245791" cy="245791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536192" y="1984248"/>
            <a:ext cx="1645920" cy="475488"/>
          </a:xfrm>
          <a:prstGeom prst="roundRect">
            <a:avLst>
              <a:gd name="adj" fmla="val 11538"/>
            </a:avLst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1"/>
          <p:cNvSpPr/>
          <p:nvPr/>
        </p:nvSpPr>
        <p:spPr>
          <a:xfrm>
            <a:off x="1536192" y="198424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新能源汽车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383280" y="1773936"/>
            <a:ext cx="1965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2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AIGC 路径
</a:t>
            </a:r>
            <a:r>
              <a:rPr lang="en-US" sz="1050" b="1" dirty="0">
                <a:solidFill>
                  <a:srgbClr val="2C64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智能座舱 · 世界模型</a:t>
            </a:r>
            <a:endParaRPr lang="en-US" sz="820" dirty="0"/>
          </a:p>
        </p:txBody>
      </p:sp>
      <p:sp>
        <p:nvSpPr>
          <p:cNvPr id="18" name="Shape 13"/>
          <p:cNvSpPr/>
          <p:nvPr/>
        </p:nvSpPr>
        <p:spPr>
          <a:xfrm>
            <a:off x="5431536" y="1920240"/>
            <a:ext cx="0" cy="603504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4"/>
          <p:cNvSpPr/>
          <p:nvPr/>
        </p:nvSpPr>
        <p:spPr>
          <a:xfrm>
            <a:off x="5614416" y="1773936"/>
            <a:ext cx="575431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以蔚来为代表的整车力量集聚合肥 —— 世界模型正是智能驾驶与座舱交互的底座。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66928" y="2779776"/>
            <a:ext cx="11057839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6"/>
          <p:cNvSpPr/>
          <p:nvPr/>
        </p:nvSpPr>
        <p:spPr>
          <a:xfrm>
            <a:off x="566928" y="2779776"/>
            <a:ext cx="91440" cy="896112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7"/>
          <p:cNvSpPr/>
          <p:nvPr/>
        </p:nvSpPr>
        <p:spPr>
          <a:xfrm>
            <a:off x="859536" y="2971800"/>
            <a:ext cx="512064" cy="51206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673" y="3104937"/>
            <a:ext cx="245791" cy="245791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1536192" y="2990088"/>
            <a:ext cx="1645920" cy="475488"/>
          </a:xfrm>
          <a:prstGeom prst="roundRect">
            <a:avLst>
              <a:gd name="adj" fmla="val 11538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19"/>
          <p:cNvSpPr/>
          <p:nvPr/>
        </p:nvSpPr>
        <p:spPr>
          <a:xfrm>
            <a:off x="1536192" y="299008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家电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3383280" y="2779776"/>
            <a:ext cx="1965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2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AIGC 路径
</a:t>
            </a:r>
            <a:r>
              <a:rPr lang="en-US" sz="105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设计仿真 · 营销内容</a:t>
            </a:r>
            <a:endParaRPr lang="en-US" sz="820" dirty="0"/>
          </a:p>
        </p:txBody>
      </p:sp>
      <p:sp>
        <p:nvSpPr>
          <p:cNvPr id="27" name="Shape 21"/>
          <p:cNvSpPr/>
          <p:nvPr/>
        </p:nvSpPr>
        <p:spPr>
          <a:xfrm>
            <a:off x="5431536" y="2926080"/>
            <a:ext cx="0" cy="603504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2"/>
          <p:cNvSpPr/>
          <p:nvPr/>
        </p:nvSpPr>
        <p:spPr>
          <a:xfrm>
            <a:off x="5614416" y="2779776"/>
            <a:ext cx="575431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家电之都产品迭代快、型号多 —— 外观设计、卖点视频、说明书与客服问答，AIGC 全链条提效。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566928" y="3785616"/>
            <a:ext cx="11057839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4"/>
          <p:cNvSpPr/>
          <p:nvPr/>
        </p:nvSpPr>
        <p:spPr>
          <a:xfrm>
            <a:off x="566928" y="3785616"/>
            <a:ext cx="91440" cy="896112"/>
          </a:xfrm>
          <a:prstGeom prst="rect">
            <a:avLst/>
          </a:prstGeom>
          <a:solidFill>
            <a:srgbClr val="2C80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5"/>
          <p:cNvSpPr/>
          <p:nvPr/>
        </p:nvSpPr>
        <p:spPr>
          <a:xfrm>
            <a:off x="859536" y="3977640"/>
            <a:ext cx="512064" cy="51206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673" y="4110777"/>
            <a:ext cx="245791" cy="245791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1536192" y="3995928"/>
            <a:ext cx="1645920" cy="475488"/>
          </a:xfrm>
          <a:prstGeom prst="roundRect">
            <a:avLst>
              <a:gd name="adj" fmla="val 11538"/>
            </a:avLst>
          </a:prstGeom>
          <a:solidFill>
            <a:srgbClr val="2C80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27"/>
          <p:cNvSpPr/>
          <p:nvPr/>
        </p:nvSpPr>
        <p:spPr>
          <a:xfrm>
            <a:off x="1536192" y="399592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新型显示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3383280" y="3785616"/>
            <a:ext cx="1965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2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AIGC 路径
</a:t>
            </a:r>
            <a:r>
              <a:rPr lang="en-US" sz="1050" b="1" dirty="0">
                <a:solidFill>
                  <a:srgbClr val="2C80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视觉质检 · 工艺优化</a:t>
            </a:r>
            <a:endParaRPr lang="en-US" sz="820" dirty="0"/>
          </a:p>
        </p:txBody>
      </p:sp>
      <p:sp>
        <p:nvSpPr>
          <p:cNvPr id="36" name="Shape 29"/>
          <p:cNvSpPr/>
          <p:nvPr/>
        </p:nvSpPr>
        <p:spPr>
          <a:xfrm>
            <a:off x="5431536" y="3931920"/>
            <a:ext cx="0" cy="603504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0"/>
          <p:cNvSpPr/>
          <p:nvPr/>
        </p:nvSpPr>
        <p:spPr>
          <a:xfrm>
            <a:off x="5614416" y="3785616"/>
            <a:ext cx="575431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显示面板对良率极度敏感：视觉大模型做缺陷检测，生成式仿真辅助工艺优化 —— 把良率功课做在前面。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566928" y="4791456"/>
            <a:ext cx="11057839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2"/>
          <p:cNvSpPr/>
          <p:nvPr/>
        </p:nvSpPr>
        <p:spPr>
          <a:xfrm>
            <a:off x="566928" y="4791456"/>
            <a:ext cx="91440" cy="896112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3"/>
          <p:cNvSpPr/>
          <p:nvPr/>
        </p:nvSpPr>
        <p:spPr>
          <a:xfrm>
            <a:off x="859536" y="4983480"/>
            <a:ext cx="512064" cy="51206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2673" y="5116617"/>
            <a:ext cx="245791" cy="245791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1536192" y="5001768"/>
            <a:ext cx="1645920" cy="475488"/>
          </a:xfrm>
          <a:prstGeom prst="roundRect">
            <a:avLst>
              <a:gd name="adj" fmla="val 11538"/>
            </a:avLst>
          </a:prstGeom>
          <a:solidFill>
            <a:srgbClr val="1A4A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35"/>
          <p:cNvSpPr/>
          <p:nvPr/>
        </p:nvSpPr>
        <p:spPr>
          <a:xfrm>
            <a:off x="1536192" y="500176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人工智能集群</a:t>
            </a:r>
            <a:endParaRPr lang="en-US" sz="1300" dirty="0"/>
          </a:p>
        </p:txBody>
      </p:sp>
      <p:sp>
        <p:nvSpPr>
          <p:cNvPr id="44" name="Text 36"/>
          <p:cNvSpPr/>
          <p:nvPr/>
        </p:nvSpPr>
        <p:spPr>
          <a:xfrm>
            <a:off x="3383280" y="4791456"/>
            <a:ext cx="1965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2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AIGC 路径
</a:t>
            </a:r>
            <a:r>
              <a:rPr lang="en-US" sz="1050" b="1" dirty="0">
                <a:solidFill>
                  <a:srgbClr val="1A4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算力协同 · 生态共建</a:t>
            </a:r>
            <a:endParaRPr lang="en-US" sz="820" dirty="0"/>
          </a:p>
        </p:txBody>
      </p:sp>
      <p:sp>
        <p:nvSpPr>
          <p:cNvPr id="45" name="Shape 37"/>
          <p:cNvSpPr/>
          <p:nvPr/>
        </p:nvSpPr>
        <p:spPr>
          <a:xfrm>
            <a:off x="5431536" y="4937760"/>
            <a:ext cx="0" cy="603504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38"/>
          <p:cNvSpPr/>
          <p:nvPr/>
        </p:nvSpPr>
        <p:spPr>
          <a:xfrm>
            <a:off x="5614416" y="4791456"/>
            <a:ext cx="575431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合肥的智能算力与科创生态持续加码，与大装置、日日新和 Agent 生态天然互补 —— 集群长成雨林。</a:t>
            </a:r>
            <a:endParaRPr lang="en-US" sz="1050" dirty="0"/>
          </a:p>
        </p:txBody>
      </p:sp>
      <p:sp>
        <p:nvSpPr>
          <p:cNvPr id="47" name="Shape 39"/>
          <p:cNvSpPr/>
          <p:nvPr/>
        </p:nvSpPr>
        <p:spPr>
          <a:xfrm>
            <a:off x="566928" y="5833872"/>
            <a:ext cx="11057839" cy="512064"/>
          </a:xfrm>
          <a:prstGeom prst="roundRect">
            <a:avLst>
              <a:gd name="adj" fmla="val 16071"/>
            </a:avLst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0"/>
          <p:cNvSpPr/>
          <p:nvPr/>
        </p:nvSpPr>
        <p:spPr>
          <a:xfrm>
            <a:off x="886968" y="5833872"/>
            <a:ext cx="1041775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「科里科气」的合肥 × 用得起来的 AIGC</a:t>
            </a:r>
            <a:r>
              <a:rPr lang="en-US" sz="12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——  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产业集群与新质生产力，在这座城市天然同频。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· 小结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生产函数在改变 —— 这就是新质生产力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劳动者、劳动资料、劳动对象同时升级，共同指向一个结果：全要素生产率大幅提升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9221" y="329184"/>
            <a:ext cx="1105546" cy="310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372917" y="356616"/>
            <a:ext cx="0" cy="256032"/>
          </a:xfrm>
          <a:prstGeom prst="line">
            <a:avLst/>
          </a:prstGeom>
          <a:noFill/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1" descr="gfy_logo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5499" y="329184"/>
            <a:ext cx="1601114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 AIGC 创新赋能新质生产力   |   北大合肥论坛 · 新质生产力与智能经济   |   商汤科技 SenseTime</a:t>
            </a:r>
            <a:endParaRPr lang="en-US" sz="760" dirty="0"/>
          </a:p>
        </p:txBody>
      </p:sp>
      <p:sp>
        <p:nvSpPr>
          <p:cNvPr id="10" name="Text 6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37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66928" y="1773936"/>
            <a:ext cx="3411626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8"/>
          <p:cNvSpPr/>
          <p:nvPr/>
        </p:nvSpPr>
        <p:spPr>
          <a:xfrm>
            <a:off x="566928" y="1773936"/>
            <a:ext cx="3411626" cy="82296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9"/>
          <p:cNvSpPr/>
          <p:nvPr/>
        </p:nvSpPr>
        <p:spPr>
          <a:xfrm>
            <a:off x="822960" y="2066544"/>
            <a:ext cx="585216" cy="58521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116" y="2218700"/>
            <a:ext cx="280904" cy="28090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54480" y="2066544"/>
            <a:ext cx="22229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劳动者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554480" y="2450592"/>
            <a:ext cx="22229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64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人人配 AI 助理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841248" y="2907792"/>
            <a:ext cx="286298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知识工作者从亲手执行转向指挥与判断 —— 一个人，调得动一支数字团队。</a:t>
            </a:r>
            <a:endParaRPr lang="en-US" sz="1020" dirty="0"/>
          </a:p>
        </p:txBody>
      </p:sp>
      <p:sp>
        <p:nvSpPr>
          <p:cNvPr id="18" name="Text 13"/>
          <p:cNvSpPr/>
          <p:nvPr/>
        </p:nvSpPr>
        <p:spPr>
          <a:xfrm>
            <a:off x="3960266" y="2596896"/>
            <a:ext cx="448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</a:t>
            </a:r>
            <a:endParaRPr lang="en-US" sz="2600" dirty="0"/>
          </a:p>
        </p:txBody>
      </p:sp>
      <p:sp>
        <p:nvSpPr>
          <p:cNvPr id="19" name="Shape 14"/>
          <p:cNvSpPr/>
          <p:nvPr/>
        </p:nvSpPr>
        <p:spPr>
          <a:xfrm>
            <a:off x="4390034" y="1773936"/>
            <a:ext cx="3411626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5"/>
          <p:cNvSpPr/>
          <p:nvPr/>
        </p:nvSpPr>
        <p:spPr>
          <a:xfrm>
            <a:off x="4390034" y="1773936"/>
            <a:ext cx="3411626" cy="82296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6"/>
          <p:cNvSpPr/>
          <p:nvPr/>
        </p:nvSpPr>
        <p:spPr>
          <a:xfrm>
            <a:off x="4646066" y="2066544"/>
            <a:ext cx="585216" cy="58521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8223" y="2218700"/>
            <a:ext cx="280904" cy="28090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77586" y="2066544"/>
            <a:ext cx="22229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劳动对象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5377586" y="2450592"/>
            <a:ext cx="22229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成为新工具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664354" y="2907792"/>
            <a:ext cx="286298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工具第一次「会思考、能干活」—— 从被人使用的软件，进化为与人协作的数字同事。</a:t>
            </a:r>
            <a:endParaRPr lang="en-US" sz="1020" dirty="0"/>
          </a:p>
        </p:txBody>
      </p:sp>
      <p:sp>
        <p:nvSpPr>
          <p:cNvPr id="26" name="Text 20"/>
          <p:cNvSpPr/>
          <p:nvPr/>
        </p:nvSpPr>
        <p:spPr>
          <a:xfrm>
            <a:off x="7783373" y="2596896"/>
            <a:ext cx="448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</a:t>
            </a:r>
            <a:endParaRPr lang="en-US" sz="2600" dirty="0"/>
          </a:p>
        </p:txBody>
      </p:sp>
      <p:sp>
        <p:nvSpPr>
          <p:cNvPr id="27" name="Shape 21"/>
          <p:cNvSpPr/>
          <p:nvPr/>
        </p:nvSpPr>
        <p:spPr>
          <a:xfrm>
            <a:off x="8213141" y="1773936"/>
            <a:ext cx="3411626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2"/>
          <p:cNvSpPr/>
          <p:nvPr/>
        </p:nvSpPr>
        <p:spPr>
          <a:xfrm>
            <a:off x="8213141" y="1773936"/>
            <a:ext cx="3411626" cy="82296"/>
          </a:xfrm>
          <a:prstGeom prst="rect">
            <a:avLst/>
          </a:prstGeom>
          <a:solidFill>
            <a:srgbClr val="2C80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3"/>
          <p:cNvSpPr/>
          <p:nvPr/>
        </p:nvSpPr>
        <p:spPr>
          <a:xfrm>
            <a:off x="8469173" y="2066544"/>
            <a:ext cx="585216" cy="58521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21329" y="2218700"/>
            <a:ext cx="280904" cy="28090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200693" y="2066544"/>
            <a:ext cx="22229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劳动资料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9200693" y="2450592"/>
            <a:ext cx="22229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80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数据成为新原料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8487461" y="2907792"/>
            <a:ext cx="286298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02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沉睡的文档、图像、视频被大模型激活为可加工的生产资料 —— 数据越用越多，越用越值钱。</a:t>
            </a:r>
            <a:endParaRPr lang="en-US" sz="1020" dirty="0"/>
          </a:p>
        </p:txBody>
      </p:sp>
      <p:sp>
        <p:nvSpPr>
          <p:cNvPr id="34" name="Shape 27"/>
          <p:cNvSpPr/>
          <p:nvPr/>
        </p:nvSpPr>
        <p:spPr>
          <a:xfrm>
            <a:off x="566928" y="4023360"/>
            <a:ext cx="11057839" cy="493776"/>
          </a:xfrm>
          <a:prstGeom prst="roundRect">
            <a:avLst>
              <a:gd name="adj" fmla="val 16667"/>
            </a:avLst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28"/>
          <p:cNvSpPr/>
          <p:nvPr/>
        </p:nvSpPr>
        <p:spPr>
          <a:xfrm>
            <a:off x="841248" y="4023360"/>
            <a:ext cx="1050919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劳动者</a:t>
            </a:r>
            <a:r>
              <a:rPr lang="en-US" sz="15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×  </a:t>
            </a:r>
            <a:r>
              <a:rPr lang="en-US" sz="1350" b="1" dirty="0" err="1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劳动对象</a:t>
            </a:r>
            <a:r>
              <a:rPr lang="en-US" sz="15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×  </a:t>
            </a:r>
            <a:r>
              <a:rPr lang="en-US" sz="1350" b="1" dirty="0" err="1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劳动资料</a:t>
            </a:r>
            <a:r>
              <a:rPr lang="en-US" sz="15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 </a:t>
            </a:r>
            <a:r>
              <a:rPr lang="en-US" sz="1350" b="1" dirty="0">
                <a:solidFill>
                  <a:srgbClr val="9C7E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全要素生产率大幅提升</a:t>
            </a:r>
            <a:endParaRPr lang="en-US" sz="1350" dirty="0"/>
          </a:p>
        </p:txBody>
      </p:sp>
      <p:sp>
        <p:nvSpPr>
          <p:cNvPr id="36" name="Shape 29"/>
          <p:cNvSpPr/>
          <p:nvPr/>
        </p:nvSpPr>
        <p:spPr>
          <a:xfrm>
            <a:off x="566928" y="4700016"/>
            <a:ext cx="11057839" cy="1371600"/>
          </a:xfrm>
          <a:prstGeom prst="roundRect">
            <a:avLst>
              <a:gd name="adj" fmla="val 6000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0"/>
          <p:cNvSpPr/>
          <p:nvPr/>
        </p:nvSpPr>
        <p:spPr>
          <a:xfrm>
            <a:off x="566928" y="4700016"/>
            <a:ext cx="91440" cy="1371600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1"/>
          <p:cNvSpPr/>
          <p:nvPr/>
        </p:nvSpPr>
        <p:spPr>
          <a:xfrm>
            <a:off x="978408" y="4882896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+25%</a:t>
            </a:r>
            <a:endParaRPr lang="en-US" sz="2600" dirty="0"/>
          </a:p>
        </p:txBody>
      </p:sp>
      <p:sp>
        <p:nvSpPr>
          <p:cNvPr id="39" name="Text 32"/>
          <p:cNvSpPr/>
          <p:nvPr/>
        </p:nvSpPr>
        <p:spPr>
          <a:xfrm>
            <a:off x="978408" y="54498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任务完成速度</a:t>
            </a:r>
            <a:endParaRPr lang="en-US" sz="1100" dirty="0"/>
          </a:p>
        </p:txBody>
      </p:sp>
      <p:sp>
        <p:nvSpPr>
          <p:cNvPr id="40" name="Text 33"/>
          <p:cNvSpPr/>
          <p:nvPr/>
        </p:nvSpPr>
        <p:spPr>
          <a:xfrm>
            <a:off x="978408" y="572414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哈佛 × BCG 实证</a:t>
            </a:r>
            <a:endParaRPr lang="en-US" sz="850" dirty="0"/>
          </a:p>
        </p:txBody>
      </p:sp>
      <p:sp>
        <p:nvSpPr>
          <p:cNvPr id="41" name="Text 34"/>
          <p:cNvSpPr/>
          <p:nvPr/>
        </p:nvSpPr>
        <p:spPr>
          <a:xfrm>
            <a:off x="3355848" y="4882896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+40%</a:t>
            </a:r>
            <a:endParaRPr lang="en-US" sz="2600" dirty="0"/>
          </a:p>
        </p:txBody>
      </p:sp>
      <p:sp>
        <p:nvSpPr>
          <p:cNvPr id="42" name="Text 35"/>
          <p:cNvSpPr/>
          <p:nvPr/>
        </p:nvSpPr>
        <p:spPr>
          <a:xfrm>
            <a:off x="3355848" y="54498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任务完成质量</a:t>
            </a:r>
            <a:endParaRPr lang="en-US" sz="1100" dirty="0"/>
          </a:p>
        </p:txBody>
      </p:sp>
      <p:sp>
        <p:nvSpPr>
          <p:cNvPr id="43" name="Text 36"/>
          <p:cNvSpPr/>
          <p:nvPr/>
        </p:nvSpPr>
        <p:spPr>
          <a:xfrm>
            <a:off x="3355848" y="572414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AI 的知识工作者</a:t>
            </a:r>
            <a:endParaRPr lang="en-US" sz="850" dirty="0"/>
          </a:p>
        </p:txBody>
      </p:sp>
      <p:sp>
        <p:nvSpPr>
          <p:cNvPr id="44" name="Shape 37"/>
          <p:cNvSpPr/>
          <p:nvPr/>
        </p:nvSpPr>
        <p:spPr>
          <a:xfrm>
            <a:off x="5779008" y="4901184"/>
            <a:ext cx="0" cy="969264"/>
          </a:xfrm>
          <a:prstGeom prst="line">
            <a:avLst/>
          </a:prstGeom>
          <a:noFill/>
          <a:ln w="12700">
            <a:solidFill>
              <a:srgbClr val="2C4A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38"/>
          <p:cNvSpPr/>
          <p:nvPr/>
        </p:nvSpPr>
        <p:spPr>
          <a:xfrm>
            <a:off x="6053328" y="4700016"/>
            <a:ext cx="520567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生产要素的创新性配置，正是新质生产力的经济学内涵</a:t>
            </a:r>
            <a:r>
              <a:rPr lang="en-US" sz="125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——  </a:t>
            </a: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 AIGC，是它最典型的载体。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C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737360"/>
            <a:ext cx="5486400" cy="5486400"/>
          </a:xfrm>
          <a:prstGeom prst="ellipse">
            <a:avLst/>
          </a:prstGeom>
          <a:solidFill>
            <a:srgbClr val="2C6498">
              <a:alpha val="1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9966960" y="3108960"/>
            <a:ext cx="4206240" cy="4206240"/>
          </a:xfrm>
          <a:prstGeom prst="ellipse">
            <a:avLst/>
          </a:prstGeom>
          <a:solidFill>
            <a:srgbClr val="C2A14B">
              <a:alpha val="1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9052560" y="731520"/>
            <a:ext cx="4206240" cy="4206240"/>
          </a:xfrm>
          <a:prstGeom prst="ellipse">
            <a:avLst/>
          </a:prstGeom>
          <a:noFill/>
          <a:ln w="12700">
            <a:solidFill>
              <a:srgbClr val="7AA0C4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03504" y="16276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6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12064" y="1847088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 kern="0" spc="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5000" dirty="0"/>
          </a:p>
        </p:txBody>
      </p:sp>
      <p:sp>
        <p:nvSpPr>
          <p:cNvPr id="7" name="Shape 5"/>
          <p:cNvSpPr/>
          <p:nvPr/>
        </p:nvSpPr>
        <p:spPr>
          <a:xfrm>
            <a:off x="621792" y="4114800"/>
            <a:ext cx="1371600" cy="41148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66928" y="42976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关键一公里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585216" y="499262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7AA0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LAST MILE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5216" y="537667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技术很热，企业很冷？—— 从「买了 AI」到「用出生产力」，中间隔着关键一公里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83880" y="19659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430768" y="18470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三支柱：Agent · 模型 · 习惯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83880" y="24231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430768" y="23042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进流程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83880" y="28803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430768" y="27614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账号订阅 × 按消耗双模式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83880" y="33375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430768" y="32186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选对 Agent · 开放不锁定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83880" y="37947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430768" y="36758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款模型一份订阅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183880" y="42519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430768" y="41330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陪跑 · 养成公式</a:t>
            </a:r>
            <a:endParaRPr lang="en-US" sz="1250" dirty="0"/>
          </a:p>
        </p:txBody>
      </p:sp>
      <p:pic>
        <p:nvPicPr>
          <p:cNvPr id="23" name="Image 0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9221" y="329184"/>
            <a:ext cx="1105546" cy="310896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10372917" y="356616"/>
            <a:ext cx="0" cy="256032"/>
          </a:xfrm>
          <a:prstGeom prst="line">
            <a:avLst/>
          </a:prstGeom>
          <a:noFill/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5" name="Image 1" descr="gfy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5499" y="329184"/>
            <a:ext cx="1601114" cy="310896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7F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 AIGC 创新赋能新质生产力   |   北大合肥论坛 · 新质生产力与智能经济   |   商汤科技 SenseTime</a:t>
            </a:r>
            <a:endParaRPr lang="en-US" sz="760" dirty="0"/>
          </a:p>
        </p:txBody>
      </p:sp>
      <p:sp>
        <p:nvSpPr>
          <p:cNvPr id="27" name="Text 23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r>
              <a:rPr lang="en-US" sz="900" dirty="0">
                <a:solidFill>
                  <a:srgbClr val="7F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37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三支柱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用好 AI，靠三根支柱：选对 Agent · 选对模型 · 养成习惯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同样的模型，有人用出 10 倍价值、有人用一次就放下 —— 差别就在这三件事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9221" y="329184"/>
            <a:ext cx="1105546" cy="310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372917" y="356616"/>
            <a:ext cx="0" cy="256032"/>
          </a:xfrm>
          <a:prstGeom prst="line">
            <a:avLst/>
          </a:prstGeom>
          <a:noFill/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1" descr="gfy_logo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5499" y="329184"/>
            <a:ext cx="1601114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 AIGC 创新赋能新质生产力   |   北大合肥论坛 · 新质生产力与智能经济   |   商汤科技 SenseTime</a:t>
            </a:r>
            <a:endParaRPr lang="en-US" sz="760" dirty="0"/>
          </a:p>
        </p:txBody>
      </p:sp>
      <p:sp>
        <p:nvSpPr>
          <p:cNvPr id="10" name="Text 6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37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66928" y="2029968"/>
            <a:ext cx="3442106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8"/>
          <p:cNvSpPr/>
          <p:nvPr/>
        </p:nvSpPr>
        <p:spPr>
          <a:xfrm>
            <a:off x="566928" y="2029968"/>
            <a:ext cx="3442106" cy="82296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9"/>
          <p:cNvSpPr/>
          <p:nvPr/>
        </p:nvSpPr>
        <p:spPr>
          <a:xfrm>
            <a:off x="896112" y="2450592"/>
            <a:ext cx="859536" cy="85953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8187" y="2682667"/>
            <a:ext cx="395387" cy="39538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920240" y="2542032"/>
            <a:ext cx="1887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C7E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支柱 01 · 工具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1920240" y="2852928"/>
            <a:ext cx="18876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选对 Agent</a:t>
            </a:r>
            <a:endParaRPr lang="en-US" sz="2000" dirty="0"/>
          </a:p>
        </p:txBody>
      </p:sp>
      <p:sp>
        <p:nvSpPr>
          <p:cNvPr id="17" name="Shape 12"/>
          <p:cNvSpPr/>
          <p:nvPr/>
        </p:nvSpPr>
        <p:spPr>
          <a:xfrm>
            <a:off x="896112" y="3730752"/>
            <a:ext cx="2783738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3"/>
          <p:cNvSpPr/>
          <p:nvPr/>
        </p:nvSpPr>
        <p:spPr>
          <a:xfrm>
            <a:off x="896112" y="3913632"/>
            <a:ext cx="27837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住在哪、干什么 —— 浏览器 / 桌面 / 云端，按场景选顺手的那个。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036466" y="3378708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endParaRPr lang="en-US" sz="2600" dirty="0"/>
          </a:p>
        </p:txBody>
      </p:sp>
      <p:sp>
        <p:nvSpPr>
          <p:cNvPr id="20" name="Shape 15"/>
          <p:cNvSpPr/>
          <p:nvPr/>
        </p:nvSpPr>
        <p:spPr>
          <a:xfrm>
            <a:off x="4374794" y="2029968"/>
            <a:ext cx="3442106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6"/>
          <p:cNvSpPr/>
          <p:nvPr/>
        </p:nvSpPr>
        <p:spPr>
          <a:xfrm>
            <a:off x="4374794" y="2029968"/>
            <a:ext cx="3442106" cy="82296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7"/>
          <p:cNvSpPr/>
          <p:nvPr/>
        </p:nvSpPr>
        <p:spPr>
          <a:xfrm>
            <a:off x="4703978" y="2450592"/>
            <a:ext cx="859536" cy="85953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6053" y="2682667"/>
            <a:ext cx="395387" cy="39538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728106" y="2542032"/>
            <a:ext cx="1887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C7E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支柱 02 · 底座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728106" y="2852928"/>
            <a:ext cx="18876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选对模型</a:t>
            </a:r>
            <a:endParaRPr lang="en-US" sz="2000" dirty="0"/>
          </a:p>
        </p:txBody>
      </p:sp>
      <p:sp>
        <p:nvSpPr>
          <p:cNvPr id="26" name="Shape 20"/>
          <p:cNvSpPr/>
          <p:nvPr/>
        </p:nvSpPr>
        <p:spPr>
          <a:xfrm>
            <a:off x="4703978" y="3730752"/>
            <a:ext cx="2783738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1"/>
          <p:cNvSpPr/>
          <p:nvPr/>
        </p:nvSpPr>
        <p:spPr>
          <a:xfrm>
            <a:off x="4703978" y="3913632"/>
            <a:ext cx="27837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能力与安全的天花板 —— 云端旗舰要能力，本地专用保安全。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7844333" y="3378708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endParaRPr lang="en-US" sz="2600" dirty="0"/>
          </a:p>
        </p:txBody>
      </p:sp>
      <p:sp>
        <p:nvSpPr>
          <p:cNvPr id="29" name="Shape 23"/>
          <p:cNvSpPr/>
          <p:nvPr/>
        </p:nvSpPr>
        <p:spPr>
          <a:xfrm>
            <a:off x="8182661" y="2029968"/>
            <a:ext cx="3442106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4"/>
          <p:cNvSpPr/>
          <p:nvPr/>
        </p:nvSpPr>
        <p:spPr>
          <a:xfrm>
            <a:off x="8182661" y="2029968"/>
            <a:ext cx="3442106" cy="82296"/>
          </a:xfrm>
          <a:prstGeom prst="rect">
            <a:avLst/>
          </a:prstGeom>
          <a:solidFill>
            <a:srgbClr val="2C80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5"/>
          <p:cNvSpPr/>
          <p:nvPr/>
        </p:nvSpPr>
        <p:spPr>
          <a:xfrm>
            <a:off x="8511845" y="2450592"/>
            <a:ext cx="859536" cy="85953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43920" y="2682667"/>
            <a:ext cx="395387" cy="395387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535973" y="2542032"/>
            <a:ext cx="1887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C7E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支柱 03 · 人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9535973" y="2852928"/>
            <a:ext cx="18876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养成习惯</a:t>
            </a:r>
            <a:endParaRPr lang="en-US" sz="2000" dirty="0"/>
          </a:p>
        </p:txBody>
      </p:sp>
      <p:sp>
        <p:nvSpPr>
          <p:cNvPr id="35" name="Shape 28"/>
          <p:cNvSpPr/>
          <p:nvPr/>
        </p:nvSpPr>
        <p:spPr>
          <a:xfrm>
            <a:off x="8511845" y="3730752"/>
            <a:ext cx="2783738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29"/>
          <p:cNvSpPr/>
          <p:nvPr/>
        </p:nvSpPr>
        <p:spPr>
          <a:xfrm>
            <a:off x="8511845" y="3913632"/>
            <a:ext cx="27837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说清楚、问明白、守主场 —— 靠每天用，不靠记笔记。</a:t>
            </a:r>
            <a:endParaRPr lang="en-US" sz="1150" dirty="0"/>
          </a:p>
        </p:txBody>
      </p:sp>
      <p:sp>
        <p:nvSpPr>
          <p:cNvPr id="37" name="Shape 30"/>
          <p:cNvSpPr/>
          <p:nvPr/>
        </p:nvSpPr>
        <p:spPr>
          <a:xfrm>
            <a:off x="566928" y="5779008"/>
            <a:ext cx="11057839" cy="457200"/>
          </a:xfrm>
          <a:prstGeom prst="roundRect">
            <a:avLst>
              <a:gd name="adj" fmla="val 18000"/>
            </a:avLst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1"/>
          <p:cNvSpPr/>
          <p:nvPr/>
        </p:nvSpPr>
        <p:spPr>
          <a:xfrm>
            <a:off x="566928" y="5779008"/>
            <a:ext cx="82296" cy="457200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2"/>
          <p:cNvSpPr/>
          <p:nvPr/>
        </p:nvSpPr>
        <p:spPr>
          <a:xfrm>
            <a:off x="896112" y="5779008"/>
            <a:ext cx="104177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   </a:t>
            </a: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先讲最容易被忽视的「人」—— 三个习惯、让 AI 进流程；工具与底座怎么选，Token Plan 三步里逐个讲透。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三个习惯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养成三个习惯：说清楚 · 问明白 · 守主场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工具一样、人不一样 —— 拉开差距的是这三个习惯；靠每天用养成，不靠记笔记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9221" y="329184"/>
            <a:ext cx="1105546" cy="310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372917" y="356616"/>
            <a:ext cx="0" cy="256032"/>
          </a:xfrm>
          <a:prstGeom prst="line">
            <a:avLst/>
          </a:prstGeom>
          <a:noFill/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1" descr="gfy_logo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5499" y="329184"/>
            <a:ext cx="1601114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 AIGC 创新赋能新质生产力   |   北大合肥论坛 · 新质生产力与智能经济   |   商汤科技 SenseTime</a:t>
            </a:r>
            <a:endParaRPr lang="en-US" sz="760" dirty="0"/>
          </a:p>
        </p:txBody>
      </p:sp>
      <p:sp>
        <p:nvSpPr>
          <p:cNvPr id="10" name="Text 6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37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66928" y="2011680"/>
            <a:ext cx="3442106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8"/>
          <p:cNvSpPr/>
          <p:nvPr/>
        </p:nvSpPr>
        <p:spPr>
          <a:xfrm>
            <a:off x="566928" y="2011680"/>
            <a:ext cx="3442106" cy="82296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9"/>
          <p:cNvSpPr/>
          <p:nvPr/>
        </p:nvSpPr>
        <p:spPr>
          <a:xfrm>
            <a:off x="841248" y="2286000"/>
            <a:ext cx="457200" cy="457200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0"/>
          <p:cNvSpPr/>
          <p:nvPr/>
        </p:nvSpPr>
        <p:spPr>
          <a:xfrm>
            <a:off x="841248" y="2276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426464" y="2286000"/>
            <a:ext cx="17047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9C7E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习惯 01 · 会写提示词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149498" y="2267712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2569" y="2420783"/>
            <a:ext cx="260787" cy="26078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248" y="2962656"/>
            <a:ext cx="289346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说清楚</a:t>
            </a:r>
            <a:endParaRPr lang="en-US" sz="2300" dirty="0"/>
          </a:p>
        </p:txBody>
      </p:sp>
      <p:sp>
        <p:nvSpPr>
          <p:cNvPr id="19" name="Shape 14"/>
          <p:cNvSpPr/>
          <p:nvPr/>
        </p:nvSpPr>
        <p:spPr>
          <a:xfrm>
            <a:off x="841248" y="3602736"/>
            <a:ext cx="1655064" cy="329184"/>
          </a:xfrm>
          <a:prstGeom prst="roundRect">
            <a:avLst>
              <a:gd name="adj" fmla="val 50000"/>
            </a:avLst>
          </a:prstGeom>
          <a:ln w="12700">
            <a:solidFill>
              <a:srgbClr val="B43A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5"/>
          <p:cNvSpPr/>
          <p:nvPr/>
        </p:nvSpPr>
        <p:spPr>
          <a:xfrm>
            <a:off x="841248" y="3602736"/>
            <a:ext cx="1655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解决「AI 听不懂」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859536" y="4133088"/>
            <a:ext cx="548640" cy="32004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7"/>
          <p:cNvSpPr/>
          <p:nvPr/>
        </p:nvSpPr>
        <p:spPr>
          <a:xfrm>
            <a:off x="859536" y="4297680"/>
            <a:ext cx="28751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把角色、背景、任务、要求讲清楚，AI 才给得准。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4027322" y="3493008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19"/>
          <p:cNvSpPr/>
          <p:nvPr/>
        </p:nvSpPr>
        <p:spPr>
          <a:xfrm>
            <a:off x="4374794" y="2011680"/>
            <a:ext cx="3442106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0"/>
          <p:cNvSpPr/>
          <p:nvPr/>
        </p:nvSpPr>
        <p:spPr>
          <a:xfrm>
            <a:off x="4374794" y="2011680"/>
            <a:ext cx="3442106" cy="82296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1"/>
          <p:cNvSpPr/>
          <p:nvPr/>
        </p:nvSpPr>
        <p:spPr>
          <a:xfrm>
            <a:off x="4649114" y="2286000"/>
            <a:ext cx="457200" cy="457200"/>
          </a:xfrm>
          <a:prstGeom prst="ellipse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2"/>
          <p:cNvSpPr/>
          <p:nvPr/>
        </p:nvSpPr>
        <p:spPr>
          <a:xfrm>
            <a:off x="4649114" y="2276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5234330" y="2286000"/>
            <a:ext cx="17047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9C7E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习惯 02 · 会问问题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6957365" y="2267712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0435" y="2420783"/>
            <a:ext cx="260787" cy="260787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649114" y="2962656"/>
            <a:ext cx="289346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问明白</a:t>
            </a:r>
            <a:endParaRPr lang="en-US" sz="2300" dirty="0"/>
          </a:p>
        </p:txBody>
      </p:sp>
      <p:sp>
        <p:nvSpPr>
          <p:cNvPr id="32" name="Shape 26"/>
          <p:cNvSpPr/>
          <p:nvPr/>
        </p:nvSpPr>
        <p:spPr>
          <a:xfrm>
            <a:off x="4649114" y="3602736"/>
            <a:ext cx="1389888" cy="329184"/>
          </a:xfrm>
          <a:prstGeom prst="roundRect">
            <a:avLst>
              <a:gd name="adj" fmla="val 50000"/>
            </a:avLst>
          </a:prstGeom>
          <a:ln w="12700">
            <a:solidFill>
              <a:srgbClr val="B43A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27"/>
          <p:cNvSpPr/>
          <p:nvPr/>
        </p:nvSpPr>
        <p:spPr>
          <a:xfrm>
            <a:off x="4649114" y="3602736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解决「我没想清」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4667402" y="4133088"/>
            <a:ext cx="548640" cy="32004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29"/>
          <p:cNvSpPr/>
          <p:nvPr/>
        </p:nvSpPr>
        <p:spPr>
          <a:xfrm>
            <a:off x="4667402" y="4297680"/>
            <a:ext cx="28751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提问的质量决定答案的质量 —— 问对、问深、会追问。</a:t>
            </a:r>
            <a:endParaRPr lang="en-US" sz="1050" dirty="0"/>
          </a:p>
        </p:txBody>
      </p:sp>
      <p:sp>
        <p:nvSpPr>
          <p:cNvPr id="36" name="Text 30"/>
          <p:cNvSpPr/>
          <p:nvPr/>
        </p:nvSpPr>
        <p:spPr>
          <a:xfrm>
            <a:off x="7835189" y="3493008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37" name="Shape 31"/>
          <p:cNvSpPr/>
          <p:nvPr/>
        </p:nvSpPr>
        <p:spPr>
          <a:xfrm>
            <a:off x="8182661" y="2011680"/>
            <a:ext cx="3442106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2"/>
          <p:cNvSpPr/>
          <p:nvPr/>
        </p:nvSpPr>
        <p:spPr>
          <a:xfrm>
            <a:off x="8182661" y="2011680"/>
            <a:ext cx="3442106" cy="82296"/>
          </a:xfrm>
          <a:prstGeom prst="rect">
            <a:avLst/>
          </a:prstGeom>
          <a:solidFill>
            <a:srgbClr val="2C80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3"/>
          <p:cNvSpPr/>
          <p:nvPr/>
        </p:nvSpPr>
        <p:spPr>
          <a:xfrm>
            <a:off x="8456981" y="2286000"/>
            <a:ext cx="457200" cy="457200"/>
          </a:xfrm>
          <a:prstGeom prst="ellipse">
            <a:avLst/>
          </a:prstGeom>
          <a:solidFill>
            <a:srgbClr val="2C80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4"/>
          <p:cNvSpPr/>
          <p:nvPr/>
        </p:nvSpPr>
        <p:spPr>
          <a:xfrm>
            <a:off x="8456981" y="2276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41" name="Text 35"/>
          <p:cNvSpPr/>
          <p:nvPr/>
        </p:nvSpPr>
        <p:spPr>
          <a:xfrm>
            <a:off x="9042197" y="2286000"/>
            <a:ext cx="17047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9C7E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习惯 03 · 会思考</a:t>
            </a:r>
            <a:endParaRPr lang="en-US" sz="1050" dirty="0"/>
          </a:p>
        </p:txBody>
      </p:sp>
      <p:sp>
        <p:nvSpPr>
          <p:cNvPr id="42" name="Shape 36"/>
          <p:cNvSpPr/>
          <p:nvPr/>
        </p:nvSpPr>
        <p:spPr>
          <a:xfrm>
            <a:off x="10765231" y="2267712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18302" y="2420783"/>
            <a:ext cx="260787" cy="260787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8456981" y="2962656"/>
            <a:ext cx="289346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守主场</a:t>
            </a:r>
            <a:endParaRPr lang="en-US" sz="2300" dirty="0"/>
          </a:p>
        </p:txBody>
      </p:sp>
      <p:sp>
        <p:nvSpPr>
          <p:cNvPr id="45" name="Shape 38"/>
          <p:cNvSpPr/>
          <p:nvPr/>
        </p:nvSpPr>
        <p:spPr>
          <a:xfrm>
            <a:off x="8456981" y="3602736"/>
            <a:ext cx="1522476" cy="329184"/>
          </a:xfrm>
          <a:prstGeom prst="roundRect">
            <a:avLst>
              <a:gd name="adj" fmla="val 50000"/>
            </a:avLst>
          </a:prstGeom>
          <a:ln w="12700">
            <a:solidFill>
              <a:srgbClr val="B43A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39"/>
          <p:cNvSpPr/>
          <p:nvPr/>
        </p:nvSpPr>
        <p:spPr>
          <a:xfrm>
            <a:off x="8456981" y="3602736"/>
            <a:ext cx="15224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解决「不能全信它」</a:t>
            </a:r>
            <a:endParaRPr lang="en-US" sz="1000" dirty="0"/>
          </a:p>
        </p:txBody>
      </p:sp>
      <p:sp>
        <p:nvSpPr>
          <p:cNvPr id="47" name="Shape 40"/>
          <p:cNvSpPr/>
          <p:nvPr/>
        </p:nvSpPr>
        <p:spPr>
          <a:xfrm>
            <a:off x="8475269" y="4133088"/>
            <a:ext cx="548640" cy="32004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1"/>
          <p:cNvSpPr/>
          <p:nvPr/>
        </p:nvSpPr>
        <p:spPr>
          <a:xfrm>
            <a:off x="8475269" y="4297680"/>
            <a:ext cx="28751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干活、人做判断，越重要的事越要自己把关。</a:t>
            </a:r>
            <a:endParaRPr lang="en-US" sz="1050" dirty="0"/>
          </a:p>
        </p:txBody>
      </p:sp>
      <p:sp>
        <p:nvSpPr>
          <p:cNvPr id="49" name="Shape 42"/>
          <p:cNvSpPr/>
          <p:nvPr/>
        </p:nvSpPr>
        <p:spPr>
          <a:xfrm>
            <a:off x="566928" y="5779008"/>
            <a:ext cx="11057839" cy="457200"/>
          </a:xfrm>
          <a:prstGeom prst="roundRect">
            <a:avLst>
              <a:gd name="adj" fmla="val 18000"/>
            </a:avLst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3"/>
          <p:cNvSpPr/>
          <p:nvPr/>
        </p:nvSpPr>
        <p:spPr>
          <a:xfrm>
            <a:off x="566928" y="5779008"/>
            <a:ext cx="82296" cy="457200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4"/>
          <p:cNvSpPr/>
          <p:nvPr/>
        </p:nvSpPr>
        <p:spPr>
          <a:xfrm>
            <a:off x="896112" y="5779008"/>
            <a:ext cx="104177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一条线，缺一环就漏   </a:t>
            </a: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说清楚 → 问明白 → 守主场 —— 会用 AI 的人，不是「更会问」，而是「更会想」。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进流程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进流程：从「一次性问答」到「日常自动化」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真正的复利，来自把好用法沉淀下来、让它每天自动替你跑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9221" y="329184"/>
            <a:ext cx="1105546" cy="310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372917" y="356616"/>
            <a:ext cx="0" cy="256032"/>
          </a:xfrm>
          <a:prstGeom prst="line">
            <a:avLst/>
          </a:prstGeom>
          <a:noFill/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1" descr="gfy_logo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5499" y="329184"/>
            <a:ext cx="1601114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 AIGC 创新赋能新质生产力   |   北大合肥论坛 · 新质生产力与智能经济   |   商汤科技 SenseTime</a:t>
            </a:r>
            <a:endParaRPr lang="en-US" sz="760" dirty="0"/>
          </a:p>
        </p:txBody>
      </p:sp>
      <p:sp>
        <p:nvSpPr>
          <p:cNvPr id="10" name="Text 6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37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66928" y="3063240"/>
            <a:ext cx="252443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8"/>
          <p:cNvSpPr/>
          <p:nvPr/>
        </p:nvSpPr>
        <p:spPr>
          <a:xfrm>
            <a:off x="566928" y="3063240"/>
            <a:ext cx="2524430" cy="73152"/>
          </a:xfrm>
          <a:prstGeom prst="rect">
            <a:avLst/>
          </a:prstGeom>
          <a:solidFill>
            <a:srgbClr val="7AA0C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9"/>
          <p:cNvSpPr/>
          <p:nvPr/>
        </p:nvSpPr>
        <p:spPr>
          <a:xfrm>
            <a:off x="804672" y="3264408"/>
            <a:ext cx="16100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9C7E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Lv.1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2378126" y="3246120"/>
            <a:ext cx="493776" cy="49377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1445" y="3379440"/>
            <a:ext cx="227137" cy="22713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04672" y="3648456"/>
            <a:ext cx="20672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一次性问答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804672" y="4069080"/>
            <a:ext cx="548640" cy="32004"/>
          </a:xfrm>
          <a:prstGeom prst="rect">
            <a:avLst/>
          </a:prstGeom>
          <a:solidFill>
            <a:srgbClr val="7AA0C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3"/>
          <p:cNvSpPr/>
          <p:nvPr/>
        </p:nvSpPr>
        <p:spPr>
          <a:xfrm>
            <a:off x="804672" y="4215384"/>
            <a:ext cx="204894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想到才问一次，用完即走。门槛最低，但每次从头说。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3100502" y="3963924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5"/>
          <p:cNvSpPr/>
          <p:nvPr/>
        </p:nvSpPr>
        <p:spPr>
          <a:xfrm>
            <a:off x="3411398" y="2807208"/>
            <a:ext cx="252443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6"/>
          <p:cNvSpPr/>
          <p:nvPr/>
        </p:nvSpPr>
        <p:spPr>
          <a:xfrm>
            <a:off x="3411398" y="2807208"/>
            <a:ext cx="2524430" cy="73152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7"/>
          <p:cNvSpPr/>
          <p:nvPr/>
        </p:nvSpPr>
        <p:spPr>
          <a:xfrm>
            <a:off x="3649142" y="3008376"/>
            <a:ext cx="16100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9C7E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Lv.2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5222596" y="2990088"/>
            <a:ext cx="493776" cy="49377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5915" y="3123408"/>
            <a:ext cx="227137" cy="22713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649142" y="3392424"/>
            <a:ext cx="20672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沉淀成技能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3649142" y="3813048"/>
            <a:ext cx="548640" cy="32004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1"/>
          <p:cNvSpPr/>
          <p:nvPr/>
        </p:nvSpPr>
        <p:spPr>
          <a:xfrm>
            <a:off x="3649142" y="3959352"/>
            <a:ext cx="204894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把常用提示词存成 Skill，一键复用 —— 团队还能共享。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5944972" y="3707892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3"/>
          <p:cNvSpPr/>
          <p:nvPr/>
        </p:nvSpPr>
        <p:spPr>
          <a:xfrm>
            <a:off x="6255868" y="2551176"/>
            <a:ext cx="252443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4"/>
          <p:cNvSpPr/>
          <p:nvPr/>
        </p:nvSpPr>
        <p:spPr>
          <a:xfrm>
            <a:off x="6255868" y="2551176"/>
            <a:ext cx="2524430" cy="73152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5"/>
          <p:cNvSpPr/>
          <p:nvPr/>
        </p:nvSpPr>
        <p:spPr>
          <a:xfrm>
            <a:off x="6493612" y="2752344"/>
            <a:ext cx="16100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9C7E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Lv.3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8067065" y="2734056"/>
            <a:ext cx="493776" cy="49377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0385" y="2867376"/>
            <a:ext cx="227137" cy="227137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493612" y="3136392"/>
            <a:ext cx="20672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串成工作流</a:t>
            </a:r>
            <a:endParaRPr lang="en-US" sz="1600" dirty="0"/>
          </a:p>
        </p:txBody>
      </p:sp>
      <p:sp>
        <p:nvSpPr>
          <p:cNvPr id="35" name="Shape 28"/>
          <p:cNvSpPr/>
          <p:nvPr/>
        </p:nvSpPr>
        <p:spPr>
          <a:xfrm>
            <a:off x="6493612" y="3557016"/>
            <a:ext cx="548640" cy="32004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29"/>
          <p:cNvSpPr/>
          <p:nvPr/>
        </p:nvSpPr>
        <p:spPr>
          <a:xfrm>
            <a:off x="6493612" y="3703320"/>
            <a:ext cx="204894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多步骤自动衔接：读文档 → 抽数据 → 出报告，一条龙跑完。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8789441" y="345186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38" name="Shape 31"/>
          <p:cNvSpPr/>
          <p:nvPr/>
        </p:nvSpPr>
        <p:spPr>
          <a:xfrm>
            <a:off x="9100337" y="2295144"/>
            <a:ext cx="252443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2"/>
          <p:cNvSpPr/>
          <p:nvPr/>
        </p:nvSpPr>
        <p:spPr>
          <a:xfrm>
            <a:off x="9100337" y="2295144"/>
            <a:ext cx="2524430" cy="73152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3"/>
          <p:cNvSpPr/>
          <p:nvPr/>
        </p:nvSpPr>
        <p:spPr>
          <a:xfrm>
            <a:off x="9338081" y="2496312"/>
            <a:ext cx="16100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9C7E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Lv.4</a:t>
            </a:r>
            <a:endParaRPr lang="en-US" sz="1300" dirty="0"/>
          </a:p>
        </p:txBody>
      </p:sp>
      <p:sp>
        <p:nvSpPr>
          <p:cNvPr id="41" name="Shape 34"/>
          <p:cNvSpPr/>
          <p:nvPr/>
        </p:nvSpPr>
        <p:spPr>
          <a:xfrm>
            <a:off x="10911535" y="2478024"/>
            <a:ext cx="493776" cy="49377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44855" y="2611344"/>
            <a:ext cx="227137" cy="227137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9338081" y="2880360"/>
            <a:ext cx="20672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定时自动跑</a:t>
            </a:r>
            <a:endParaRPr lang="en-US" sz="1600" dirty="0"/>
          </a:p>
        </p:txBody>
      </p:sp>
      <p:sp>
        <p:nvSpPr>
          <p:cNvPr id="44" name="Shape 36"/>
          <p:cNvSpPr/>
          <p:nvPr/>
        </p:nvSpPr>
        <p:spPr>
          <a:xfrm>
            <a:off x="9338081" y="3300984"/>
            <a:ext cx="548640" cy="32004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37"/>
          <p:cNvSpPr/>
          <p:nvPr/>
        </p:nvSpPr>
        <p:spPr>
          <a:xfrm>
            <a:off x="9338081" y="3447288"/>
            <a:ext cx="204894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设成定时任务：每天早上自动生成晨报、舆情摘要，到点就有。</a:t>
            </a:r>
            <a:endParaRPr lang="en-US" sz="1000" dirty="0"/>
          </a:p>
        </p:txBody>
      </p:sp>
      <p:sp>
        <p:nvSpPr>
          <p:cNvPr id="46" name="Shape 38"/>
          <p:cNvSpPr/>
          <p:nvPr/>
        </p:nvSpPr>
        <p:spPr>
          <a:xfrm>
            <a:off x="566928" y="5779008"/>
            <a:ext cx="11057839" cy="457200"/>
          </a:xfrm>
          <a:prstGeom prst="roundRect">
            <a:avLst>
              <a:gd name="adj" fmla="val 18000"/>
            </a:avLst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39"/>
          <p:cNvSpPr/>
          <p:nvPr/>
        </p:nvSpPr>
        <p:spPr>
          <a:xfrm>
            <a:off x="566928" y="5779008"/>
            <a:ext cx="82296" cy="457200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0"/>
          <p:cNvSpPr/>
          <p:nvPr/>
        </p:nvSpPr>
        <p:spPr>
          <a:xfrm>
            <a:off x="896112" y="5779008"/>
            <a:ext cx="104177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落地建议   </a:t>
            </a: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先从 Lv.1 / Lv.2 全员铺开，再把高频场景做成 Lv.3 / Lv.4 自动化 —— 个人提效沉淀为组织资产。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TOKEN PLAN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不卖软件，卖「真正用起来」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Plan 不卖许可证、不押席位：按真实消耗付费 + 全程陪跑 —— 每一分钱都花在真实用量上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9221" y="329184"/>
            <a:ext cx="1105546" cy="310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372917" y="356616"/>
            <a:ext cx="0" cy="256032"/>
          </a:xfrm>
          <a:prstGeom prst="line">
            <a:avLst/>
          </a:prstGeom>
          <a:noFill/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1" descr="gfy_logo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5499" y="329184"/>
            <a:ext cx="1601114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 AIGC 创新赋能新质生产力   |   北大合肥论坛 · 新质生产力与智能经济   |   商汤科技 SenseTime</a:t>
            </a:r>
            <a:endParaRPr lang="en-US" sz="760" dirty="0"/>
          </a:p>
        </p:txBody>
      </p:sp>
      <p:sp>
        <p:nvSpPr>
          <p:cNvPr id="10" name="Text 6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37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66928" y="1810512"/>
            <a:ext cx="2476424" cy="2212848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8"/>
          <p:cNvSpPr/>
          <p:nvPr/>
        </p:nvSpPr>
        <p:spPr>
          <a:xfrm>
            <a:off x="566928" y="1810512"/>
            <a:ext cx="2476424" cy="73152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9"/>
          <p:cNvSpPr/>
          <p:nvPr/>
        </p:nvSpPr>
        <p:spPr>
          <a:xfrm>
            <a:off x="804672" y="2048256"/>
            <a:ext cx="402336" cy="402336"/>
          </a:xfrm>
          <a:prstGeom prst="ellipse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0"/>
          <p:cNvSpPr/>
          <p:nvPr/>
        </p:nvSpPr>
        <p:spPr>
          <a:xfrm>
            <a:off x="804672" y="2039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2275256" y="2011680"/>
            <a:ext cx="548640" cy="54864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3389" y="2159813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4672" y="2633472"/>
            <a:ext cx="2019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充值 Token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04672" y="3017520"/>
            <a:ext cx="20192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企业按需充值，不买软件、不押席位 —— 门槛低、决策快，先小步把 AI 用起来。</a:t>
            </a:r>
            <a:endParaRPr lang="en-US" sz="980" dirty="0"/>
          </a:p>
        </p:txBody>
      </p:sp>
      <p:sp>
        <p:nvSpPr>
          <p:cNvPr id="19" name="Text 14"/>
          <p:cNvSpPr/>
          <p:nvPr/>
        </p:nvSpPr>
        <p:spPr>
          <a:xfrm>
            <a:off x="3043352" y="267919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5"/>
          <p:cNvSpPr/>
          <p:nvPr/>
        </p:nvSpPr>
        <p:spPr>
          <a:xfrm>
            <a:off x="3427400" y="1810512"/>
            <a:ext cx="2476424" cy="2212848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6"/>
          <p:cNvSpPr/>
          <p:nvPr/>
        </p:nvSpPr>
        <p:spPr>
          <a:xfrm>
            <a:off x="3427400" y="1810512"/>
            <a:ext cx="2476424" cy="73152"/>
          </a:xfrm>
          <a:prstGeom prst="rect">
            <a:avLst/>
          </a:prstGeom>
          <a:solidFill>
            <a:srgbClr val="2C80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7"/>
          <p:cNvSpPr/>
          <p:nvPr/>
        </p:nvSpPr>
        <p:spPr>
          <a:xfrm>
            <a:off x="3665144" y="2048256"/>
            <a:ext cx="402336" cy="402336"/>
          </a:xfrm>
          <a:prstGeom prst="ellipse">
            <a:avLst/>
          </a:prstGeom>
          <a:solidFill>
            <a:srgbClr val="2C80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18"/>
          <p:cNvSpPr/>
          <p:nvPr/>
        </p:nvSpPr>
        <p:spPr>
          <a:xfrm>
            <a:off x="3665144" y="2039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135728" y="2011680"/>
            <a:ext cx="548640" cy="54864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3860" y="2159813"/>
            <a:ext cx="252374" cy="25237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665144" y="2633472"/>
            <a:ext cx="2019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 Agent · 选模型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3665144" y="3017520"/>
            <a:ext cx="20192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对着岗位高频任务配 Agent，按任务难度配模型 —— 怎么选，后面几节讲透。</a:t>
            </a:r>
            <a:endParaRPr lang="en-US" sz="980" dirty="0"/>
          </a:p>
        </p:txBody>
      </p:sp>
      <p:sp>
        <p:nvSpPr>
          <p:cNvPr id="28" name="Text 22"/>
          <p:cNvSpPr/>
          <p:nvPr/>
        </p:nvSpPr>
        <p:spPr>
          <a:xfrm>
            <a:off x="5903824" y="267919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3"/>
          <p:cNvSpPr/>
          <p:nvPr/>
        </p:nvSpPr>
        <p:spPr>
          <a:xfrm>
            <a:off x="6287872" y="1810512"/>
            <a:ext cx="2476424" cy="2212848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4"/>
          <p:cNvSpPr/>
          <p:nvPr/>
        </p:nvSpPr>
        <p:spPr>
          <a:xfrm>
            <a:off x="6287872" y="1810512"/>
            <a:ext cx="2476424" cy="73152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5"/>
          <p:cNvSpPr/>
          <p:nvPr/>
        </p:nvSpPr>
        <p:spPr>
          <a:xfrm>
            <a:off x="6525616" y="2048256"/>
            <a:ext cx="402336" cy="402336"/>
          </a:xfrm>
          <a:prstGeom prst="ellipse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26"/>
          <p:cNvSpPr/>
          <p:nvPr/>
        </p:nvSpPr>
        <p:spPr>
          <a:xfrm>
            <a:off x="6525616" y="2039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7996199" y="2011680"/>
            <a:ext cx="548640" cy="54864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4332" y="2159813"/>
            <a:ext cx="252374" cy="25237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6525616" y="2633472"/>
            <a:ext cx="2019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陪跑</a:t>
            </a:r>
            <a:endParaRPr lang="en-US" sz="1450" dirty="0"/>
          </a:p>
        </p:txBody>
      </p:sp>
      <p:sp>
        <p:nvSpPr>
          <p:cNvPr id="36" name="Text 29"/>
          <p:cNvSpPr/>
          <p:nvPr/>
        </p:nvSpPr>
        <p:spPr>
          <a:xfrm>
            <a:off x="6525616" y="3017520"/>
            <a:ext cx="20192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前置工程师驻场同干，把场景跑通、把人教会 —— 交付的不是软件，是会用的团队。</a:t>
            </a:r>
            <a:endParaRPr lang="en-US" sz="980" dirty="0"/>
          </a:p>
        </p:txBody>
      </p:sp>
      <p:sp>
        <p:nvSpPr>
          <p:cNvPr id="37" name="Text 30"/>
          <p:cNvSpPr/>
          <p:nvPr/>
        </p:nvSpPr>
        <p:spPr>
          <a:xfrm>
            <a:off x="8764295" y="267919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38" name="Shape 31"/>
          <p:cNvSpPr/>
          <p:nvPr/>
        </p:nvSpPr>
        <p:spPr>
          <a:xfrm>
            <a:off x="9148343" y="1810512"/>
            <a:ext cx="2476424" cy="2212848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2"/>
          <p:cNvSpPr/>
          <p:nvPr/>
        </p:nvSpPr>
        <p:spPr>
          <a:xfrm>
            <a:off x="9148343" y="1810512"/>
            <a:ext cx="2476424" cy="73152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3"/>
          <p:cNvSpPr/>
          <p:nvPr/>
        </p:nvSpPr>
        <p:spPr>
          <a:xfrm>
            <a:off x="9386087" y="2048256"/>
            <a:ext cx="402336" cy="402336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4"/>
          <p:cNvSpPr/>
          <p:nvPr/>
        </p:nvSpPr>
        <p:spPr>
          <a:xfrm>
            <a:off x="9386087" y="2039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42" name="Shape 35"/>
          <p:cNvSpPr/>
          <p:nvPr/>
        </p:nvSpPr>
        <p:spPr>
          <a:xfrm>
            <a:off x="10856671" y="2011680"/>
            <a:ext cx="548640" cy="54864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04804" y="2159813"/>
            <a:ext cx="252374" cy="252374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9386087" y="2633472"/>
            <a:ext cx="2019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消耗见效</a:t>
            </a:r>
            <a:endParaRPr lang="en-US" sz="1450" dirty="0"/>
          </a:p>
        </p:txBody>
      </p:sp>
      <p:sp>
        <p:nvSpPr>
          <p:cNvPr id="45" name="Text 37"/>
          <p:cNvSpPr/>
          <p:nvPr/>
        </p:nvSpPr>
        <p:spPr>
          <a:xfrm>
            <a:off x="9386087" y="3017520"/>
            <a:ext cx="20192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用量看板一目了然：Token 在被真实消耗，说明 AI 真进了工作流、真出了生产力。</a:t>
            </a:r>
            <a:endParaRPr lang="en-US" sz="980" dirty="0"/>
          </a:p>
        </p:txBody>
      </p:sp>
      <p:sp>
        <p:nvSpPr>
          <p:cNvPr id="46" name="Shape 38"/>
          <p:cNvSpPr/>
          <p:nvPr/>
        </p:nvSpPr>
        <p:spPr>
          <a:xfrm>
            <a:off x="566928" y="4224528"/>
            <a:ext cx="4846320" cy="1371600"/>
          </a:xfrm>
          <a:prstGeom prst="roundRect">
            <a:avLst>
              <a:gd name="adj" fmla="val 6000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39"/>
          <p:cNvSpPr/>
          <p:nvPr/>
        </p:nvSpPr>
        <p:spPr>
          <a:xfrm>
            <a:off x="566928" y="4224528"/>
            <a:ext cx="91440" cy="1371600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0"/>
          <p:cNvSpPr/>
          <p:nvPr/>
        </p:nvSpPr>
        <p:spPr>
          <a:xfrm>
            <a:off x="859536" y="4224528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倍</a:t>
            </a:r>
            <a:endParaRPr lang="en-US" sz="4000" dirty="0"/>
          </a:p>
        </p:txBody>
      </p:sp>
      <p:sp>
        <p:nvSpPr>
          <p:cNvPr id="49" name="Shape 41"/>
          <p:cNvSpPr/>
          <p:nvPr/>
        </p:nvSpPr>
        <p:spPr>
          <a:xfrm>
            <a:off x="2715768" y="4480560"/>
            <a:ext cx="0" cy="859536"/>
          </a:xfrm>
          <a:prstGeom prst="line">
            <a:avLst/>
          </a:prstGeom>
          <a:noFill/>
          <a:ln w="12700">
            <a:solidFill>
              <a:srgbClr val="2C4A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2"/>
          <p:cNvSpPr/>
          <p:nvPr/>
        </p:nvSpPr>
        <p:spPr>
          <a:xfrm>
            <a:off x="2944368" y="44622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上线两个月 · 使用量增长</a:t>
            </a:r>
            <a:endParaRPr lang="en-US" sz="1200" dirty="0"/>
          </a:p>
        </p:txBody>
      </p:sp>
      <p:sp>
        <p:nvSpPr>
          <p:cNvPr id="51" name="Text 43"/>
          <p:cNvSpPr/>
          <p:nvPr/>
        </p:nvSpPr>
        <p:spPr>
          <a:xfrm>
            <a:off x="2944368" y="480974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上线两个月，用量翻了 7 倍 —— 每一分增长都来自企业的真实消耗</a:t>
            </a:r>
            <a:endParaRPr lang="en-US" sz="980" dirty="0"/>
          </a:p>
        </p:txBody>
      </p:sp>
      <p:sp>
        <p:nvSpPr>
          <p:cNvPr id="52" name="Shape 44"/>
          <p:cNvSpPr/>
          <p:nvPr/>
        </p:nvSpPr>
        <p:spPr>
          <a:xfrm>
            <a:off x="5733288" y="4224528"/>
            <a:ext cx="5891479" cy="137160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45"/>
          <p:cNvSpPr/>
          <p:nvPr/>
        </p:nvSpPr>
        <p:spPr>
          <a:xfrm>
            <a:off x="6007608" y="4608576"/>
            <a:ext cx="603504" cy="6035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64519" y="4765487"/>
            <a:ext cx="289682" cy="289682"/>
          </a:xfrm>
          <a:prstGeom prst="rect">
            <a:avLst/>
          </a:prstGeom>
        </p:spPr>
      </p:pic>
      <p:sp>
        <p:nvSpPr>
          <p:cNvPr id="55" name="Text 46"/>
          <p:cNvSpPr/>
          <p:nvPr/>
        </p:nvSpPr>
        <p:spPr>
          <a:xfrm>
            <a:off x="6830568" y="4462272"/>
            <a:ext cx="46113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为什么说是闭环</a:t>
            </a:r>
            <a:endParaRPr lang="en-US" sz="1250" dirty="0"/>
          </a:p>
        </p:txBody>
      </p:sp>
      <p:sp>
        <p:nvSpPr>
          <p:cNvPr id="56" name="Text 47"/>
          <p:cNvSpPr/>
          <p:nvPr/>
        </p:nvSpPr>
        <p:spPr>
          <a:xfrm>
            <a:off x="6830568" y="4809744"/>
            <a:ext cx="45198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消耗数据回流，反过来指导下一轮选型与充值 —— 闭环滚动，越用越准</a:t>
            </a:r>
            <a:endParaRPr lang="en-US" sz="1050" dirty="0"/>
          </a:p>
        </p:txBody>
      </p:sp>
      <p:sp>
        <p:nvSpPr>
          <p:cNvPr id="57" name="Shape 48"/>
          <p:cNvSpPr/>
          <p:nvPr/>
        </p:nvSpPr>
        <p:spPr>
          <a:xfrm>
            <a:off x="566928" y="5779008"/>
            <a:ext cx="11057839" cy="457200"/>
          </a:xfrm>
          <a:prstGeom prst="roundRect">
            <a:avLst>
              <a:gd name="adj" fmla="val 18000"/>
            </a:avLst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49"/>
          <p:cNvSpPr/>
          <p:nvPr/>
        </p:nvSpPr>
        <p:spPr>
          <a:xfrm>
            <a:off x="566928" y="5779008"/>
            <a:ext cx="82296" cy="457200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0"/>
          <p:cNvSpPr/>
          <p:nvPr/>
        </p:nvSpPr>
        <p:spPr>
          <a:xfrm>
            <a:off x="896112" y="5779008"/>
            <a:ext cx="104177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一个共识   </a:t>
            </a: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按消耗付费，把厂商和企业绑在同一个目标上 —— 不是「卖出去」，而是「用起来」。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双模式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两代模式并行：按账号订阅 × 按消耗付费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老模式让人人用上，新模式让业务用深 —— 两代都需要，跑得快的是新一代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9221" y="329184"/>
            <a:ext cx="1105546" cy="310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372917" y="356616"/>
            <a:ext cx="0" cy="256032"/>
          </a:xfrm>
          <a:prstGeom prst="line">
            <a:avLst/>
          </a:prstGeom>
          <a:noFill/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1" descr="gfy_logo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5499" y="329184"/>
            <a:ext cx="1601114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 AIGC 创新赋能新质生产力   |   北大合肥论坛 · 新质生产力与智能经济   |   商汤科技 SenseTime</a:t>
            </a:r>
            <a:endParaRPr lang="en-US" sz="760" dirty="0"/>
          </a:p>
        </p:txBody>
      </p:sp>
      <p:sp>
        <p:nvSpPr>
          <p:cNvPr id="10" name="Text 6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37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66928" y="1755648"/>
            <a:ext cx="5117440" cy="3931920"/>
          </a:xfrm>
          <a:prstGeom prst="roundRect">
            <a:avLst>
              <a:gd name="adj" fmla="val 2093"/>
            </a:avLst>
          </a:prstGeom>
          <a:solidFill>
            <a:srgbClr val="EEF3F9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8"/>
          <p:cNvSpPr/>
          <p:nvPr/>
        </p:nvSpPr>
        <p:spPr>
          <a:xfrm>
            <a:off x="566928" y="1755648"/>
            <a:ext cx="5117440" cy="64008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9"/>
          <p:cNvSpPr/>
          <p:nvPr/>
        </p:nvSpPr>
        <p:spPr>
          <a:xfrm>
            <a:off x="859536" y="1993392"/>
            <a:ext cx="453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C64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上一代 · SaaS 按账号订阅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59536" y="2377440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607" y="2530511"/>
            <a:ext cx="260787" cy="26078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72768" y="2377440"/>
            <a:ext cx="381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小浣熊 为代表</a:t>
            </a:r>
            <a:endParaRPr lang="en-US" sz="1750" dirty="0"/>
          </a:p>
        </p:txBody>
      </p:sp>
      <p:sp>
        <p:nvSpPr>
          <p:cNvPr id="17" name="Shape 12"/>
          <p:cNvSpPr/>
          <p:nvPr/>
        </p:nvSpPr>
        <p:spPr>
          <a:xfrm>
            <a:off x="859536" y="3163824"/>
            <a:ext cx="4532224" cy="0"/>
          </a:xfrm>
          <a:prstGeom prst="line">
            <a:avLst/>
          </a:prstGeom>
          <a:noFill/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3"/>
          <p:cNvSpPr/>
          <p:nvPr/>
        </p:nvSpPr>
        <p:spPr>
          <a:xfrm>
            <a:off x="896112" y="3447288"/>
            <a:ext cx="82296" cy="82296"/>
          </a:xfrm>
          <a:prstGeom prst="ellipse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4"/>
          <p:cNvSpPr/>
          <p:nvPr/>
        </p:nvSpPr>
        <p:spPr>
          <a:xfrm>
            <a:off x="1133856" y="3328416"/>
            <a:ext cx="423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按账号 / 席位订阅，开箱即用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896112" y="3858768"/>
            <a:ext cx="82296" cy="82296"/>
          </a:xfrm>
          <a:prstGeom prst="ellipse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6"/>
          <p:cNvSpPr/>
          <p:nvPr/>
        </p:nvSpPr>
        <p:spPr>
          <a:xfrm>
            <a:off x="1133856" y="3739896"/>
            <a:ext cx="423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功能标准化，人人上手快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896112" y="4270248"/>
            <a:ext cx="82296" cy="82296"/>
          </a:xfrm>
          <a:prstGeom prst="ellipse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18"/>
          <p:cNvSpPr/>
          <p:nvPr/>
        </p:nvSpPr>
        <p:spPr>
          <a:xfrm>
            <a:off x="1133856" y="4151376"/>
            <a:ext cx="423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2000 万人在用的国民级入口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896112" y="4681728"/>
            <a:ext cx="82296" cy="82296"/>
          </a:xfrm>
          <a:prstGeom prst="ellipse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0"/>
          <p:cNvSpPr/>
          <p:nvPr/>
        </p:nvSpPr>
        <p:spPr>
          <a:xfrm>
            <a:off x="1133856" y="4562856"/>
            <a:ext cx="423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适合：普惠性的效率场景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859536" y="5047488"/>
            <a:ext cx="4532224" cy="0"/>
          </a:xfrm>
          <a:prstGeom prst="line">
            <a:avLst/>
          </a:prstGeom>
          <a:noFill/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2"/>
          <p:cNvSpPr/>
          <p:nvPr/>
        </p:nvSpPr>
        <p:spPr>
          <a:xfrm>
            <a:off x="877824" y="5138928"/>
            <a:ext cx="449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64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</a:t>
            </a:r>
            <a:r>
              <a:rPr lang="en-US" sz="1150" b="1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成熟稳定 · 依然需要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6507328" y="1755648"/>
            <a:ext cx="5117440" cy="3931920"/>
          </a:xfrm>
          <a:prstGeom prst="roundRect">
            <a:avLst>
              <a:gd name="adj" fmla="val 2093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4"/>
          <p:cNvSpPr/>
          <p:nvPr/>
        </p:nvSpPr>
        <p:spPr>
          <a:xfrm>
            <a:off x="6507328" y="1755648"/>
            <a:ext cx="5117440" cy="91440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5"/>
          <p:cNvSpPr/>
          <p:nvPr/>
        </p:nvSpPr>
        <p:spPr>
          <a:xfrm>
            <a:off x="6799936" y="2011680"/>
            <a:ext cx="453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新一代 · Token Plan 按消耗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6799936" y="2395728"/>
            <a:ext cx="566928" cy="566928"/>
          </a:xfrm>
          <a:prstGeom prst="ellipse">
            <a:avLst/>
          </a:prstGeom>
          <a:solidFill>
            <a:srgbClr val="16365C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006" y="2548799"/>
            <a:ext cx="260787" cy="260787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513168" y="2395728"/>
            <a:ext cx="381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Plan</a:t>
            </a:r>
            <a:endParaRPr lang="en-US" sz="1750" dirty="0"/>
          </a:p>
        </p:txBody>
      </p:sp>
      <p:sp>
        <p:nvSpPr>
          <p:cNvPr id="34" name="Shape 28"/>
          <p:cNvSpPr/>
          <p:nvPr/>
        </p:nvSpPr>
        <p:spPr>
          <a:xfrm>
            <a:off x="6799936" y="3182112"/>
            <a:ext cx="4532224" cy="0"/>
          </a:xfrm>
          <a:prstGeom prst="line">
            <a:avLst/>
          </a:prstGeom>
          <a:noFill/>
          <a:ln w="12700">
            <a:solidFill>
              <a:srgbClr val="2C4A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29"/>
          <p:cNvSpPr/>
          <p:nvPr/>
        </p:nvSpPr>
        <p:spPr>
          <a:xfrm>
            <a:off x="6836512" y="3465576"/>
            <a:ext cx="82296" cy="82296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0"/>
          <p:cNvSpPr/>
          <p:nvPr/>
        </p:nvSpPr>
        <p:spPr>
          <a:xfrm>
            <a:off x="7074256" y="3346704"/>
            <a:ext cx="423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不押席位：充值即用，用多少付多少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6836512" y="3877056"/>
            <a:ext cx="82296" cy="82296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2"/>
          <p:cNvSpPr/>
          <p:nvPr/>
        </p:nvSpPr>
        <p:spPr>
          <a:xfrm>
            <a:off x="7074256" y="3758184"/>
            <a:ext cx="423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× 16 款模型自由组合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6836512" y="4288536"/>
            <a:ext cx="82296" cy="82296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4"/>
          <p:cNvSpPr/>
          <p:nvPr/>
        </p:nvSpPr>
        <p:spPr>
          <a:xfrm>
            <a:off x="7074256" y="4169664"/>
            <a:ext cx="423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消耗看板透明，超额不停机</a:t>
            </a:r>
            <a:endParaRPr lang="en-US" sz="1050" dirty="0"/>
          </a:p>
        </p:txBody>
      </p:sp>
      <p:sp>
        <p:nvSpPr>
          <p:cNvPr id="41" name="Shape 35"/>
          <p:cNvSpPr/>
          <p:nvPr/>
        </p:nvSpPr>
        <p:spPr>
          <a:xfrm>
            <a:off x="6836512" y="4700016"/>
            <a:ext cx="82296" cy="82296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36"/>
          <p:cNvSpPr/>
          <p:nvPr/>
        </p:nvSpPr>
        <p:spPr>
          <a:xfrm>
            <a:off x="7074256" y="4581144"/>
            <a:ext cx="423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适合：深入业务流程的场景</a:t>
            </a:r>
            <a:endParaRPr lang="en-US" sz="1050" dirty="0"/>
          </a:p>
        </p:txBody>
      </p:sp>
      <p:sp>
        <p:nvSpPr>
          <p:cNvPr id="43" name="Shape 37"/>
          <p:cNvSpPr/>
          <p:nvPr/>
        </p:nvSpPr>
        <p:spPr>
          <a:xfrm>
            <a:off x="6799936" y="5102352"/>
            <a:ext cx="4532224" cy="457200"/>
          </a:xfrm>
          <a:prstGeom prst="roundRect">
            <a:avLst>
              <a:gd name="adj" fmla="val 16000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38"/>
          <p:cNvSpPr/>
          <p:nvPr/>
        </p:nvSpPr>
        <p:spPr>
          <a:xfrm>
            <a:off x="6799936" y="5102352"/>
            <a:ext cx="453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两个月 </a:t>
            </a:r>
            <a:r>
              <a:rPr lang="en-US" sz="17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倍</a:t>
            </a:r>
            <a:r>
              <a:rPr lang="en-US" sz="12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更推荐</a:t>
            </a:r>
            <a:endParaRPr lang="en-US" sz="1250" dirty="0"/>
          </a:p>
        </p:txBody>
      </p:sp>
      <p:sp>
        <p:nvSpPr>
          <p:cNvPr id="45" name="Shape 39"/>
          <p:cNvSpPr/>
          <p:nvPr/>
        </p:nvSpPr>
        <p:spPr>
          <a:xfrm>
            <a:off x="5812384" y="3438144"/>
            <a:ext cx="566928" cy="566928"/>
          </a:xfrm>
          <a:prstGeom prst="ellipse">
            <a:avLst/>
          </a:prstGeom>
          <a:solidFill>
            <a:srgbClr val="C2A14B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0"/>
          <p:cNvSpPr/>
          <p:nvPr/>
        </p:nvSpPr>
        <p:spPr>
          <a:xfrm>
            <a:off x="5812384" y="34198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47" name="Shape 41"/>
          <p:cNvSpPr/>
          <p:nvPr/>
        </p:nvSpPr>
        <p:spPr>
          <a:xfrm>
            <a:off x="566928" y="5815584"/>
            <a:ext cx="11057839" cy="457200"/>
          </a:xfrm>
          <a:prstGeom prst="roundRect">
            <a:avLst>
              <a:gd name="adj" fmla="val 18000"/>
            </a:avLst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2"/>
          <p:cNvSpPr/>
          <p:nvPr/>
        </p:nvSpPr>
        <p:spPr>
          <a:xfrm>
            <a:off x="566928" y="5815584"/>
            <a:ext cx="82296" cy="457200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3"/>
          <p:cNvSpPr/>
          <p:nvPr/>
        </p:nvSpPr>
        <p:spPr>
          <a:xfrm>
            <a:off x="896112" y="5815584"/>
            <a:ext cx="104177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   </a:t>
            </a: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账号订阅解决「人人用上」，消耗付费解决「业务用深」—— 新增投入，更推荐从 Token Plan 开始。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选 AGENT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 · 选对 Agent：五款主力，各管一摊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从岗位高频任务出发，不从技术出发 —— 每一款都对准一类真实工作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9221" y="329184"/>
            <a:ext cx="1105546" cy="310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372917" y="356616"/>
            <a:ext cx="0" cy="256032"/>
          </a:xfrm>
          <a:prstGeom prst="line">
            <a:avLst/>
          </a:prstGeom>
          <a:noFill/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1" descr="gfy_logo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5499" y="329184"/>
            <a:ext cx="1601114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 AIGC 创新赋能新质生产力   |   北大合肥论坛 · 新质生产力与智能经济   |   商汤科技 SenseTime</a:t>
            </a:r>
            <a:endParaRPr lang="en-US" sz="760" dirty="0"/>
          </a:p>
        </p:txBody>
      </p:sp>
      <p:sp>
        <p:nvSpPr>
          <p:cNvPr id="10" name="Text 6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37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66928" y="1719072"/>
            <a:ext cx="1992112" cy="2651760"/>
          </a:xfrm>
          <a:prstGeom prst="roundRect">
            <a:avLst>
              <a:gd name="adj" fmla="val 413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8"/>
          <p:cNvSpPr/>
          <p:nvPr/>
        </p:nvSpPr>
        <p:spPr>
          <a:xfrm>
            <a:off x="566928" y="1719072"/>
            <a:ext cx="1992112" cy="73152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9"/>
          <p:cNvSpPr/>
          <p:nvPr/>
        </p:nvSpPr>
        <p:spPr>
          <a:xfrm>
            <a:off x="786384" y="1956816"/>
            <a:ext cx="475488" cy="47548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011" y="2080443"/>
            <a:ext cx="228234" cy="22823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86384" y="2578608"/>
            <a:ext cx="158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Sowork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786384" y="2926080"/>
            <a:ext cx="158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9C7E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 · AI 同事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786384" y="3200400"/>
            <a:ext cx="15714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听得懂、能规划、会干活、可验收 —— 批量处理文档、表格与 PPT，办公桌上的日常主力。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2833360" y="1719072"/>
            <a:ext cx="1992112" cy="2651760"/>
          </a:xfrm>
          <a:prstGeom prst="roundRect">
            <a:avLst>
              <a:gd name="adj" fmla="val 413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4"/>
          <p:cNvSpPr/>
          <p:nvPr/>
        </p:nvSpPr>
        <p:spPr>
          <a:xfrm>
            <a:off x="2833360" y="1719072"/>
            <a:ext cx="1992112" cy="73152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5"/>
          <p:cNvSpPr/>
          <p:nvPr/>
        </p:nvSpPr>
        <p:spPr>
          <a:xfrm>
            <a:off x="3052816" y="1956816"/>
            <a:ext cx="475488" cy="47548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6443" y="2080443"/>
            <a:ext cx="228234" cy="22823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052816" y="2578608"/>
            <a:ext cx="158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小浣熊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3052816" y="2926080"/>
            <a:ext cx="158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9C7E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 · 数据分析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3052816" y="3200400"/>
            <a:ext cx="15714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写码提效与办公分析的国民级入口，按账号订阅、开箱即用 —— 2000 万人已经上手。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5099792" y="1719072"/>
            <a:ext cx="1992112" cy="2651760"/>
          </a:xfrm>
          <a:prstGeom prst="roundRect">
            <a:avLst>
              <a:gd name="adj" fmla="val 413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0"/>
          <p:cNvSpPr/>
          <p:nvPr/>
        </p:nvSpPr>
        <p:spPr>
          <a:xfrm>
            <a:off x="5099792" y="1719072"/>
            <a:ext cx="1992112" cy="73152"/>
          </a:xfrm>
          <a:prstGeom prst="rect">
            <a:avLst/>
          </a:prstGeom>
          <a:solidFill>
            <a:srgbClr val="2C80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1"/>
          <p:cNvSpPr/>
          <p:nvPr/>
        </p:nvSpPr>
        <p:spPr>
          <a:xfrm>
            <a:off x="5319248" y="1956816"/>
            <a:ext cx="475488" cy="47548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2875" y="2080443"/>
            <a:ext cx="228234" cy="22823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319248" y="2578608"/>
            <a:ext cx="158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Seko</a:t>
            </a:r>
            <a:endParaRPr lang="en-US" sz="1550" dirty="0"/>
          </a:p>
        </p:txBody>
      </p:sp>
      <p:sp>
        <p:nvSpPr>
          <p:cNvPr id="30" name="Text 23"/>
          <p:cNvSpPr/>
          <p:nvPr/>
        </p:nvSpPr>
        <p:spPr>
          <a:xfrm>
            <a:off x="5319248" y="2926080"/>
            <a:ext cx="158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9C7E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 · 内容创作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5319248" y="3200400"/>
            <a:ext cx="15714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 万创作者、1300 家企业在用的内容工厂 —— 让一个人也能撑起一条创意产线。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7366224" y="1719072"/>
            <a:ext cx="1992112" cy="2651760"/>
          </a:xfrm>
          <a:prstGeom prst="roundRect">
            <a:avLst>
              <a:gd name="adj" fmla="val 413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26"/>
          <p:cNvSpPr/>
          <p:nvPr/>
        </p:nvSpPr>
        <p:spPr>
          <a:xfrm>
            <a:off x="7366224" y="1719072"/>
            <a:ext cx="1992112" cy="73152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27"/>
          <p:cNvSpPr/>
          <p:nvPr/>
        </p:nvSpPr>
        <p:spPr>
          <a:xfrm>
            <a:off x="7585680" y="1956816"/>
            <a:ext cx="475488" cy="47548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09306" y="2080443"/>
            <a:ext cx="228234" cy="22823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585680" y="2578608"/>
            <a:ext cx="158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S-Design</a:t>
            </a:r>
            <a:endParaRPr lang="en-US" sz="1550" dirty="0"/>
          </a:p>
        </p:txBody>
      </p:sp>
      <p:sp>
        <p:nvSpPr>
          <p:cNvPr id="37" name="Text 29"/>
          <p:cNvSpPr/>
          <p:nvPr/>
        </p:nvSpPr>
        <p:spPr>
          <a:xfrm>
            <a:off x="7585680" y="2926080"/>
            <a:ext cx="158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9C7E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 · 流程编排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7585680" y="3200400"/>
            <a:ext cx="15714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一句话生成海报、长图与网页，还能把多个 Agent 编排成业务流程 —— 设计即交付。</a:t>
            </a:r>
            <a:endParaRPr lang="en-US" sz="950" dirty="0"/>
          </a:p>
        </p:txBody>
      </p:sp>
      <p:sp>
        <p:nvSpPr>
          <p:cNvPr id="39" name="Shape 31"/>
          <p:cNvSpPr/>
          <p:nvPr/>
        </p:nvSpPr>
        <p:spPr>
          <a:xfrm>
            <a:off x="9632655" y="1719072"/>
            <a:ext cx="1992112" cy="2651760"/>
          </a:xfrm>
          <a:prstGeom prst="roundRect">
            <a:avLst>
              <a:gd name="adj" fmla="val 413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2"/>
          <p:cNvSpPr/>
          <p:nvPr/>
        </p:nvSpPr>
        <p:spPr>
          <a:xfrm>
            <a:off x="9632655" y="1719072"/>
            <a:ext cx="1992112" cy="73152"/>
          </a:xfrm>
          <a:prstGeom prst="rect">
            <a:avLst/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3"/>
          <p:cNvSpPr/>
          <p:nvPr/>
        </p:nvSpPr>
        <p:spPr>
          <a:xfrm>
            <a:off x="9852111" y="1956816"/>
            <a:ext cx="475488" cy="47548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75738" y="2080443"/>
            <a:ext cx="228234" cy="228234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9852111" y="2578608"/>
            <a:ext cx="158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普惠</a:t>
            </a:r>
            <a:endParaRPr lang="en-US" sz="1550" dirty="0"/>
          </a:p>
        </p:txBody>
      </p:sp>
      <p:sp>
        <p:nvSpPr>
          <p:cNvPr id="44" name="Text 35"/>
          <p:cNvSpPr/>
          <p:nvPr/>
        </p:nvSpPr>
        <p:spPr>
          <a:xfrm>
            <a:off x="9852111" y="2926080"/>
            <a:ext cx="158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9C7E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零售 · 门店</a:t>
            </a:r>
            <a:endParaRPr lang="en-US" sz="900" dirty="0"/>
          </a:p>
        </p:txBody>
      </p:sp>
      <p:sp>
        <p:nvSpPr>
          <p:cNvPr id="45" name="Text 36"/>
          <p:cNvSpPr/>
          <p:nvPr/>
        </p:nvSpPr>
        <p:spPr>
          <a:xfrm>
            <a:off x="9852111" y="3200400"/>
            <a:ext cx="15714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零售识别市占率第一的门店数字员工 —— 巡检、陈列、动线，AI 走进实体经济。</a:t>
            </a:r>
            <a:endParaRPr lang="en-US" sz="950" dirty="0"/>
          </a:p>
        </p:txBody>
      </p:sp>
      <p:sp>
        <p:nvSpPr>
          <p:cNvPr id="46" name="Shape 37"/>
          <p:cNvSpPr/>
          <p:nvPr/>
        </p:nvSpPr>
        <p:spPr>
          <a:xfrm>
            <a:off x="566928" y="4517136"/>
            <a:ext cx="11057839" cy="1371600"/>
          </a:xfrm>
          <a:prstGeom prst="roundRect">
            <a:avLst>
              <a:gd name="adj" fmla="val 6000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38"/>
          <p:cNvSpPr/>
          <p:nvPr/>
        </p:nvSpPr>
        <p:spPr>
          <a:xfrm>
            <a:off x="566928" y="4517136"/>
            <a:ext cx="91440" cy="1371600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39"/>
          <p:cNvSpPr/>
          <p:nvPr/>
        </p:nvSpPr>
        <p:spPr>
          <a:xfrm>
            <a:off x="914400" y="4645152"/>
            <a:ext cx="10417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选型三问 —— 三个都答「是」，就从它开始</a:t>
            </a:r>
            <a:endParaRPr lang="en-US" sz="1350" dirty="0"/>
          </a:p>
        </p:txBody>
      </p:sp>
      <p:sp>
        <p:nvSpPr>
          <p:cNvPr id="49" name="Shape 40"/>
          <p:cNvSpPr/>
          <p:nvPr/>
        </p:nvSpPr>
        <p:spPr>
          <a:xfrm>
            <a:off x="932688" y="5047488"/>
            <a:ext cx="310896" cy="310896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1"/>
          <p:cNvSpPr/>
          <p:nvPr/>
        </p:nvSpPr>
        <p:spPr>
          <a:xfrm>
            <a:off x="932688" y="5038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51" name="Text 42"/>
          <p:cNvSpPr/>
          <p:nvPr/>
        </p:nvSpPr>
        <p:spPr>
          <a:xfrm>
            <a:off x="1353312" y="5029200"/>
            <a:ext cx="28020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够高频吗</a:t>
            </a:r>
            <a:endParaRPr lang="en-US" sz="1300" dirty="0"/>
          </a:p>
        </p:txBody>
      </p:sp>
      <p:sp>
        <p:nvSpPr>
          <p:cNvPr id="52" name="Text 43"/>
          <p:cNvSpPr/>
          <p:nvPr/>
        </p:nvSpPr>
        <p:spPr>
          <a:xfrm>
            <a:off x="1353312" y="5340096"/>
            <a:ext cx="280202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每天、每周都会碰到的任务才值得配 Agent —— 低频场景抵不过学习成本。</a:t>
            </a:r>
            <a:endParaRPr lang="en-US" sz="950" dirty="0"/>
          </a:p>
        </p:txBody>
      </p:sp>
      <p:sp>
        <p:nvSpPr>
          <p:cNvPr id="53" name="Shape 44"/>
          <p:cNvSpPr/>
          <p:nvPr/>
        </p:nvSpPr>
        <p:spPr>
          <a:xfrm>
            <a:off x="4466234" y="5047488"/>
            <a:ext cx="310896" cy="310896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45"/>
          <p:cNvSpPr/>
          <p:nvPr/>
        </p:nvSpPr>
        <p:spPr>
          <a:xfrm>
            <a:off x="4466234" y="5038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55" name="Text 46"/>
          <p:cNvSpPr/>
          <p:nvPr/>
        </p:nvSpPr>
        <p:spPr>
          <a:xfrm>
            <a:off x="4886858" y="5029200"/>
            <a:ext cx="28020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有交付物吗</a:t>
            </a:r>
            <a:endParaRPr lang="en-US" sz="1300" dirty="0"/>
          </a:p>
        </p:txBody>
      </p:sp>
      <p:sp>
        <p:nvSpPr>
          <p:cNvPr id="56" name="Text 47"/>
          <p:cNvSpPr/>
          <p:nvPr/>
        </p:nvSpPr>
        <p:spPr>
          <a:xfrm>
            <a:off x="4886858" y="5340096"/>
            <a:ext cx="280202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能产出代码、文案、报表，价值才看得见 —— 只聊天不交付，热闹一场。</a:t>
            </a:r>
            <a:endParaRPr lang="en-US" sz="950" dirty="0"/>
          </a:p>
        </p:txBody>
      </p:sp>
      <p:sp>
        <p:nvSpPr>
          <p:cNvPr id="57" name="Shape 48"/>
          <p:cNvSpPr/>
          <p:nvPr/>
        </p:nvSpPr>
        <p:spPr>
          <a:xfrm>
            <a:off x="7999781" y="5047488"/>
            <a:ext cx="310896" cy="310896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49"/>
          <p:cNvSpPr/>
          <p:nvPr/>
        </p:nvSpPr>
        <p:spPr>
          <a:xfrm>
            <a:off x="7999781" y="5038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59" name="Text 50"/>
          <p:cNvSpPr/>
          <p:nvPr/>
        </p:nvSpPr>
        <p:spPr>
          <a:xfrm>
            <a:off x="8420405" y="5029200"/>
            <a:ext cx="28020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能量化吗</a:t>
            </a:r>
            <a:endParaRPr lang="en-US" sz="1300" dirty="0"/>
          </a:p>
        </p:txBody>
      </p:sp>
      <p:sp>
        <p:nvSpPr>
          <p:cNvPr id="60" name="Text 51"/>
          <p:cNvSpPr/>
          <p:nvPr/>
        </p:nvSpPr>
        <p:spPr>
          <a:xfrm>
            <a:off x="8420405" y="5340096"/>
            <a:ext cx="280202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提前定好口径：省多少小时、快多少天、多出多少产能 —— 能量化，才能复制。</a:t>
            </a:r>
            <a:endParaRPr lang="en-US" sz="950" dirty="0"/>
          </a:p>
        </p:txBody>
      </p:sp>
      <p:sp>
        <p:nvSpPr>
          <p:cNvPr id="61" name="Shape 52"/>
          <p:cNvSpPr/>
          <p:nvPr/>
        </p:nvSpPr>
        <p:spPr>
          <a:xfrm>
            <a:off x="566928" y="5961888"/>
            <a:ext cx="11057839" cy="384048"/>
          </a:xfrm>
          <a:prstGeom prst="roundRect">
            <a:avLst>
              <a:gd name="adj" fmla="val 21429"/>
            </a:avLst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53"/>
          <p:cNvSpPr/>
          <p:nvPr/>
        </p:nvSpPr>
        <p:spPr>
          <a:xfrm>
            <a:off x="566928" y="5961888"/>
            <a:ext cx="82296" cy="384048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Text 54"/>
          <p:cNvSpPr/>
          <p:nvPr/>
        </p:nvSpPr>
        <p:spPr>
          <a:xfrm>
            <a:off x="896112" y="5961888"/>
            <a:ext cx="104177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   </a:t>
            </a:r>
            <a:r>
              <a:rPr lang="en-US" sz="12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别追最强模型，先列任务清单 —— 从岗位的真实任务里，长出你的 Agent 地图。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开放不锁定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更开放：你现有的 Agent 照用，商汤只供底层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不绑定 Agent —— 你现有的、自研的、第三方的 Agent，都能接上 Token Plan 用起来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9221" y="329184"/>
            <a:ext cx="1105546" cy="310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372917" y="356616"/>
            <a:ext cx="0" cy="256032"/>
          </a:xfrm>
          <a:prstGeom prst="line">
            <a:avLst/>
          </a:prstGeom>
          <a:noFill/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1" descr="gfy_logo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5499" y="329184"/>
            <a:ext cx="1601114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 AIGC 创新赋能新质生产力   |   北大合肥论坛 · 新质生产力与智能经济   |   商汤科技 SenseTime</a:t>
            </a:r>
            <a:endParaRPr lang="en-US" sz="760" dirty="0"/>
          </a:p>
        </p:txBody>
      </p:sp>
      <p:sp>
        <p:nvSpPr>
          <p:cNvPr id="10" name="Text 6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37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66928" y="1682496"/>
            <a:ext cx="11057839" cy="1956816"/>
          </a:xfrm>
          <a:prstGeom prst="roundRect">
            <a:avLst>
              <a:gd name="adj" fmla="val 4206"/>
            </a:avLst>
          </a:prstGeom>
          <a:solidFill>
            <a:srgbClr val="F4F7FB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8"/>
          <p:cNvSpPr/>
          <p:nvPr/>
        </p:nvSpPr>
        <p:spPr>
          <a:xfrm>
            <a:off x="859536" y="1801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层 · 你自选（开放）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41248" y="2157984"/>
            <a:ext cx="2421560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0"/>
          <p:cNvSpPr/>
          <p:nvPr/>
        </p:nvSpPr>
        <p:spPr>
          <a:xfrm>
            <a:off x="1024128" y="2276856"/>
            <a:ext cx="159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2C64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 Agent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2714168" y="2267712"/>
            <a:ext cx="402336" cy="40233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8775" y="2372319"/>
            <a:ext cx="193121" cy="1931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24128" y="2587752"/>
            <a:ext cx="205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Sowork / S-Agent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024128" y="2962656"/>
            <a:ext cx="205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开箱即用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841248" y="3639312"/>
            <a:ext cx="242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3537128" y="2157984"/>
            <a:ext cx="2421560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6"/>
          <p:cNvSpPr/>
          <p:nvPr/>
        </p:nvSpPr>
        <p:spPr>
          <a:xfrm>
            <a:off x="3720008" y="2276856"/>
            <a:ext cx="159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2C80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你自研 Agent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5410048" y="2267712"/>
            <a:ext cx="402336" cy="40233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4655" y="2372319"/>
            <a:ext cx="193121" cy="19312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3720008" y="2587752"/>
            <a:ext cx="205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自己搭的智能体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3720008" y="2962656"/>
            <a:ext cx="205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科技团队自主选型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3537128" y="3639312"/>
            <a:ext cx="242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6233008" y="2157984"/>
            <a:ext cx="2421560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2"/>
          <p:cNvSpPr/>
          <p:nvPr/>
        </p:nvSpPr>
        <p:spPr>
          <a:xfrm>
            <a:off x="6415888" y="2276856"/>
            <a:ext cx="159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1A4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 Agent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8105927" y="2267712"/>
            <a:ext cx="402336" cy="40233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0535" y="2372319"/>
            <a:ext cx="193121" cy="193121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415888" y="2587752"/>
            <a:ext cx="205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成熟产品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6415888" y="2962656"/>
            <a:ext cx="205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满足合规即可接入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6233008" y="3639312"/>
            <a:ext cx="242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600" dirty="0"/>
          </a:p>
        </p:txBody>
      </p:sp>
      <p:sp>
        <p:nvSpPr>
          <p:cNvPr id="34" name="Shape 27"/>
          <p:cNvSpPr/>
          <p:nvPr/>
        </p:nvSpPr>
        <p:spPr>
          <a:xfrm>
            <a:off x="8928887" y="2157984"/>
            <a:ext cx="2421560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28"/>
          <p:cNvSpPr/>
          <p:nvPr/>
        </p:nvSpPr>
        <p:spPr>
          <a:xfrm>
            <a:off x="9111767" y="2276856"/>
            <a:ext cx="159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9C7E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内部已在用的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10801807" y="2267712"/>
            <a:ext cx="402336" cy="40233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06415" y="2372319"/>
            <a:ext cx="193121" cy="193121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111767" y="2587752"/>
            <a:ext cx="205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现有系统 / 工具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9111767" y="2962656"/>
            <a:ext cx="205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已合规的照常用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8928887" y="3639312"/>
            <a:ext cx="242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600" dirty="0"/>
          </a:p>
        </p:txBody>
      </p:sp>
      <p:sp>
        <p:nvSpPr>
          <p:cNvPr id="41" name="Shape 33"/>
          <p:cNvSpPr/>
          <p:nvPr/>
        </p:nvSpPr>
        <p:spPr>
          <a:xfrm>
            <a:off x="566928" y="3968496"/>
            <a:ext cx="11057839" cy="1408176"/>
          </a:xfrm>
          <a:prstGeom prst="roundRect">
            <a:avLst>
              <a:gd name="adj" fmla="val 5844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34"/>
          <p:cNvSpPr/>
          <p:nvPr/>
        </p:nvSpPr>
        <p:spPr>
          <a:xfrm>
            <a:off x="566928" y="3968496"/>
            <a:ext cx="11057839" cy="73152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35"/>
          <p:cNvSpPr/>
          <p:nvPr/>
        </p:nvSpPr>
        <p:spPr>
          <a:xfrm>
            <a:off x="932688" y="4133088"/>
            <a:ext cx="103263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模型层 · 商汤 Token Plan</a:t>
            </a:r>
            <a:r>
              <a:rPr lang="en-US" sz="1200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统一按量供给模型能力</a:t>
            </a:r>
            <a:endParaRPr lang="en-US" sz="1600" dirty="0"/>
          </a:p>
        </p:txBody>
      </p:sp>
      <p:sp>
        <p:nvSpPr>
          <p:cNvPr id="44" name="Shape 36"/>
          <p:cNvSpPr/>
          <p:nvPr/>
        </p:nvSpPr>
        <p:spPr>
          <a:xfrm>
            <a:off x="841248" y="4590288"/>
            <a:ext cx="2421560" cy="621792"/>
          </a:xfrm>
          <a:prstGeom prst="roundRect">
            <a:avLst>
              <a:gd name="adj" fmla="val 8824"/>
            </a:avLst>
          </a:prstGeom>
          <a:solidFill>
            <a:srgbClr val="11305A"/>
          </a:solidFill>
          <a:ln w="12700">
            <a:solidFill>
              <a:srgbClr val="2C4A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37"/>
          <p:cNvSpPr/>
          <p:nvPr/>
        </p:nvSpPr>
        <p:spPr>
          <a:xfrm>
            <a:off x="1005840" y="4663440"/>
            <a:ext cx="211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一份接入</a:t>
            </a:r>
            <a:endParaRPr lang="en-US" sz="1200" dirty="0"/>
          </a:p>
        </p:txBody>
      </p:sp>
      <p:sp>
        <p:nvSpPr>
          <p:cNvPr id="46" name="Text 38"/>
          <p:cNvSpPr/>
          <p:nvPr/>
        </p:nvSpPr>
        <p:spPr>
          <a:xfrm>
            <a:off x="1005840" y="4919472"/>
            <a:ext cx="2110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多模型一个 Key</a:t>
            </a:r>
            <a:endParaRPr lang="en-US" sz="980" dirty="0"/>
          </a:p>
        </p:txBody>
      </p:sp>
      <p:sp>
        <p:nvSpPr>
          <p:cNvPr id="47" name="Shape 39"/>
          <p:cNvSpPr/>
          <p:nvPr/>
        </p:nvSpPr>
        <p:spPr>
          <a:xfrm>
            <a:off x="3537128" y="4590288"/>
            <a:ext cx="2421560" cy="621792"/>
          </a:xfrm>
          <a:prstGeom prst="roundRect">
            <a:avLst>
              <a:gd name="adj" fmla="val 8824"/>
            </a:avLst>
          </a:prstGeom>
          <a:solidFill>
            <a:srgbClr val="11305A"/>
          </a:solidFill>
          <a:ln w="12700">
            <a:solidFill>
              <a:srgbClr val="2C4A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0"/>
          <p:cNvSpPr/>
          <p:nvPr/>
        </p:nvSpPr>
        <p:spPr>
          <a:xfrm>
            <a:off x="3701720" y="4663440"/>
            <a:ext cx="211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按量计费</a:t>
            </a:r>
            <a:endParaRPr lang="en-US" sz="1200" dirty="0"/>
          </a:p>
        </p:txBody>
      </p:sp>
      <p:sp>
        <p:nvSpPr>
          <p:cNvPr id="49" name="Text 41"/>
          <p:cNvSpPr/>
          <p:nvPr/>
        </p:nvSpPr>
        <p:spPr>
          <a:xfrm>
            <a:off x="3701720" y="4919472"/>
            <a:ext cx="2110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用多少付多少</a:t>
            </a:r>
            <a:endParaRPr lang="en-US" sz="980" dirty="0"/>
          </a:p>
        </p:txBody>
      </p:sp>
      <p:sp>
        <p:nvSpPr>
          <p:cNvPr id="50" name="Shape 42"/>
          <p:cNvSpPr/>
          <p:nvPr/>
        </p:nvSpPr>
        <p:spPr>
          <a:xfrm>
            <a:off x="6233008" y="4590288"/>
            <a:ext cx="2421560" cy="621792"/>
          </a:xfrm>
          <a:prstGeom prst="roundRect">
            <a:avLst>
              <a:gd name="adj" fmla="val 8824"/>
            </a:avLst>
          </a:prstGeom>
          <a:solidFill>
            <a:srgbClr val="11305A"/>
          </a:solidFill>
          <a:ln w="12700">
            <a:solidFill>
              <a:srgbClr val="2C4A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3"/>
          <p:cNvSpPr/>
          <p:nvPr/>
        </p:nvSpPr>
        <p:spPr>
          <a:xfrm>
            <a:off x="6397600" y="4663440"/>
            <a:ext cx="211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 + 本地</a:t>
            </a:r>
            <a:endParaRPr lang="en-US" sz="1200" dirty="0"/>
          </a:p>
        </p:txBody>
      </p:sp>
      <p:sp>
        <p:nvSpPr>
          <p:cNvPr id="52" name="Text 44"/>
          <p:cNvSpPr/>
          <p:nvPr/>
        </p:nvSpPr>
        <p:spPr>
          <a:xfrm>
            <a:off x="6397600" y="4919472"/>
            <a:ext cx="2110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旗舰 + 可私有化</a:t>
            </a:r>
            <a:endParaRPr lang="en-US" sz="980" dirty="0"/>
          </a:p>
        </p:txBody>
      </p:sp>
      <p:sp>
        <p:nvSpPr>
          <p:cNvPr id="53" name="Shape 45"/>
          <p:cNvSpPr/>
          <p:nvPr/>
        </p:nvSpPr>
        <p:spPr>
          <a:xfrm>
            <a:off x="8928887" y="4590288"/>
            <a:ext cx="2421560" cy="621792"/>
          </a:xfrm>
          <a:prstGeom prst="roundRect">
            <a:avLst>
              <a:gd name="adj" fmla="val 8824"/>
            </a:avLst>
          </a:prstGeom>
          <a:solidFill>
            <a:srgbClr val="11305A"/>
          </a:solidFill>
          <a:ln w="12700">
            <a:solidFill>
              <a:srgbClr val="2C4A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Text 46"/>
          <p:cNvSpPr/>
          <p:nvPr/>
        </p:nvSpPr>
        <p:spPr>
          <a:xfrm>
            <a:off x="9093479" y="4663440"/>
            <a:ext cx="2110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只供模型</a:t>
            </a:r>
            <a:endParaRPr lang="en-US" sz="1200" dirty="0"/>
          </a:p>
        </p:txBody>
      </p:sp>
      <p:sp>
        <p:nvSpPr>
          <p:cNvPr id="55" name="Text 47"/>
          <p:cNvSpPr/>
          <p:nvPr/>
        </p:nvSpPr>
        <p:spPr>
          <a:xfrm>
            <a:off x="9093479" y="4919472"/>
            <a:ext cx="2110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不绑定 Agent 层</a:t>
            </a:r>
            <a:endParaRPr lang="en-US" sz="980" dirty="0"/>
          </a:p>
        </p:txBody>
      </p:sp>
      <p:sp>
        <p:nvSpPr>
          <p:cNvPr id="56" name="Shape 48"/>
          <p:cNvSpPr/>
          <p:nvPr/>
        </p:nvSpPr>
        <p:spPr>
          <a:xfrm>
            <a:off x="566928" y="5779008"/>
            <a:ext cx="11057839" cy="457200"/>
          </a:xfrm>
          <a:prstGeom prst="roundRect">
            <a:avLst>
              <a:gd name="adj" fmla="val 18000"/>
            </a:avLst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49"/>
          <p:cNvSpPr/>
          <p:nvPr/>
        </p:nvSpPr>
        <p:spPr>
          <a:xfrm>
            <a:off x="566928" y="5779008"/>
            <a:ext cx="82296" cy="457200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0"/>
          <p:cNvSpPr/>
          <p:nvPr/>
        </p:nvSpPr>
        <p:spPr>
          <a:xfrm>
            <a:off x="896112" y="5779008"/>
            <a:ext cx="104177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对你的意义   </a:t>
            </a: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不锁定、保护已有投入、平滑演进 —— 商汤只把底层模型能力做好，按量供给。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模型货架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一份订阅、一个 API Key：16 款主流模型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 8 款自研 + 8 款第三方聚合，统一积分池随选随换 —— 不用赌哪家赢，好模型都在货架上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9221" y="329184"/>
            <a:ext cx="1105546" cy="310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372917" y="356616"/>
            <a:ext cx="0" cy="256032"/>
          </a:xfrm>
          <a:prstGeom prst="line">
            <a:avLst/>
          </a:prstGeom>
          <a:noFill/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1" descr="gfy_logo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5499" y="329184"/>
            <a:ext cx="1601114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 AIGC 创新赋能新质生产力   |   北大合肥论坛 · 新质生产力与智能经济   |   商汤科技 SenseTime</a:t>
            </a:r>
            <a:endParaRPr lang="en-US" sz="760" dirty="0"/>
          </a:p>
        </p:txBody>
      </p:sp>
      <p:sp>
        <p:nvSpPr>
          <p:cNvPr id="10" name="Text 6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37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66928" y="1700784"/>
            <a:ext cx="5346040" cy="3986784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8"/>
          <p:cNvSpPr/>
          <p:nvPr/>
        </p:nvSpPr>
        <p:spPr>
          <a:xfrm>
            <a:off x="566928" y="1700784"/>
            <a:ext cx="5346040" cy="548640"/>
          </a:xfrm>
          <a:prstGeom prst="roundRect">
            <a:avLst>
              <a:gd name="adj" fmla="val 15000"/>
            </a:avLst>
          </a:prstGeom>
          <a:solidFill>
            <a:srgbClr val="9C7E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9"/>
          <p:cNvSpPr/>
          <p:nvPr/>
        </p:nvSpPr>
        <p:spPr>
          <a:xfrm>
            <a:off x="566928" y="2011680"/>
            <a:ext cx="5346040" cy="237744"/>
          </a:xfrm>
          <a:prstGeom prst="rect">
            <a:avLst/>
          </a:prstGeom>
          <a:solidFill>
            <a:srgbClr val="9C7E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0"/>
          <p:cNvSpPr/>
          <p:nvPr/>
        </p:nvSpPr>
        <p:spPr>
          <a:xfrm>
            <a:off x="841248" y="170078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商汤自研 · 8 款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84448" y="1700784"/>
            <a:ext cx="205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 / 图 / 音 / 乐 / 视觉全模态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841248" y="237744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SenseAudio-S2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2761488" y="2377440"/>
            <a:ext cx="228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旗舰 · 万亿 MoE 全模态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071720" y="2459736"/>
            <a:ext cx="585216" cy="237744"/>
          </a:xfrm>
          <a:prstGeom prst="roundRect">
            <a:avLst>
              <a:gd name="adj" fmla="val 50000"/>
            </a:avLst>
          </a:prstGeom>
          <a:ln w="12700">
            <a:solidFill>
              <a:srgbClr val="9C7E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5"/>
          <p:cNvSpPr/>
          <p:nvPr/>
        </p:nvSpPr>
        <p:spPr>
          <a:xfrm>
            <a:off x="5071720" y="2459736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C7E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1M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676656" y="2779776"/>
            <a:ext cx="5126584" cy="402336"/>
          </a:xfrm>
          <a:prstGeom prst="rect">
            <a:avLst/>
          </a:prstGeom>
          <a:solidFill>
            <a:srgbClr val="F4F7F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7"/>
          <p:cNvSpPr/>
          <p:nvPr/>
        </p:nvSpPr>
        <p:spPr>
          <a:xfrm>
            <a:off x="841248" y="2779776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SenseNova-U1-Fast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2761488" y="2779776"/>
            <a:ext cx="228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通用快速 · 低延迟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5071720" y="2862072"/>
            <a:ext cx="585216" cy="237744"/>
          </a:xfrm>
          <a:prstGeom prst="roundRect">
            <a:avLst>
              <a:gd name="adj" fmla="val 50000"/>
            </a:avLst>
          </a:prstGeom>
          <a:ln w="12700">
            <a:solidFill>
              <a:srgbClr val="9C7E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0"/>
          <p:cNvSpPr/>
          <p:nvPr/>
        </p:nvSpPr>
        <p:spPr>
          <a:xfrm>
            <a:off x="5071720" y="2862072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C7E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256K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841248" y="318211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SenseNova-6.7-Lite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2761488" y="3182112"/>
            <a:ext cx="228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 · 极致性价比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5071720" y="3264408"/>
            <a:ext cx="585216" cy="237744"/>
          </a:xfrm>
          <a:prstGeom prst="roundRect">
            <a:avLst>
              <a:gd name="adj" fmla="val 50000"/>
            </a:avLst>
          </a:prstGeom>
          <a:ln w="12700">
            <a:solidFill>
              <a:srgbClr val="9C7E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4"/>
          <p:cNvSpPr/>
          <p:nvPr/>
        </p:nvSpPr>
        <p:spPr>
          <a:xfrm>
            <a:off x="5071720" y="32644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C7E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128K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676656" y="3584448"/>
            <a:ext cx="5126584" cy="402336"/>
          </a:xfrm>
          <a:prstGeom prst="rect">
            <a:avLst/>
          </a:prstGeom>
          <a:solidFill>
            <a:srgbClr val="F4F7F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6"/>
          <p:cNvSpPr/>
          <p:nvPr/>
        </p:nvSpPr>
        <p:spPr>
          <a:xfrm>
            <a:off x="841248" y="358444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S2-VL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2761488" y="3584448"/>
            <a:ext cx="228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视觉理解 · 图文文档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5071720" y="3666744"/>
            <a:ext cx="585216" cy="237744"/>
          </a:xfrm>
          <a:prstGeom prst="roundRect">
            <a:avLst>
              <a:gd name="adj" fmla="val 50000"/>
            </a:avLst>
          </a:prstGeom>
          <a:ln w="12700">
            <a:solidFill>
              <a:srgbClr val="9C7E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29"/>
          <p:cNvSpPr/>
          <p:nvPr/>
        </p:nvSpPr>
        <p:spPr>
          <a:xfrm>
            <a:off x="5071720" y="3666744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C7E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256K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841248" y="3986784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S2-TTS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2761488" y="3986784"/>
            <a:ext cx="228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语音合成 · 富情绪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5071720" y="4069080"/>
            <a:ext cx="585216" cy="237744"/>
          </a:xfrm>
          <a:prstGeom prst="roundRect">
            <a:avLst>
              <a:gd name="adj" fmla="val 50000"/>
            </a:avLst>
          </a:prstGeom>
          <a:ln w="12700">
            <a:solidFill>
              <a:srgbClr val="9C7E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3"/>
          <p:cNvSpPr/>
          <p:nvPr/>
        </p:nvSpPr>
        <p:spPr>
          <a:xfrm>
            <a:off x="5071720" y="4069080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C7E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</a:t>
            </a:r>
            <a:endParaRPr lang="en-US" sz="850" dirty="0"/>
          </a:p>
        </p:txBody>
      </p:sp>
      <p:sp>
        <p:nvSpPr>
          <p:cNvPr id="38" name="Shape 34"/>
          <p:cNvSpPr/>
          <p:nvPr/>
        </p:nvSpPr>
        <p:spPr>
          <a:xfrm>
            <a:off x="676656" y="4389120"/>
            <a:ext cx="5126584" cy="402336"/>
          </a:xfrm>
          <a:prstGeom prst="rect">
            <a:avLst/>
          </a:prstGeom>
          <a:solidFill>
            <a:srgbClr val="F4F7F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5"/>
          <p:cNvSpPr/>
          <p:nvPr/>
        </p:nvSpPr>
        <p:spPr>
          <a:xfrm>
            <a:off x="841248" y="438912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S2-ASR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2761488" y="4389120"/>
            <a:ext cx="228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语音识别 · 20+ 语言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5071720" y="4471416"/>
            <a:ext cx="585216" cy="237744"/>
          </a:xfrm>
          <a:prstGeom prst="roundRect">
            <a:avLst>
              <a:gd name="adj" fmla="val 50000"/>
            </a:avLst>
          </a:prstGeom>
          <a:ln w="12700">
            <a:solidFill>
              <a:srgbClr val="9C7E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38"/>
          <p:cNvSpPr/>
          <p:nvPr/>
        </p:nvSpPr>
        <p:spPr>
          <a:xfrm>
            <a:off x="5071720" y="4471416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C7E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</a:t>
            </a:r>
            <a:endParaRPr lang="en-US" sz="850" dirty="0"/>
          </a:p>
        </p:txBody>
      </p:sp>
      <p:sp>
        <p:nvSpPr>
          <p:cNvPr id="43" name="Text 39"/>
          <p:cNvSpPr/>
          <p:nvPr/>
        </p:nvSpPr>
        <p:spPr>
          <a:xfrm>
            <a:off x="841248" y="4791456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S2-Image</a:t>
            </a:r>
            <a:endParaRPr lang="en-US" sz="1050" dirty="0"/>
          </a:p>
        </p:txBody>
      </p:sp>
      <p:sp>
        <p:nvSpPr>
          <p:cNvPr id="44" name="Text 40"/>
          <p:cNvSpPr/>
          <p:nvPr/>
        </p:nvSpPr>
        <p:spPr>
          <a:xfrm>
            <a:off x="2761488" y="4791456"/>
            <a:ext cx="228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图像生成 · 商业可用</a:t>
            </a:r>
            <a:endParaRPr lang="en-US" sz="950" dirty="0"/>
          </a:p>
        </p:txBody>
      </p:sp>
      <p:sp>
        <p:nvSpPr>
          <p:cNvPr id="45" name="Shape 41"/>
          <p:cNvSpPr/>
          <p:nvPr/>
        </p:nvSpPr>
        <p:spPr>
          <a:xfrm>
            <a:off x="5071720" y="4873752"/>
            <a:ext cx="585216" cy="237744"/>
          </a:xfrm>
          <a:prstGeom prst="roundRect">
            <a:avLst>
              <a:gd name="adj" fmla="val 50000"/>
            </a:avLst>
          </a:prstGeom>
          <a:ln w="12700">
            <a:solidFill>
              <a:srgbClr val="9C7E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2"/>
          <p:cNvSpPr/>
          <p:nvPr/>
        </p:nvSpPr>
        <p:spPr>
          <a:xfrm>
            <a:off x="5071720" y="4873752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C7E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</a:t>
            </a:r>
            <a:endParaRPr lang="en-US" sz="850" dirty="0"/>
          </a:p>
        </p:txBody>
      </p:sp>
      <p:sp>
        <p:nvSpPr>
          <p:cNvPr id="47" name="Shape 43"/>
          <p:cNvSpPr/>
          <p:nvPr/>
        </p:nvSpPr>
        <p:spPr>
          <a:xfrm>
            <a:off x="676656" y="5193792"/>
            <a:ext cx="5126584" cy="402336"/>
          </a:xfrm>
          <a:prstGeom prst="rect">
            <a:avLst/>
          </a:prstGeom>
          <a:solidFill>
            <a:srgbClr val="F4F7F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4"/>
          <p:cNvSpPr/>
          <p:nvPr/>
        </p:nvSpPr>
        <p:spPr>
          <a:xfrm>
            <a:off x="841248" y="519379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S2-Music</a:t>
            </a:r>
            <a:endParaRPr lang="en-US" sz="1050" dirty="0"/>
          </a:p>
        </p:txBody>
      </p:sp>
      <p:sp>
        <p:nvSpPr>
          <p:cNvPr id="49" name="Text 45"/>
          <p:cNvSpPr/>
          <p:nvPr/>
        </p:nvSpPr>
        <p:spPr>
          <a:xfrm>
            <a:off x="2761488" y="5193792"/>
            <a:ext cx="228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音乐生成 · 情绪曲线</a:t>
            </a:r>
            <a:endParaRPr lang="en-US" sz="950" dirty="0"/>
          </a:p>
        </p:txBody>
      </p:sp>
      <p:sp>
        <p:nvSpPr>
          <p:cNvPr id="50" name="Shape 46"/>
          <p:cNvSpPr/>
          <p:nvPr/>
        </p:nvSpPr>
        <p:spPr>
          <a:xfrm>
            <a:off x="5071720" y="5276088"/>
            <a:ext cx="585216" cy="237744"/>
          </a:xfrm>
          <a:prstGeom prst="roundRect">
            <a:avLst>
              <a:gd name="adj" fmla="val 50000"/>
            </a:avLst>
          </a:prstGeom>
          <a:ln w="12700">
            <a:solidFill>
              <a:srgbClr val="9C7E2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7"/>
          <p:cNvSpPr/>
          <p:nvPr/>
        </p:nvSpPr>
        <p:spPr>
          <a:xfrm>
            <a:off x="5071720" y="527608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C7E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音乐</a:t>
            </a:r>
            <a:endParaRPr lang="en-US" sz="850" dirty="0"/>
          </a:p>
        </p:txBody>
      </p:sp>
      <p:sp>
        <p:nvSpPr>
          <p:cNvPr id="52" name="Shape 48"/>
          <p:cNvSpPr/>
          <p:nvPr/>
        </p:nvSpPr>
        <p:spPr>
          <a:xfrm>
            <a:off x="6278728" y="1700784"/>
            <a:ext cx="5346040" cy="3986784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49"/>
          <p:cNvSpPr/>
          <p:nvPr/>
        </p:nvSpPr>
        <p:spPr>
          <a:xfrm>
            <a:off x="6278728" y="1700784"/>
            <a:ext cx="5346040" cy="548640"/>
          </a:xfrm>
          <a:prstGeom prst="roundRect">
            <a:avLst>
              <a:gd name="adj" fmla="val 15000"/>
            </a:avLst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0"/>
          <p:cNvSpPr/>
          <p:nvPr/>
        </p:nvSpPr>
        <p:spPr>
          <a:xfrm>
            <a:off x="6278728" y="2011680"/>
            <a:ext cx="5346040" cy="237744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1"/>
          <p:cNvSpPr/>
          <p:nvPr/>
        </p:nvSpPr>
        <p:spPr>
          <a:xfrm>
            <a:off x="6553048" y="170078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第三方聚合 · 8 款</a:t>
            </a:r>
            <a:endParaRPr lang="en-US" sz="1400" dirty="0"/>
          </a:p>
        </p:txBody>
      </p:sp>
      <p:sp>
        <p:nvSpPr>
          <p:cNvPr id="56" name="Text 52"/>
          <p:cNvSpPr/>
          <p:nvPr/>
        </p:nvSpPr>
        <p:spPr>
          <a:xfrm>
            <a:off x="9296248" y="1700784"/>
            <a:ext cx="205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EEF3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好模型都在，随选随换</a:t>
            </a:r>
            <a:endParaRPr lang="en-US" sz="950" dirty="0"/>
          </a:p>
        </p:txBody>
      </p:sp>
      <p:sp>
        <p:nvSpPr>
          <p:cNvPr id="57" name="Text 53"/>
          <p:cNvSpPr/>
          <p:nvPr/>
        </p:nvSpPr>
        <p:spPr>
          <a:xfrm>
            <a:off x="6553048" y="237744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DeepSeek-V4 Pro</a:t>
            </a:r>
            <a:endParaRPr lang="en-US" sz="1050" dirty="0"/>
          </a:p>
        </p:txBody>
      </p:sp>
      <p:sp>
        <p:nvSpPr>
          <p:cNvPr id="58" name="Text 54"/>
          <p:cNvSpPr/>
          <p:nvPr/>
        </p:nvSpPr>
        <p:spPr>
          <a:xfrm>
            <a:off x="8473288" y="2377440"/>
            <a:ext cx="228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编码推理 SOTA</a:t>
            </a:r>
            <a:endParaRPr lang="en-US" sz="950" dirty="0"/>
          </a:p>
        </p:txBody>
      </p:sp>
      <p:sp>
        <p:nvSpPr>
          <p:cNvPr id="59" name="Shape 55"/>
          <p:cNvSpPr/>
          <p:nvPr/>
        </p:nvSpPr>
        <p:spPr>
          <a:xfrm>
            <a:off x="10783519" y="2459736"/>
            <a:ext cx="585216" cy="237744"/>
          </a:xfrm>
          <a:prstGeom prst="roundRect">
            <a:avLst>
              <a:gd name="adj" fmla="val 50000"/>
            </a:avLst>
          </a:prstGeom>
          <a:ln w="12700">
            <a:solidFill>
              <a:srgbClr val="2C649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6"/>
          <p:cNvSpPr/>
          <p:nvPr/>
        </p:nvSpPr>
        <p:spPr>
          <a:xfrm>
            <a:off x="10783519" y="2459736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C64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1M</a:t>
            </a:r>
            <a:endParaRPr lang="en-US" sz="850" dirty="0"/>
          </a:p>
        </p:txBody>
      </p:sp>
      <p:sp>
        <p:nvSpPr>
          <p:cNvPr id="61" name="Shape 57"/>
          <p:cNvSpPr/>
          <p:nvPr/>
        </p:nvSpPr>
        <p:spPr>
          <a:xfrm>
            <a:off x="6388456" y="2779776"/>
            <a:ext cx="5126584" cy="402336"/>
          </a:xfrm>
          <a:prstGeom prst="rect">
            <a:avLst/>
          </a:prstGeom>
          <a:solidFill>
            <a:srgbClr val="F4F7F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Text 58"/>
          <p:cNvSpPr/>
          <p:nvPr/>
        </p:nvSpPr>
        <p:spPr>
          <a:xfrm>
            <a:off x="6553048" y="2779776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DeepSeek-V4 Flash</a:t>
            </a:r>
            <a:endParaRPr lang="en-US" sz="1050" dirty="0"/>
          </a:p>
        </p:txBody>
      </p:sp>
      <p:sp>
        <p:nvSpPr>
          <p:cNvPr id="63" name="Text 59"/>
          <p:cNvSpPr/>
          <p:nvPr/>
        </p:nvSpPr>
        <p:spPr>
          <a:xfrm>
            <a:off x="8473288" y="2779776"/>
            <a:ext cx="228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极致性价比 · 快</a:t>
            </a:r>
            <a:endParaRPr lang="en-US" sz="950" dirty="0"/>
          </a:p>
        </p:txBody>
      </p:sp>
      <p:sp>
        <p:nvSpPr>
          <p:cNvPr id="64" name="Shape 60"/>
          <p:cNvSpPr/>
          <p:nvPr/>
        </p:nvSpPr>
        <p:spPr>
          <a:xfrm>
            <a:off x="10783519" y="2862072"/>
            <a:ext cx="585216" cy="237744"/>
          </a:xfrm>
          <a:prstGeom prst="roundRect">
            <a:avLst>
              <a:gd name="adj" fmla="val 50000"/>
            </a:avLst>
          </a:prstGeom>
          <a:ln w="12700">
            <a:solidFill>
              <a:srgbClr val="2C649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1"/>
          <p:cNvSpPr/>
          <p:nvPr/>
        </p:nvSpPr>
        <p:spPr>
          <a:xfrm>
            <a:off x="10783519" y="2862072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C64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1M</a:t>
            </a:r>
            <a:endParaRPr lang="en-US" sz="850" dirty="0"/>
          </a:p>
        </p:txBody>
      </p:sp>
      <p:sp>
        <p:nvSpPr>
          <p:cNvPr id="66" name="Text 62"/>
          <p:cNvSpPr/>
          <p:nvPr/>
        </p:nvSpPr>
        <p:spPr>
          <a:xfrm>
            <a:off x="6553048" y="318211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Kimi K2.6</a:t>
            </a:r>
            <a:endParaRPr lang="en-US" sz="1050" dirty="0"/>
          </a:p>
        </p:txBody>
      </p:sp>
      <p:sp>
        <p:nvSpPr>
          <p:cNvPr id="67" name="Text 63"/>
          <p:cNvSpPr/>
          <p:nvPr/>
        </p:nvSpPr>
        <p:spPr>
          <a:xfrm>
            <a:off x="8473288" y="3182112"/>
            <a:ext cx="228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超长上下文</a:t>
            </a:r>
            <a:endParaRPr lang="en-US" sz="950" dirty="0"/>
          </a:p>
        </p:txBody>
      </p:sp>
      <p:sp>
        <p:nvSpPr>
          <p:cNvPr id="68" name="Shape 64"/>
          <p:cNvSpPr/>
          <p:nvPr/>
        </p:nvSpPr>
        <p:spPr>
          <a:xfrm>
            <a:off x="10783519" y="3264408"/>
            <a:ext cx="585216" cy="237744"/>
          </a:xfrm>
          <a:prstGeom prst="roundRect">
            <a:avLst>
              <a:gd name="adj" fmla="val 50000"/>
            </a:avLst>
          </a:prstGeom>
          <a:ln w="12700">
            <a:solidFill>
              <a:srgbClr val="2C649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Text 65"/>
          <p:cNvSpPr/>
          <p:nvPr/>
        </p:nvSpPr>
        <p:spPr>
          <a:xfrm>
            <a:off x="10783519" y="32644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C64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2M</a:t>
            </a:r>
            <a:endParaRPr lang="en-US" sz="850" dirty="0"/>
          </a:p>
        </p:txBody>
      </p:sp>
      <p:sp>
        <p:nvSpPr>
          <p:cNvPr id="70" name="Shape 66"/>
          <p:cNvSpPr/>
          <p:nvPr/>
        </p:nvSpPr>
        <p:spPr>
          <a:xfrm>
            <a:off x="6388456" y="3584448"/>
            <a:ext cx="5126584" cy="402336"/>
          </a:xfrm>
          <a:prstGeom prst="rect">
            <a:avLst/>
          </a:prstGeom>
          <a:solidFill>
            <a:srgbClr val="F4F7F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1" name="Text 67"/>
          <p:cNvSpPr/>
          <p:nvPr/>
        </p:nvSpPr>
        <p:spPr>
          <a:xfrm>
            <a:off x="6553048" y="358444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GLM-5.1</a:t>
            </a:r>
            <a:endParaRPr lang="en-US" sz="1050" dirty="0"/>
          </a:p>
        </p:txBody>
      </p:sp>
      <p:sp>
        <p:nvSpPr>
          <p:cNvPr id="72" name="Text 68"/>
          <p:cNvSpPr/>
          <p:nvPr/>
        </p:nvSpPr>
        <p:spPr>
          <a:xfrm>
            <a:off x="8473288" y="3584448"/>
            <a:ext cx="228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中文场景优秀</a:t>
            </a:r>
            <a:endParaRPr lang="en-US" sz="950" dirty="0"/>
          </a:p>
        </p:txBody>
      </p:sp>
      <p:sp>
        <p:nvSpPr>
          <p:cNvPr id="73" name="Shape 69"/>
          <p:cNvSpPr/>
          <p:nvPr/>
        </p:nvSpPr>
        <p:spPr>
          <a:xfrm>
            <a:off x="10783519" y="3666744"/>
            <a:ext cx="585216" cy="237744"/>
          </a:xfrm>
          <a:prstGeom prst="roundRect">
            <a:avLst>
              <a:gd name="adj" fmla="val 50000"/>
            </a:avLst>
          </a:prstGeom>
          <a:ln w="12700">
            <a:solidFill>
              <a:srgbClr val="2C649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Text 70"/>
          <p:cNvSpPr/>
          <p:nvPr/>
        </p:nvSpPr>
        <p:spPr>
          <a:xfrm>
            <a:off x="10783519" y="3666744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C64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200K</a:t>
            </a:r>
            <a:endParaRPr lang="en-US" sz="850" dirty="0"/>
          </a:p>
        </p:txBody>
      </p:sp>
      <p:sp>
        <p:nvSpPr>
          <p:cNvPr id="75" name="Text 71"/>
          <p:cNvSpPr/>
          <p:nvPr/>
        </p:nvSpPr>
        <p:spPr>
          <a:xfrm>
            <a:off x="6553048" y="3986784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MiniMax-M2.7</a:t>
            </a:r>
            <a:endParaRPr lang="en-US" sz="1050" dirty="0"/>
          </a:p>
        </p:txBody>
      </p:sp>
      <p:sp>
        <p:nvSpPr>
          <p:cNvPr id="76" name="Text 72"/>
          <p:cNvSpPr/>
          <p:nvPr/>
        </p:nvSpPr>
        <p:spPr>
          <a:xfrm>
            <a:off x="8473288" y="3986784"/>
            <a:ext cx="228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通用均衡</a:t>
            </a:r>
            <a:endParaRPr lang="en-US" sz="950" dirty="0"/>
          </a:p>
        </p:txBody>
      </p:sp>
      <p:sp>
        <p:nvSpPr>
          <p:cNvPr id="77" name="Shape 73"/>
          <p:cNvSpPr/>
          <p:nvPr/>
        </p:nvSpPr>
        <p:spPr>
          <a:xfrm>
            <a:off x="10783519" y="4069080"/>
            <a:ext cx="585216" cy="237744"/>
          </a:xfrm>
          <a:prstGeom prst="roundRect">
            <a:avLst>
              <a:gd name="adj" fmla="val 50000"/>
            </a:avLst>
          </a:prstGeom>
          <a:ln w="12700">
            <a:solidFill>
              <a:srgbClr val="2C649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" name="Text 74"/>
          <p:cNvSpPr/>
          <p:nvPr/>
        </p:nvSpPr>
        <p:spPr>
          <a:xfrm>
            <a:off x="10783519" y="4069080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C64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200K</a:t>
            </a:r>
            <a:endParaRPr lang="en-US" sz="850" dirty="0"/>
          </a:p>
        </p:txBody>
      </p:sp>
      <p:sp>
        <p:nvSpPr>
          <p:cNvPr id="79" name="Shape 75"/>
          <p:cNvSpPr/>
          <p:nvPr/>
        </p:nvSpPr>
        <p:spPr>
          <a:xfrm>
            <a:off x="6388456" y="4389120"/>
            <a:ext cx="5126584" cy="402336"/>
          </a:xfrm>
          <a:prstGeom prst="rect">
            <a:avLst/>
          </a:prstGeom>
          <a:solidFill>
            <a:srgbClr val="F4F7F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0" name="Text 76"/>
          <p:cNvSpPr/>
          <p:nvPr/>
        </p:nvSpPr>
        <p:spPr>
          <a:xfrm>
            <a:off x="6553048" y="438912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Doubao-Seed-2.0</a:t>
            </a:r>
            <a:endParaRPr lang="en-US" sz="1050" dirty="0"/>
          </a:p>
        </p:txBody>
      </p:sp>
      <p:sp>
        <p:nvSpPr>
          <p:cNvPr id="81" name="Text 77"/>
          <p:cNvSpPr/>
          <p:nvPr/>
        </p:nvSpPr>
        <p:spPr>
          <a:xfrm>
            <a:off x="8473288" y="4389120"/>
            <a:ext cx="228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 · 字节豆包</a:t>
            </a:r>
            <a:endParaRPr lang="en-US" sz="950" dirty="0"/>
          </a:p>
        </p:txBody>
      </p:sp>
      <p:sp>
        <p:nvSpPr>
          <p:cNvPr id="82" name="Shape 78"/>
          <p:cNvSpPr/>
          <p:nvPr/>
        </p:nvSpPr>
        <p:spPr>
          <a:xfrm>
            <a:off x="10783519" y="4471416"/>
            <a:ext cx="585216" cy="237744"/>
          </a:xfrm>
          <a:prstGeom prst="roundRect">
            <a:avLst>
              <a:gd name="adj" fmla="val 50000"/>
            </a:avLst>
          </a:prstGeom>
          <a:ln w="12700">
            <a:solidFill>
              <a:srgbClr val="2C649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Text 79"/>
          <p:cNvSpPr/>
          <p:nvPr/>
        </p:nvSpPr>
        <p:spPr>
          <a:xfrm>
            <a:off x="10783519" y="4471416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C64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256K</a:t>
            </a:r>
            <a:endParaRPr lang="en-US" sz="850" dirty="0"/>
          </a:p>
        </p:txBody>
      </p:sp>
      <p:sp>
        <p:nvSpPr>
          <p:cNvPr id="84" name="Text 80"/>
          <p:cNvSpPr/>
          <p:nvPr/>
        </p:nvSpPr>
        <p:spPr>
          <a:xfrm>
            <a:off x="6553048" y="4791456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Qwen3.6-35B</a:t>
            </a:r>
            <a:endParaRPr lang="en-US" sz="1050" dirty="0"/>
          </a:p>
        </p:txBody>
      </p:sp>
      <p:sp>
        <p:nvSpPr>
          <p:cNvPr id="85" name="Text 81"/>
          <p:cNvSpPr/>
          <p:nvPr/>
        </p:nvSpPr>
        <p:spPr>
          <a:xfrm>
            <a:off x="8473288" y="4791456"/>
            <a:ext cx="228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 · 阿里通义</a:t>
            </a:r>
            <a:endParaRPr lang="en-US" sz="950" dirty="0"/>
          </a:p>
        </p:txBody>
      </p:sp>
      <p:sp>
        <p:nvSpPr>
          <p:cNvPr id="86" name="Shape 82"/>
          <p:cNvSpPr/>
          <p:nvPr/>
        </p:nvSpPr>
        <p:spPr>
          <a:xfrm>
            <a:off x="10783519" y="4873752"/>
            <a:ext cx="585216" cy="237744"/>
          </a:xfrm>
          <a:prstGeom prst="roundRect">
            <a:avLst>
              <a:gd name="adj" fmla="val 50000"/>
            </a:avLst>
          </a:prstGeom>
          <a:ln w="12700">
            <a:solidFill>
              <a:srgbClr val="2C649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Text 83"/>
          <p:cNvSpPr/>
          <p:nvPr/>
        </p:nvSpPr>
        <p:spPr>
          <a:xfrm>
            <a:off x="10783519" y="4873752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C64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256K</a:t>
            </a:r>
            <a:endParaRPr lang="en-US" sz="850" dirty="0"/>
          </a:p>
        </p:txBody>
      </p:sp>
      <p:sp>
        <p:nvSpPr>
          <p:cNvPr id="88" name="Shape 84"/>
          <p:cNvSpPr/>
          <p:nvPr/>
        </p:nvSpPr>
        <p:spPr>
          <a:xfrm>
            <a:off x="6388456" y="5193792"/>
            <a:ext cx="5126584" cy="402336"/>
          </a:xfrm>
          <a:prstGeom prst="rect">
            <a:avLst/>
          </a:prstGeom>
          <a:solidFill>
            <a:srgbClr val="F4F7F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9" name="Text 85"/>
          <p:cNvSpPr/>
          <p:nvPr/>
        </p:nvSpPr>
        <p:spPr>
          <a:xfrm>
            <a:off x="6553048" y="519379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Seedance 2.0</a:t>
            </a:r>
            <a:endParaRPr lang="en-US" sz="1050" dirty="0"/>
          </a:p>
        </p:txBody>
      </p:sp>
      <p:sp>
        <p:nvSpPr>
          <p:cNvPr id="90" name="Text 86"/>
          <p:cNvSpPr/>
          <p:nvPr/>
        </p:nvSpPr>
        <p:spPr>
          <a:xfrm>
            <a:off x="8473288" y="5193792"/>
            <a:ext cx="228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视频生成</a:t>
            </a:r>
            <a:endParaRPr lang="en-US" sz="950" dirty="0"/>
          </a:p>
        </p:txBody>
      </p:sp>
      <p:sp>
        <p:nvSpPr>
          <p:cNvPr id="91" name="Shape 87"/>
          <p:cNvSpPr/>
          <p:nvPr/>
        </p:nvSpPr>
        <p:spPr>
          <a:xfrm>
            <a:off x="10783519" y="5276088"/>
            <a:ext cx="585216" cy="237744"/>
          </a:xfrm>
          <a:prstGeom prst="roundRect">
            <a:avLst>
              <a:gd name="adj" fmla="val 50000"/>
            </a:avLst>
          </a:prstGeom>
          <a:ln w="12700">
            <a:solidFill>
              <a:srgbClr val="2C649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" name="Text 88"/>
          <p:cNvSpPr/>
          <p:nvPr/>
        </p:nvSpPr>
        <p:spPr>
          <a:xfrm>
            <a:off x="10783519" y="527608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C64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</a:t>
            </a:r>
            <a:endParaRPr lang="en-US" sz="850" dirty="0"/>
          </a:p>
        </p:txBody>
      </p:sp>
      <p:sp>
        <p:nvSpPr>
          <p:cNvPr id="93" name="Shape 89"/>
          <p:cNvSpPr/>
          <p:nvPr/>
        </p:nvSpPr>
        <p:spPr>
          <a:xfrm>
            <a:off x="566928" y="5852160"/>
            <a:ext cx="11057839" cy="438912"/>
          </a:xfrm>
          <a:prstGeom prst="roundRect">
            <a:avLst>
              <a:gd name="adj" fmla="val 18750"/>
            </a:avLst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4" name="Shape 90"/>
          <p:cNvSpPr/>
          <p:nvPr/>
        </p:nvSpPr>
        <p:spPr>
          <a:xfrm>
            <a:off x="566928" y="5852160"/>
            <a:ext cx="82296" cy="438912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5" name="Text 91"/>
          <p:cNvSpPr/>
          <p:nvPr/>
        </p:nvSpPr>
        <p:spPr>
          <a:xfrm>
            <a:off x="896112" y="5852160"/>
            <a:ext cx="1041775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99.98% 可用性 SLA · 兼容 OpenAI / Anthropic 协议 —— 现有工具换个 Key 即接入，还可扩展自有模型。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选模型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 · 选对模型：杀鸡不必用牛刀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任务分层、模型分层、部署分层 —— 三层对齐，效果和成本才能同时立得住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9221" y="329184"/>
            <a:ext cx="1105546" cy="310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372917" y="356616"/>
            <a:ext cx="0" cy="256032"/>
          </a:xfrm>
          <a:prstGeom prst="line">
            <a:avLst/>
          </a:prstGeom>
          <a:noFill/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1" descr="gfy_logo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5499" y="329184"/>
            <a:ext cx="1601114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 AIGC 创新赋能新质生产力   |   北大合肥论坛 · 新质生产力与智能经济   |   商汤科技 SenseTime</a:t>
            </a:r>
            <a:endParaRPr lang="en-US" sz="760" dirty="0"/>
          </a:p>
        </p:txBody>
      </p:sp>
      <p:sp>
        <p:nvSpPr>
          <p:cNvPr id="10" name="Text 6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37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66928" y="1783080"/>
            <a:ext cx="3442106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8"/>
          <p:cNvSpPr/>
          <p:nvPr/>
        </p:nvSpPr>
        <p:spPr>
          <a:xfrm>
            <a:off x="566928" y="1783080"/>
            <a:ext cx="3442106" cy="73152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9"/>
          <p:cNvSpPr/>
          <p:nvPr/>
        </p:nvSpPr>
        <p:spPr>
          <a:xfrm>
            <a:off x="841248" y="2020824"/>
            <a:ext cx="23448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· 高难推理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841248" y="2313432"/>
            <a:ext cx="243626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用旗舰模型</a:t>
            </a:r>
            <a:endParaRPr lang="en-US" sz="1750" dirty="0"/>
          </a:p>
        </p:txBody>
      </p:sp>
      <p:sp>
        <p:nvSpPr>
          <p:cNvPr id="15" name="Shape 11"/>
          <p:cNvSpPr/>
          <p:nvPr/>
        </p:nvSpPr>
        <p:spPr>
          <a:xfrm>
            <a:off x="3167786" y="2020824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0857" y="2173895"/>
            <a:ext cx="260787" cy="260787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59536" y="2862072"/>
            <a:ext cx="548640" cy="32004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3"/>
          <p:cNvSpPr/>
          <p:nvPr/>
        </p:nvSpPr>
        <p:spPr>
          <a:xfrm>
            <a:off x="859536" y="3008376"/>
            <a:ext cx="28751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研发攻坚、深度分析、复杂决策材料 —— 效果优先，贵一点值得，占比小、价值高。</a:t>
            </a:r>
            <a:endParaRPr lang="en-US" sz="1030" dirty="0"/>
          </a:p>
        </p:txBody>
      </p:sp>
      <p:sp>
        <p:nvSpPr>
          <p:cNvPr id="19" name="Shape 14"/>
          <p:cNvSpPr/>
          <p:nvPr/>
        </p:nvSpPr>
        <p:spPr>
          <a:xfrm>
            <a:off x="841248" y="3968496"/>
            <a:ext cx="1426464" cy="329184"/>
          </a:xfrm>
          <a:prstGeom prst="roundRect">
            <a:avLst>
              <a:gd name="adj" fmla="val 50000"/>
            </a:avLst>
          </a:prstGeom>
          <a:ln w="12700">
            <a:solidFill>
              <a:srgbClr val="C2A1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5"/>
          <p:cNvSpPr/>
          <p:nvPr/>
        </p:nvSpPr>
        <p:spPr>
          <a:xfrm>
            <a:off x="841248" y="3968496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好钢用在刀刃上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374794" y="1783080"/>
            <a:ext cx="3442106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7"/>
          <p:cNvSpPr/>
          <p:nvPr/>
        </p:nvSpPr>
        <p:spPr>
          <a:xfrm>
            <a:off x="4374794" y="1783080"/>
            <a:ext cx="3442106" cy="73152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18"/>
          <p:cNvSpPr/>
          <p:nvPr/>
        </p:nvSpPr>
        <p:spPr>
          <a:xfrm>
            <a:off x="4649114" y="2020824"/>
            <a:ext cx="23448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C64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· 批量日常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4649114" y="2313432"/>
            <a:ext cx="243626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用轻量模型</a:t>
            </a:r>
            <a:endParaRPr lang="en-US" sz="1750" dirty="0"/>
          </a:p>
        </p:txBody>
      </p:sp>
      <p:sp>
        <p:nvSpPr>
          <p:cNvPr id="25" name="Shape 20"/>
          <p:cNvSpPr/>
          <p:nvPr/>
        </p:nvSpPr>
        <p:spPr>
          <a:xfrm>
            <a:off x="6975653" y="2020824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8723" y="2173895"/>
            <a:ext cx="260787" cy="260787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4667402" y="2862072"/>
            <a:ext cx="548640" cy="32004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2"/>
          <p:cNvSpPr/>
          <p:nvPr/>
        </p:nvSpPr>
        <p:spPr>
          <a:xfrm>
            <a:off x="4667402" y="3008376"/>
            <a:ext cx="28751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客服问答、文档处理、例行报表 —— 快而省，跑得起海量，占比大、讲成本。</a:t>
            </a:r>
            <a:endParaRPr lang="en-US" sz="1030" dirty="0"/>
          </a:p>
        </p:txBody>
      </p:sp>
      <p:sp>
        <p:nvSpPr>
          <p:cNvPr id="29" name="Shape 23"/>
          <p:cNvSpPr/>
          <p:nvPr/>
        </p:nvSpPr>
        <p:spPr>
          <a:xfrm>
            <a:off x="4649114" y="3968496"/>
            <a:ext cx="1572768" cy="329184"/>
          </a:xfrm>
          <a:prstGeom prst="roundRect">
            <a:avLst>
              <a:gd name="adj" fmla="val 50000"/>
            </a:avLst>
          </a:prstGeom>
          <a:ln w="12700">
            <a:solidFill>
              <a:srgbClr val="2C649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4"/>
          <p:cNvSpPr/>
          <p:nvPr/>
        </p:nvSpPr>
        <p:spPr>
          <a:xfrm>
            <a:off x="4649114" y="396849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C64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海量任务讲经济账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8182661" y="1783080"/>
            <a:ext cx="3442106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26"/>
          <p:cNvSpPr/>
          <p:nvPr/>
        </p:nvSpPr>
        <p:spPr>
          <a:xfrm>
            <a:off x="8182661" y="1783080"/>
            <a:ext cx="3442106" cy="73152"/>
          </a:xfrm>
          <a:prstGeom prst="rect">
            <a:avLst/>
          </a:prstGeom>
          <a:solidFill>
            <a:srgbClr val="2C80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27"/>
          <p:cNvSpPr/>
          <p:nvPr/>
        </p:nvSpPr>
        <p:spPr>
          <a:xfrm>
            <a:off x="8456981" y="2020824"/>
            <a:ext cx="23448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C80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· 看图看视频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8456981" y="2313432"/>
            <a:ext cx="243626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用全模态模型</a:t>
            </a:r>
            <a:endParaRPr lang="en-US" sz="1750" dirty="0"/>
          </a:p>
        </p:txBody>
      </p:sp>
      <p:sp>
        <p:nvSpPr>
          <p:cNvPr id="35" name="Shape 29"/>
          <p:cNvSpPr/>
          <p:nvPr/>
        </p:nvSpPr>
        <p:spPr>
          <a:xfrm>
            <a:off x="10783519" y="2020824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36590" y="2173895"/>
            <a:ext cx="260787" cy="260787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8475269" y="2862072"/>
            <a:ext cx="548640" cy="32004"/>
          </a:xfrm>
          <a:prstGeom prst="rect">
            <a:avLst/>
          </a:prstGeom>
          <a:solidFill>
            <a:srgbClr val="2C80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1"/>
          <p:cNvSpPr/>
          <p:nvPr/>
        </p:nvSpPr>
        <p:spPr>
          <a:xfrm>
            <a:off x="8475269" y="3008376"/>
            <a:ext cx="28751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质检照片、巡店画面、图文材料 —— 真实生产场景大多不止文字，全模态是刚需。</a:t>
            </a:r>
            <a:endParaRPr lang="en-US" sz="1030" dirty="0"/>
          </a:p>
        </p:txBody>
      </p:sp>
      <p:sp>
        <p:nvSpPr>
          <p:cNvPr id="39" name="Shape 32"/>
          <p:cNvSpPr/>
          <p:nvPr/>
        </p:nvSpPr>
        <p:spPr>
          <a:xfrm>
            <a:off x="8456981" y="3968496"/>
            <a:ext cx="1719072" cy="329184"/>
          </a:xfrm>
          <a:prstGeom prst="roundRect">
            <a:avLst>
              <a:gd name="adj" fmla="val 50000"/>
            </a:avLst>
          </a:prstGeom>
          <a:ln w="12700">
            <a:solidFill>
              <a:srgbClr val="2C80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3"/>
          <p:cNvSpPr/>
          <p:nvPr/>
        </p:nvSpPr>
        <p:spPr>
          <a:xfrm>
            <a:off x="8456981" y="3968496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C80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生产现场是多模态的</a:t>
            </a:r>
            <a:endParaRPr lang="en-US" sz="950" dirty="0"/>
          </a:p>
        </p:txBody>
      </p:sp>
      <p:sp>
        <p:nvSpPr>
          <p:cNvPr id="41" name="Shape 34"/>
          <p:cNvSpPr/>
          <p:nvPr/>
        </p:nvSpPr>
        <p:spPr>
          <a:xfrm>
            <a:off x="566928" y="4645152"/>
            <a:ext cx="11057839" cy="841248"/>
          </a:xfrm>
          <a:prstGeom prst="roundRect">
            <a:avLst>
              <a:gd name="adj" fmla="val 9783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35"/>
          <p:cNvSpPr/>
          <p:nvPr/>
        </p:nvSpPr>
        <p:spPr>
          <a:xfrm>
            <a:off x="566928" y="4645152"/>
            <a:ext cx="91440" cy="841248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36"/>
          <p:cNvSpPr/>
          <p:nvPr/>
        </p:nvSpPr>
        <p:spPr>
          <a:xfrm>
            <a:off x="841248" y="4800600"/>
            <a:ext cx="530352" cy="530352"/>
          </a:xfrm>
          <a:prstGeom prst="ellipse">
            <a:avLst/>
          </a:prstGeom>
          <a:solidFill>
            <a:srgbClr val="16365C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443" y="4943795"/>
            <a:ext cx="243962" cy="243962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1536192" y="47731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 · 云端 × 私有化</a:t>
            </a:r>
            <a:endParaRPr lang="en-US" sz="1000" dirty="0"/>
          </a:p>
        </p:txBody>
      </p:sp>
      <p:sp>
        <p:nvSpPr>
          <p:cNvPr id="46" name="Text 38"/>
          <p:cNvSpPr/>
          <p:nvPr/>
        </p:nvSpPr>
        <p:spPr>
          <a:xfrm>
            <a:off x="1536192" y="504748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按数据分层部署</a:t>
            </a:r>
            <a:endParaRPr lang="en-US" sz="1400" dirty="0"/>
          </a:p>
        </p:txBody>
      </p:sp>
      <p:sp>
        <p:nvSpPr>
          <p:cNvPr id="47" name="Shape 39"/>
          <p:cNvSpPr/>
          <p:nvPr/>
        </p:nvSpPr>
        <p:spPr>
          <a:xfrm>
            <a:off x="4544568" y="4809744"/>
            <a:ext cx="0" cy="512064"/>
          </a:xfrm>
          <a:prstGeom prst="line">
            <a:avLst/>
          </a:prstGeom>
          <a:noFill/>
          <a:ln w="12700">
            <a:solidFill>
              <a:srgbClr val="2C4A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0"/>
          <p:cNvSpPr/>
          <p:nvPr/>
        </p:nvSpPr>
        <p:spPr>
          <a:xfrm>
            <a:off x="4773168" y="4645152"/>
            <a:ext cx="51142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敏感数据私有化部署守在场内，一般任务走云端弹性起量 —— 两条腿按需搭配。</a:t>
            </a:r>
            <a:endParaRPr lang="en-US" sz="1100" dirty="0"/>
          </a:p>
        </p:txBody>
      </p:sp>
      <p:sp>
        <p:nvSpPr>
          <p:cNvPr id="49" name="Shape 41"/>
          <p:cNvSpPr/>
          <p:nvPr/>
        </p:nvSpPr>
        <p:spPr>
          <a:xfrm>
            <a:off x="9933127" y="4901184"/>
            <a:ext cx="1536192" cy="329184"/>
          </a:xfrm>
          <a:prstGeom prst="roundRect">
            <a:avLst>
              <a:gd name="adj" fmla="val 50000"/>
            </a:avLst>
          </a:prstGeom>
          <a:ln w="12700">
            <a:solidFill>
              <a:srgbClr val="C2A1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2"/>
          <p:cNvSpPr/>
          <p:nvPr/>
        </p:nvSpPr>
        <p:spPr>
          <a:xfrm>
            <a:off x="9933127" y="4901184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安全与弹性兼得</a:t>
            </a:r>
            <a:endParaRPr lang="en-US" sz="950" dirty="0"/>
          </a:p>
        </p:txBody>
      </p:sp>
      <p:sp>
        <p:nvSpPr>
          <p:cNvPr id="51" name="Shape 43"/>
          <p:cNvSpPr/>
          <p:nvPr/>
        </p:nvSpPr>
        <p:spPr>
          <a:xfrm>
            <a:off x="566928" y="5779008"/>
            <a:ext cx="11057839" cy="457200"/>
          </a:xfrm>
          <a:prstGeom prst="roundRect">
            <a:avLst>
              <a:gd name="adj" fmla="val 18000"/>
            </a:avLst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44"/>
          <p:cNvSpPr/>
          <p:nvPr/>
        </p:nvSpPr>
        <p:spPr>
          <a:xfrm>
            <a:off x="566928" y="5779008"/>
            <a:ext cx="82296" cy="457200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45"/>
          <p:cNvSpPr/>
          <p:nvPr/>
        </p:nvSpPr>
        <p:spPr>
          <a:xfrm>
            <a:off x="896112" y="5779008"/>
            <a:ext cx="104177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   </a:t>
            </a:r>
            <a:r>
              <a:rPr lang="en-US" sz="12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让每一类任务，配刚刚好的模型、刚刚好的部署 —— 账算得过来，AI 才用得长久。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为什么是商汤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 Token Plan：六个难以复制的优势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不是「我们做了一个模型」，而是「我们把最好的都集成了」—— 并且陪你用出来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9221" y="329184"/>
            <a:ext cx="1105546" cy="310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372917" y="356616"/>
            <a:ext cx="0" cy="256032"/>
          </a:xfrm>
          <a:prstGeom prst="line">
            <a:avLst/>
          </a:prstGeom>
          <a:noFill/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1" descr="gfy_logo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5499" y="329184"/>
            <a:ext cx="1601114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 AIGC 创新赋能新质生产力   |   北大合肥论坛 · 新质生产力与智能经济   |   商汤科技 SenseTime</a:t>
            </a:r>
            <a:endParaRPr lang="en-US" sz="760" dirty="0"/>
          </a:p>
        </p:txBody>
      </p:sp>
      <p:sp>
        <p:nvSpPr>
          <p:cNvPr id="10" name="Text 6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37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66928" y="1755648"/>
            <a:ext cx="3472586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8"/>
          <p:cNvSpPr/>
          <p:nvPr/>
        </p:nvSpPr>
        <p:spPr>
          <a:xfrm>
            <a:off x="566928" y="1755648"/>
            <a:ext cx="3472586" cy="64008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9"/>
          <p:cNvSpPr/>
          <p:nvPr/>
        </p:nvSpPr>
        <p:spPr>
          <a:xfrm>
            <a:off x="804672" y="1975104"/>
            <a:ext cx="493776" cy="49377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992" y="2108424"/>
            <a:ext cx="227137" cy="22713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44752" y="1975104"/>
            <a:ext cx="237530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模型全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822960" y="2651760"/>
            <a:ext cx="29605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款主流模型一份订阅、一个 Key、统一折扣 —— 不赌单一模型，永远用当下最好的。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359554" y="1755648"/>
            <a:ext cx="3472586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3"/>
          <p:cNvSpPr/>
          <p:nvPr/>
        </p:nvSpPr>
        <p:spPr>
          <a:xfrm>
            <a:off x="4359554" y="1755648"/>
            <a:ext cx="3472586" cy="64008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4"/>
          <p:cNvSpPr/>
          <p:nvPr/>
        </p:nvSpPr>
        <p:spPr>
          <a:xfrm>
            <a:off x="4597298" y="1975104"/>
            <a:ext cx="493776" cy="49377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0618" y="2108424"/>
            <a:ext cx="227137" cy="22713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237378" y="1975104"/>
            <a:ext cx="237530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全模态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4615586" y="2651760"/>
            <a:ext cx="29605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文本、语音、图像、视频、音乐一站集成，共享一个积分池 —— 多数友商只有文本。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8152181" y="1755648"/>
            <a:ext cx="3472586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18"/>
          <p:cNvSpPr/>
          <p:nvPr/>
        </p:nvSpPr>
        <p:spPr>
          <a:xfrm>
            <a:off x="8152181" y="1755648"/>
            <a:ext cx="3472586" cy="64008"/>
          </a:xfrm>
          <a:prstGeom prst="rect">
            <a:avLst/>
          </a:prstGeom>
          <a:solidFill>
            <a:srgbClr val="2C80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19"/>
          <p:cNvSpPr/>
          <p:nvPr/>
        </p:nvSpPr>
        <p:spPr>
          <a:xfrm>
            <a:off x="8389925" y="1975104"/>
            <a:ext cx="493776" cy="49377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3244" y="2108424"/>
            <a:ext cx="227137" cy="22713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030005" y="1975104"/>
            <a:ext cx="237530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预算友好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8408213" y="2651760"/>
            <a:ext cx="29605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固定订阅好申报、好审批；超额不停机，长任务放心跑 —— 每一分钱都花在真实用量上。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566928" y="3886200"/>
            <a:ext cx="3472586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3"/>
          <p:cNvSpPr/>
          <p:nvPr/>
        </p:nvSpPr>
        <p:spPr>
          <a:xfrm>
            <a:off x="566928" y="3886200"/>
            <a:ext cx="3472586" cy="64008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4"/>
          <p:cNvSpPr/>
          <p:nvPr/>
        </p:nvSpPr>
        <p:spPr>
          <a:xfrm>
            <a:off x="804672" y="4105656"/>
            <a:ext cx="493776" cy="49377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992" y="4238976"/>
            <a:ext cx="227137" cy="227137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444752" y="4105656"/>
            <a:ext cx="237530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零改造接入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822960" y="4782312"/>
            <a:ext cx="29605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原生兼容 OpenAI / Anthropic 协议，主流 AI 工具换个 Key 即无缝迁移。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4359554" y="3886200"/>
            <a:ext cx="3472586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28"/>
          <p:cNvSpPr/>
          <p:nvPr/>
        </p:nvSpPr>
        <p:spPr>
          <a:xfrm>
            <a:off x="4359554" y="3886200"/>
            <a:ext cx="3472586" cy="64008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29"/>
          <p:cNvSpPr/>
          <p:nvPr/>
        </p:nvSpPr>
        <p:spPr>
          <a:xfrm>
            <a:off x="4597298" y="4105656"/>
            <a:ext cx="493776" cy="49377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0618" y="4238976"/>
            <a:ext cx="227137" cy="227137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5237378" y="4105656"/>
            <a:ext cx="237530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陪跑</a:t>
            </a:r>
            <a:endParaRPr lang="en-US" sz="1500" dirty="0"/>
          </a:p>
        </p:txBody>
      </p:sp>
      <p:sp>
        <p:nvSpPr>
          <p:cNvPr id="40" name="Text 31"/>
          <p:cNvSpPr/>
          <p:nvPr/>
        </p:nvSpPr>
        <p:spPr>
          <a:xfrm>
            <a:off x="4615586" y="4782312"/>
            <a:ext cx="29605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前置工程师驻场，把场景跑通、把人教会 —— 交付的不是软件，是一支会用 AI 的团队。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8152181" y="3886200"/>
            <a:ext cx="3472586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33"/>
          <p:cNvSpPr/>
          <p:nvPr/>
        </p:nvSpPr>
        <p:spPr>
          <a:xfrm>
            <a:off x="8152181" y="3886200"/>
            <a:ext cx="3472586" cy="64008"/>
          </a:xfrm>
          <a:prstGeom prst="rect">
            <a:avLst/>
          </a:prstGeom>
          <a:solidFill>
            <a:srgbClr val="2C80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34"/>
          <p:cNvSpPr/>
          <p:nvPr/>
        </p:nvSpPr>
        <p:spPr>
          <a:xfrm>
            <a:off x="8389925" y="4105656"/>
            <a:ext cx="493776" cy="49377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23244" y="4238976"/>
            <a:ext cx="227137" cy="227137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9030005" y="4105656"/>
            <a:ext cx="237530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看板透明</a:t>
            </a:r>
            <a:endParaRPr lang="en-US" sz="1500" dirty="0"/>
          </a:p>
        </p:txBody>
      </p:sp>
      <p:sp>
        <p:nvSpPr>
          <p:cNvPr id="46" name="Text 36"/>
          <p:cNvSpPr/>
          <p:nvPr/>
        </p:nvSpPr>
        <p:spPr>
          <a:xfrm>
            <a:off x="8408213" y="4782312"/>
            <a:ext cx="29605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消耗、场景、部门一目了然 —— 用量曲线是效果最诚实的度量，也是续投的依据。</a:t>
            </a:r>
            <a:endParaRPr lang="en-US" sz="1000" dirty="0"/>
          </a:p>
        </p:txBody>
      </p:sp>
      <p:sp>
        <p:nvSpPr>
          <p:cNvPr id="47" name="Shape 37"/>
          <p:cNvSpPr/>
          <p:nvPr/>
        </p:nvSpPr>
        <p:spPr>
          <a:xfrm>
            <a:off x="566928" y="5888736"/>
            <a:ext cx="11057839" cy="420624"/>
          </a:xfrm>
          <a:prstGeom prst="roundRect">
            <a:avLst>
              <a:gd name="adj" fmla="val 19565"/>
            </a:avLst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38"/>
          <p:cNvSpPr/>
          <p:nvPr/>
        </p:nvSpPr>
        <p:spPr>
          <a:xfrm>
            <a:off x="566928" y="5888736"/>
            <a:ext cx="82296" cy="420624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39"/>
          <p:cNvSpPr/>
          <p:nvPr/>
        </p:nvSpPr>
        <p:spPr>
          <a:xfrm>
            <a:off x="896112" y="5888736"/>
            <a:ext cx="1041775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优势不在单点，在闭环   </a:t>
            </a: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好模型 + 好用法 + 陪跑服务 + 透明度量，一起构成「用得起来」的确定性。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组织养成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 · 把习惯长在组织里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个人的三个习惯前面讲过 —— 但习惯靠组织养成，不靠个人自觉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9221" y="329184"/>
            <a:ext cx="1105546" cy="310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372917" y="356616"/>
            <a:ext cx="0" cy="256032"/>
          </a:xfrm>
          <a:prstGeom prst="line">
            <a:avLst/>
          </a:prstGeom>
          <a:noFill/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1" descr="gfy_logo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5499" y="329184"/>
            <a:ext cx="1601114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 AIGC 创新赋能新质生产力   |   北大合肥论坛 · 新质生产力与智能经济   |   商汤科技 SenseTime</a:t>
            </a:r>
            <a:endParaRPr lang="en-US" sz="760" dirty="0"/>
          </a:p>
        </p:txBody>
      </p:sp>
      <p:sp>
        <p:nvSpPr>
          <p:cNvPr id="10" name="Text 6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37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66928" y="1755648"/>
            <a:ext cx="3442106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8"/>
          <p:cNvSpPr/>
          <p:nvPr/>
        </p:nvSpPr>
        <p:spPr>
          <a:xfrm>
            <a:off x="566928" y="1755648"/>
            <a:ext cx="3442106" cy="73152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9"/>
          <p:cNvSpPr/>
          <p:nvPr/>
        </p:nvSpPr>
        <p:spPr>
          <a:xfrm>
            <a:off x="841248" y="1993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 01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41248" y="2286000"/>
            <a:ext cx="234482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高管带头</a:t>
            </a:r>
            <a:endParaRPr lang="en-US" sz="2100" dirty="0"/>
          </a:p>
        </p:txBody>
      </p:sp>
      <p:sp>
        <p:nvSpPr>
          <p:cNvPr id="15" name="Shape 11"/>
          <p:cNvSpPr/>
          <p:nvPr/>
        </p:nvSpPr>
        <p:spPr>
          <a:xfrm>
            <a:off x="3131210" y="2011680"/>
            <a:ext cx="585216" cy="58521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9219" y="2169688"/>
            <a:ext cx="269199" cy="269199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59536" y="2871216"/>
            <a:ext cx="548640" cy="32004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3"/>
          <p:cNvSpPr/>
          <p:nvPr/>
        </p:nvSpPr>
        <p:spPr>
          <a:xfrm>
            <a:off x="859536" y="3035808"/>
            <a:ext cx="28751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一把手先用起来，晒用法、晒产出 —— 上行下效，比任何培训都管用。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374794" y="1755648"/>
            <a:ext cx="3442106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5"/>
          <p:cNvSpPr/>
          <p:nvPr/>
        </p:nvSpPr>
        <p:spPr>
          <a:xfrm>
            <a:off x="4374794" y="1755648"/>
            <a:ext cx="3442106" cy="73152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6"/>
          <p:cNvSpPr/>
          <p:nvPr/>
        </p:nvSpPr>
        <p:spPr>
          <a:xfrm>
            <a:off x="4649114" y="1993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C64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 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649114" y="2286000"/>
            <a:ext cx="234482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场景清单</a:t>
            </a:r>
            <a:endParaRPr lang="en-US" sz="2100" dirty="0"/>
          </a:p>
        </p:txBody>
      </p:sp>
      <p:sp>
        <p:nvSpPr>
          <p:cNvPr id="23" name="Shape 18"/>
          <p:cNvSpPr/>
          <p:nvPr/>
        </p:nvSpPr>
        <p:spPr>
          <a:xfrm>
            <a:off x="6939077" y="2011680"/>
            <a:ext cx="585216" cy="58521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7085" y="2169688"/>
            <a:ext cx="269199" cy="269199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4667402" y="2871216"/>
            <a:ext cx="548640" cy="32004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0"/>
          <p:cNvSpPr/>
          <p:nvPr/>
        </p:nvSpPr>
        <p:spPr>
          <a:xfrm>
            <a:off x="4667402" y="3035808"/>
            <a:ext cx="28751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把各部门高频任务列成清单，对号入座逐个跑通，不搞运动式全面铺开。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8182661" y="1755648"/>
            <a:ext cx="3442106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2"/>
          <p:cNvSpPr/>
          <p:nvPr/>
        </p:nvSpPr>
        <p:spPr>
          <a:xfrm>
            <a:off x="8182661" y="1755648"/>
            <a:ext cx="3442106" cy="73152"/>
          </a:xfrm>
          <a:prstGeom prst="rect">
            <a:avLst/>
          </a:prstGeom>
          <a:solidFill>
            <a:srgbClr val="2C80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3"/>
          <p:cNvSpPr/>
          <p:nvPr/>
        </p:nvSpPr>
        <p:spPr>
          <a:xfrm>
            <a:off x="8456981" y="1993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C80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 03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8456981" y="2286000"/>
            <a:ext cx="234482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复盘沉淀</a:t>
            </a:r>
            <a:endParaRPr lang="en-US" sz="2100" dirty="0"/>
          </a:p>
        </p:txBody>
      </p:sp>
      <p:sp>
        <p:nvSpPr>
          <p:cNvPr id="31" name="Shape 25"/>
          <p:cNvSpPr/>
          <p:nvPr/>
        </p:nvSpPr>
        <p:spPr>
          <a:xfrm>
            <a:off x="10746943" y="2011680"/>
            <a:ext cx="585216" cy="58521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04952" y="2169688"/>
            <a:ext cx="269199" cy="269199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8475269" y="2871216"/>
            <a:ext cx="548640" cy="32004"/>
          </a:xfrm>
          <a:prstGeom prst="rect">
            <a:avLst/>
          </a:prstGeom>
          <a:solidFill>
            <a:srgbClr val="2C80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27"/>
          <p:cNvSpPr/>
          <p:nvPr/>
        </p:nvSpPr>
        <p:spPr>
          <a:xfrm>
            <a:off x="8475269" y="3035808"/>
            <a:ext cx="28751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把好用的提示词与打法沉淀成团队技能库，让一个人的经验变成一群人的能力。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566928" y="4160520"/>
            <a:ext cx="11057839" cy="1463040"/>
          </a:xfrm>
          <a:prstGeom prst="roundRect">
            <a:avLst>
              <a:gd name="adj" fmla="val 5625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29"/>
          <p:cNvSpPr/>
          <p:nvPr/>
        </p:nvSpPr>
        <p:spPr>
          <a:xfrm>
            <a:off x="566928" y="4160520"/>
            <a:ext cx="91440" cy="1463040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0"/>
          <p:cNvSpPr/>
          <p:nvPr/>
        </p:nvSpPr>
        <p:spPr>
          <a:xfrm>
            <a:off x="914400" y="4306824"/>
            <a:ext cx="104177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个人层面 · 三个习惯（前文已讲）</a:t>
            </a:r>
            <a:endParaRPr lang="en-US" sz="1350" dirty="0"/>
          </a:p>
        </p:txBody>
      </p:sp>
      <p:sp>
        <p:nvSpPr>
          <p:cNvPr id="38" name="Shape 31"/>
          <p:cNvSpPr/>
          <p:nvPr/>
        </p:nvSpPr>
        <p:spPr>
          <a:xfrm>
            <a:off x="932688" y="4727448"/>
            <a:ext cx="310896" cy="310896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2"/>
          <p:cNvSpPr/>
          <p:nvPr/>
        </p:nvSpPr>
        <p:spPr>
          <a:xfrm>
            <a:off x="932688" y="4718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40" name="Text 33"/>
          <p:cNvSpPr/>
          <p:nvPr/>
        </p:nvSpPr>
        <p:spPr>
          <a:xfrm>
            <a:off x="1353312" y="4709160"/>
            <a:ext cx="27715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说清楚</a:t>
            </a:r>
            <a:endParaRPr lang="en-US" sz="1250" dirty="0"/>
          </a:p>
        </p:txBody>
      </p:sp>
      <p:sp>
        <p:nvSpPr>
          <p:cNvPr id="41" name="Text 34"/>
          <p:cNvSpPr/>
          <p:nvPr/>
        </p:nvSpPr>
        <p:spPr>
          <a:xfrm>
            <a:off x="1353312" y="5038344"/>
            <a:ext cx="27715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给背景、给目标、给标准 —— 像带新人一样交代任务。</a:t>
            </a:r>
            <a:endParaRPr lang="en-US" sz="950" dirty="0"/>
          </a:p>
        </p:txBody>
      </p:sp>
      <p:sp>
        <p:nvSpPr>
          <p:cNvPr id="42" name="Shape 35"/>
          <p:cNvSpPr/>
          <p:nvPr/>
        </p:nvSpPr>
        <p:spPr>
          <a:xfrm>
            <a:off x="4481474" y="4727448"/>
            <a:ext cx="310896" cy="310896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36"/>
          <p:cNvSpPr/>
          <p:nvPr/>
        </p:nvSpPr>
        <p:spPr>
          <a:xfrm>
            <a:off x="4481474" y="4718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44" name="Text 37"/>
          <p:cNvSpPr/>
          <p:nvPr/>
        </p:nvSpPr>
        <p:spPr>
          <a:xfrm>
            <a:off x="4902098" y="4709160"/>
            <a:ext cx="27715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问明白</a:t>
            </a:r>
            <a:endParaRPr lang="en-US" sz="1250" dirty="0"/>
          </a:p>
        </p:txBody>
      </p:sp>
      <p:sp>
        <p:nvSpPr>
          <p:cNvPr id="45" name="Text 38"/>
          <p:cNvSpPr/>
          <p:nvPr/>
        </p:nvSpPr>
        <p:spPr>
          <a:xfrm>
            <a:off x="4902098" y="5038344"/>
            <a:ext cx="27715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动手前先复述理解、追问缺口 —— 减少返工。</a:t>
            </a:r>
            <a:endParaRPr lang="en-US" sz="950" dirty="0"/>
          </a:p>
        </p:txBody>
      </p:sp>
      <p:sp>
        <p:nvSpPr>
          <p:cNvPr id="46" name="Shape 39"/>
          <p:cNvSpPr/>
          <p:nvPr/>
        </p:nvSpPr>
        <p:spPr>
          <a:xfrm>
            <a:off x="8030261" y="4727448"/>
            <a:ext cx="310896" cy="310896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0"/>
          <p:cNvSpPr/>
          <p:nvPr/>
        </p:nvSpPr>
        <p:spPr>
          <a:xfrm>
            <a:off x="8030261" y="4718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48" name="Text 41"/>
          <p:cNvSpPr/>
          <p:nvPr/>
        </p:nvSpPr>
        <p:spPr>
          <a:xfrm>
            <a:off x="8450885" y="4709160"/>
            <a:ext cx="27715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守主场</a:t>
            </a:r>
            <a:endParaRPr lang="en-US" sz="1250" dirty="0"/>
          </a:p>
        </p:txBody>
      </p:sp>
      <p:sp>
        <p:nvSpPr>
          <p:cNvPr id="49" name="Text 42"/>
          <p:cNvSpPr/>
          <p:nvPr/>
        </p:nvSpPr>
        <p:spPr>
          <a:xfrm>
            <a:off x="8450885" y="5038344"/>
            <a:ext cx="27715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判断与拍板在人，检索与执行给 AI。</a:t>
            </a:r>
            <a:endParaRPr lang="en-US" sz="950" dirty="0"/>
          </a:p>
        </p:txBody>
      </p:sp>
      <p:sp>
        <p:nvSpPr>
          <p:cNvPr id="50" name="Shape 43"/>
          <p:cNvSpPr/>
          <p:nvPr/>
        </p:nvSpPr>
        <p:spPr>
          <a:xfrm>
            <a:off x="566928" y="5760720"/>
            <a:ext cx="11057839" cy="475488"/>
          </a:xfrm>
          <a:prstGeom prst="roundRect">
            <a:avLst>
              <a:gd name="adj" fmla="val 17308"/>
            </a:avLst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4"/>
          <p:cNvSpPr/>
          <p:nvPr/>
        </p:nvSpPr>
        <p:spPr>
          <a:xfrm>
            <a:off x="566928" y="5760720"/>
            <a:ext cx="82296" cy="475488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45"/>
          <p:cNvSpPr/>
          <p:nvPr/>
        </p:nvSpPr>
        <p:spPr>
          <a:xfrm>
            <a:off x="896112" y="5760720"/>
            <a:ext cx="1041775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一个共识   </a:t>
            </a:r>
            <a:r>
              <a:rPr lang="en-US" sz="12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模型的差距在按月缩小，习惯的差距在按年拉大 —— 组织真正的护城河，长在人身上。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什么是 FDE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 FDE：住在你身边的「AI 落地工程师」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Forward Deployed Engineer 前置部署工程师 —— 不是交付完就走的乙方，而是陪你把 AI 用起来的人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9221" y="329184"/>
            <a:ext cx="1105546" cy="310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372917" y="356616"/>
            <a:ext cx="0" cy="256032"/>
          </a:xfrm>
          <a:prstGeom prst="line">
            <a:avLst/>
          </a:prstGeom>
          <a:noFill/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1" descr="gfy_logo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5499" y="329184"/>
            <a:ext cx="1601114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 AIGC 创新赋能新质生产力   |   北大合肥论坛 · 新质生产力与智能经济   |   商汤科技 SenseTime</a:t>
            </a:r>
            <a:endParaRPr lang="en-US" sz="760" dirty="0"/>
          </a:p>
        </p:txBody>
      </p:sp>
      <p:sp>
        <p:nvSpPr>
          <p:cNvPr id="10" name="Text 6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37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66928" y="1682496"/>
            <a:ext cx="5346040" cy="1042416"/>
          </a:xfrm>
          <a:prstGeom prst="roundRect">
            <a:avLst>
              <a:gd name="adj" fmla="val 7895"/>
            </a:avLst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8"/>
          <p:cNvSpPr/>
          <p:nvPr/>
        </p:nvSpPr>
        <p:spPr>
          <a:xfrm>
            <a:off x="859536" y="1810512"/>
            <a:ext cx="476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  </a:t>
            </a:r>
            <a:r>
              <a:rPr lang="en-US" sz="1350" b="1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传统交付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859536" y="2157984"/>
            <a:ext cx="47608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给工具、做培训、签验收 → 交付即走，用不用得起来是你自己的事。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6278728" y="1682496"/>
            <a:ext cx="5346040" cy="1042416"/>
          </a:xfrm>
          <a:prstGeom prst="roundRect">
            <a:avLst>
              <a:gd name="adj" fmla="val 7895"/>
            </a:avLst>
          </a:prstGeom>
          <a:solidFill>
            <a:srgbClr val="0C2545"/>
          </a:solidFill>
          <a:ln w="19050">
            <a:solidFill>
              <a:srgbClr val="C2A14B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1"/>
          <p:cNvSpPr/>
          <p:nvPr/>
        </p:nvSpPr>
        <p:spPr>
          <a:xfrm>
            <a:off x="6571336" y="1810512"/>
            <a:ext cx="476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r>
              <a:rPr lang="en-US" sz="135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陪跑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571336" y="2157984"/>
            <a:ext cx="47608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驻场共建、陪你跑通、对结果负责 → 交付的是「用起来」，不是「交付完」。</a:t>
            </a:r>
            <a:endParaRPr lang="en-US" sz="1080" dirty="0"/>
          </a:p>
        </p:txBody>
      </p:sp>
      <p:sp>
        <p:nvSpPr>
          <p:cNvPr id="17" name="Shape 13"/>
          <p:cNvSpPr/>
          <p:nvPr/>
        </p:nvSpPr>
        <p:spPr>
          <a:xfrm>
            <a:off x="566928" y="2980944"/>
            <a:ext cx="64008" cy="237744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4"/>
          <p:cNvSpPr/>
          <p:nvPr/>
        </p:nvSpPr>
        <p:spPr>
          <a:xfrm>
            <a:off x="768096" y="2944368"/>
            <a:ext cx="107835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一人多角：把「买了 AI」变成「用好 AI」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566928" y="3383280"/>
            <a:ext cx="2524430" cy="1901952"/>
          </a:xfrm>
          <a:prstGeom prst="roundRect">
            <a:avLst>
              <a:gd name="adj" fmla="val 4327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6"/>
          <p:cNvSpPr/>
          <p:nvPr/>
        </p:nvSpPr>
        <p:spPr>
          <a:xfrm>
            <a:off x="1509103" y="3602736"/>
            <a:ext cx="640080" cy="64008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1925" y="3775558"/>
            <a:ext cx="294437" cy="29443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13232" y="4315968"/>
            <a:ext cx="22318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9C7E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 01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713232" y="4553712"/>
            <a:ext cx="22318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业务翻译官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749808" y="4901184"/>
            <a:ext cx="215867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把你的业务语言翻译成 AI 能干的活，也把 AI 能力翻译成业务价值。</a:t>
            </a:r>
            <a:endParaRPr lang="en-US" sz="940" dirty="0"/>
          </a:p>
        </p:txBody>
      </p:sp>
      <p:sp>
        <p:nvSpPr>
          <p:cNvPr id="25" name="Shape 20"/>
          <p:cNvSpPr/>
          <p:nvPr/>
        </p:nvSpPr>
        <p:spPr>
          <a:xfrm>
            <a:off x="3411398" y="3383280"/>
            <a:ext cx="2524430" cy="1901952"/>
          </a:xfrm>
          <a:prstGeom prst="roundRect">
            <a:avLst>
              <a:gd name="adj" fmla="val 4327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1"/>
          <p:cNvSpPr/>
          <p:nvPr/>
        </p:nvSpPr>
        <p:spPr>
          <a:xfrm>
            <a:off x="4353573" y="3602736"/>
            <a:ext cx="640080" cy="64008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6394" y="3775558"/>
            <a:ext cx="294437" cy="294437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3557702" y="4315968"/>
            <a:ext cx="22318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9C7E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 02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3557702" y="4553712"/>
            <a:ext cx="22318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方案搭建者</a:t>
            </a:r>
            <a:endParaRPr lang="en-US" sz="1450" dirty="0"/>
          </a:p>
        </p:txBody>
      </p:sp>
      <p:sp>
        <p:nvSpPr>
          <p:cNvPr id="30" name="Text 24"/>
          <p:cNvSpPr/>
          <p:nvPr/>
        </p:nvSpPr>
        <p:spPr>
          <a:xfrm>
            <a:off x="3594278" y="4901184"/>
            <a:ext cx="215867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现场搭助理、接知识库与系统、把效果调准 —— 动手交付可用的东西。</a:t>
            </a:r>
            <a:endParaRPr lang="en-US" sz="940" dirty="0"/>
          </a:p>
        </p:txBody>
      </p:sp>
      <p:sp>
        <p:nvSpPr>
          <p:cNvPr id="31" name="Shape 25"/>
          <p:cNvSpPr/>
          <p:nvPr/>
        </p:nvSpPr>
        <p:spPr>
          <a:xfrm>
            <a:off x="6255868" y="3383280"/>
            <a:ext cx="2524430" cy="1901952"/>
          </a:xfrm>
          <a:prstGeom prst="roundRect">
            <a:avLst>
              <a:gd name="adj" fmla="val 4327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26"/>
          <p:cNvSpPr/>
          <p:nvPr/>
        </p:nvSpPr>
        <p:spPr>
          <a:xfrm>
            <a:off x="7198043" y="3602736"/>
            <a:ext cx="640080" cy="64008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0864" y="3775558"/>
            <a:ext cx="294437" cy="294437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402172" y="4315968"/>
            <a:ext cx="22318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9C7E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 03</a:t>
            </a:r>
            <a:endParaRPr lang="en-US" sz="950" dirty="0"/>
          </a:p>
        </p:txBody>
      </p:sp>
      <p:sp>
        <p:nvSpPr>
          <p:cNvPr id="35" name="Text 28"/>
          <p:cNvSpPr/>
          <p:nvPr/>
        </p:nvSpPr>
        <p:spPr>
          <a:xfrm>
            <a:off x="6402172" y="4553712"/>
            <a:ext cx="22318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落地教练</a:t>
            </a:r>
            <a:endParaRPr lang="en-US" sz="1450" dirty="0"/>
          </a:p>
        </p:txBody>
      </p:sp>
      <p:sp>
        <p:nvSpPr>
          <p:cNvPr id="36" name="Text 29"/>
          <p:cNvSpPr/>
          <p:nvPr/>
        </p:nvSpPr>
        <p:spPr>
          <a:xfrm>
            <a:off x="6438748" y="4901184"/>
            <a:ext cx="215867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手把手带团队用起来、养成习惯，把会用的人教成教别人的人。</a:t>
            </a:r>
            <a:endParaRPr lang="en-US" sz="940" dirty="0"/>
          </a:p>
        </p:txBody>
      </p:sp>
      <p:sp>
        <p:nvSpPr>
          <p:cNvPr id="37" name="Shape 30"/>
          <p:cNvSpPr/>
          <p:nvPr/>
        </p:nvSpPr>
        <p:spPr>
          <a:xfrm>
            <a:off x="9100337" y="3383280"/>
            <a:ext cx="2524430" cy="1901952"/>
          </a:xfrm>
          <a:prstGeom prst="roundRect">
            <a:avLst>
              <a:gd name="adj" fmla="val 4327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1"/>
          <p:cNvSpPr/>
          <p:nvPr/>
        </p:nvSpPr>
        <p:spPr>
          <a:xfrm>
            <a:off x="10042512" y="3602736"/>
            <a:ext cx="640080" cy="64008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15334" y="3775558"/>
            <a:ext cx="294437" cy="294437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9246641" y="4315968"/>
            <a:ext cx="22318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9C7E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 04</a:t>
            </a:r>
            <a:endParaRPr lang="en-US" sz="950" dirty="0"/>
          </a:p>
        </p:txBody>
      </p:sp>
      <p:sp>
        <p:nvSpPr>
          <p:cNvPr id="41" name="Text 33"/>
          <p:cNvSpPr/>
          <p:nvPr/>
        </p:nvSpPr>
        <p:spPr>
          <a:xfrm>
            <a:off x="9246641" y="4553712"/>
            <a:ext cx="22318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持续运营者</a:t>
            </a:r>
            <a:endParaRPr lang="en-US" sz="1450" dirty="0"/>
          </a:p>
        </p:txBody>
      </p:sp>
      <p:sp>
        <p:nvSpPr>
          <p:cNvPr id="42" name="Text 34"/>
          <p:cNvSpPr/>
          <p:nvPr/>
        </p:nvSpPr>
        <p:spPr>
          <a:xfrm>
            <a:off x="9283217" y="4901184"/>
            <a:ext cx="215867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跑通后持续迭代、扩场景、看数据，让提效可量化、可持续。</a:t>
            </a:r>
            <a:endParaRPr lang="en-US" sz="940" dirty="0"/>
          </a:p>
        </p:txBody>
      </p:sp>
      <p:sp>
        <p:nvSpPr>
          <p:cNvPr id="43" name="Shape 35"/>
          <p:cNvSpPr/>
          <p:nvPr/>
        </p:nvSpPr>
        <p:spPr>
          <a:xfrm>
            <a:off x="566928" y="5779008"/>
            <a:ext cx="11057839" cy="457200"/>
          </a:xfrm>
          <a:prstGeom prst="roundRect">
            <a:avLst>
              <a:gd name="adj" fmla="val 18000"/>
            </a:avLst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36"/>
          <p:cNvSpPr/>
          <p:nvPr/>
        </p:nvSpPr>
        <p:spPr>
          <a:xfrm>
            <a:off x="566928" y="5779008"/>
            <a:ext cx="82296" cy="457200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37"/>
          <p:cNvSpPr/>
          <p:nvPr/>
        </p:nvSpPr>
        <p:spPr>
          <a:xfrm>
            <a:off x="896112" y="5779008"/>
            <a:ext cx="104177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   </a:t>
            </a: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对「你用起来、用得好」负责，而不是对「我交付了」负责 —— 这是把 AI 用出价值的关键一环。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陪跑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陪跑：90 天，从第一个场景到全员用量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前置部署工程师驻场同干，不做甩手交付 —— 把方法留下，把队伍带出来</a:t>
            </a:r>
            <a:endParaRPr lang="en-US" sz="1250" dirty="0"/>
          </a:p>
        </p:txBody>
      </p:sp>
      <p:pic>
        <p:nvPicPr>
          <p:cNvPr id="6" name="Image 0" descr="st_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9221" y="329184"/>
            <a:ext cx="1105546" cy="310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372917" y="356616"/>
            <a:ext cx="0" cy="256032"/>
          </a:xfrm>
          <a:prstGeom prst="line">
            <a:avLst/>
          </a:prstGeom>
          <a:noFill/>
          <a:ln w="12700">
            <a:solidFill>
              <a:srgbClr val="C9D3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1" descr="gfy_logo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5499" y="329184"/>
            <a:ext cx="1601114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 AIGC 创新赋能新质生产力   |   北大合肥论坛 · 新质生产力与智能经济   |   商汤科技 SenseTime</a:t>
            </a:r>
            <a:endParaRPr lang="en-US" sz="760" dirty="0"/>
          </a:p>
        </p:txBody>
      </p:sp>
      <p:sp>
        <p:nvSpPr>
          <p:cNvPr id="10" name="Text 6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37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66928" y="1737360"/>
            <a:ext cx="11057839" cy="658368"/>
          </a:xfrm>
          <a:prstGeom prst="roundRect">
            <a:avLst>
              <a:gd name="adj" fmla="val 12500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8"/>
          <p:cNvSpPr/>
          <p:nvPr/>
        </p:nvSpPr>
        <p:spPr>
          <a:xfrm>
            <a:off x="566928" y="1737360"/>
            <a:ext cx="91440" cy="658368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9"/>
          <p:cNvSpPr/>
          <p:nvPr/>
        </p:nvSpPr>
        <p:spPr>
          <a:xfrm>
            <a:off x="896112" y="173736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 FDE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2441448" y="1883664"/>
            <a:ext cx="0" cy="365760"/>
          </a:xfrm>
          <a:prstGeom prst="line">
            <a:avLst/>
          </a:prstGeom>
          <a:noFill/>
          <a:ln w="12700">
            <a:solidFill>
              <a:srgbClr val="2C4A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1"/>
          <p:cNvSpPr/>
          <p:nvPr/>
        </p:nvSpPr>
        <p:spPr>
          <a:xfrm>
            <a:off x="2670048" y="1737360"/>
            <a:ext cx="86803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Forward Deployed Engineer，前置部署工程师：懂模型也懂业务，驻场把场景跑通、把人教会、把方法留下。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66928" y="2578608"/>
            <a:ext cx="3381146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3"/>
          <p:cNvSpPr/>
          <p:nvPr/>
        </p:nvSpPr>
        <p:spPr>
          <a:xfrm>
            <a:off x="566928" y="2578608"/>
            <a:ext cx="3381146" cy="768096"/>
          </a:xfrm>
          <a:prstGeom prst="roundRect">
            <a:avLst>
              <a:gd name="adj" fmla="val 10714"/>
            </a:avLst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4"/>
          <p:cNvSpPr/>
          <p:nvPr/>
        </p:nvSpPr>
        <p:spPr>
          <a:xfrm>
            <a:off x="566928" y="3035808"/>
            <a:ext cx="3381146" cy="310896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5"/>
          <p:cNvSpPr/>
          <p:nvPr/>
        </p:nvSpPr>
        <p:spPr>
          <a:xfrm>
            <a:off x="841248" y="2688336"/>
            <a:ext cx="24667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1–30 天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841248" y="2926080"/>
            <a:ext cx="24667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试点跑通</a:t>
            </a:r>
            <a:endParaRPr lang="en-US" sz="18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4570" y="2798064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1248" y="3511296"/>
            <a:ext cx="28325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选一两个高频场景，FDE 带着业务骨干端到端跑通，先拿出第一份看得见的交付物。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3993794" y="34930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19"/>
          <p:cNvSpPr/>
          <p:nvPr/>
        </p:nvSpPr>
        <p:spPr>
          <a:xfrm>
            <a:off x="4405274" y="2578608"/>
            <a:ext cx="3381146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0"/>
          <p:cNvSpPr/>
          <p:nvPr/>
        </p:nvSpPr>
        <p:spPr>
          <a:xfrm>
            <a:off x="4405274" y="2578608"/>
            <a:ext cx="3381146" cy="768096"/>
          </a:xfrm>
          <a:prstGeom prst="roundRect">
            <a:avLst>
              <a:gd name="adj" fmla="val 10714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1"/>
          <p:cNvSpPr/>
          <p:nvPr/>
        </p:nvSpPr>
        <p:spPr>
          <a:xfrm>
            <a:off x="4405274" y="3035808"/>
            <a:ext cx="3381146" cy="310896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2"/>
          <p:cNvSpPr/>
          <p:nvPr/>
        </p:nvSpPr>
        <p:spPr>
          <a:xfrm>
            <a:off x="4679594" y="2688336"/>
            <a:ext cx="24667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31–60 天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4679594" y="2926080"/>
            <a:ext cx="24667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部门复制</a:t>
            </a:r>
            <a:endParaRPr lang="en-US" sz="18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2917" y="2798064"/>
            <a:ext cx="365760" cy="3657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679594" y="3511296"/>
            <a:ext cx="28325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把跑通的打法复制到相邻部门：场景清单对号入座、骨干变教练，用的人成建制增长。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7832141" y="34930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26"/>
          <p:cNvSpPr/>
          <p:nvPr/>
        </p:nvSpPr>
        <p:spPr>
          <a:xfrm>
            <a:off x="8243621" y="2578608"/>
            <a:ext cx="3381146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27"/>
          <p:cNvSpPr/>
          <p:nvPr/>
        </p:nvSpPr>
        <p:spPr>
          <a:xfrm>
            <a:off x="8243621" y="2578608"/>
            <a:ext cx="3381146" cy="768096"/>
          </a:xfrm>
          <a:prstGeom prst="roundRect">
            <a:avLst>
              <a:gd name="adj" fmla="val 10714"/>
            </a:avLst>
          </a:prstGeom>
          <a:solidFill>
            <a:srgbClr val="2C80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28"/>
          <p:cNvSpPr/>
          <p:nvPr/>
        </p:nvSpPr>
        <p:spPr>
          <a:xfrm>
            <a:off x="8243621" y="3035808"/>
            <a:ext cx="3381146" cy="310896"/>
          </a:xfrm>
          <a:prstGeom prst="rect">
            <a:avLst/>
          </a:prstGeom>
          <a:solidFill>
            <a:srgbClr val="2C80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29"/>
          <p:cNvSpPr/>
          <p:nvPr/>
        </p:nvSpPr>
        <p:spPr>
          <a:xfrm>
            <a:off x="8517941" y="2688336"/>
            <a:ext cx="24667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61–90 天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8517941" y="2926080"/>
            <a:ext cx="24667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沉淀固化</a:t>
            </a:r>
            <a:endParaRPr lang="en-US" sz="1800" dirty="0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1263" y="2798064"/>
            <a:ext cx="365760" cy="36576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8517941" y="3511296"/>
            <a:ext cx="28325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好用法沉淀成企业技能库，用量看板上线 —— 谁在用、用在哪、省了什么，一屏看清。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566928" y="5102352"/>
            <a:ext cx="11057839" cy="566928"/>
          </a:xfrm>
          <a:prstGeom prst="roundRect">
            <a:avLst>
              <a:gd name="adj" fmla="val 14516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3"/>
          <p:cNvSpPr/>
          <p:nvPr/>
        </p:nvSpPr>
        <p:spPr>
          <a:xfrm>
            <a:off x="566928" y="5102352"/>
            <a:ext cx="91440" cy="566928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824" y="5239512"/>
            <a:ext cx="292608" cy="292608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1335024" y="5102352"/>
            <a:ext cx="99605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北极星指标   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消耗量 —— 消耗在涨，说明 AI 真的在被用；消耗停了，马上回去找原因。</a:t>
            </a:r>
            <a:endParaRPr lang="en-US" sz="1200" dirty="0"/>
          </a:p>
        </p:txBody>
      </p:sp>
      <p:sp>
        <p:nvSpPr>
          <p:cNvPr id="43" name="Shape 35"/>
          <p:cNvSpPr/>
          <p:nvPr/>
        </p:nvSpPr>
        <p:spPr>
          <a:xfrm>
            <a:off x="566928" y="5797296"/>
            <a:ext cx="11057839" cy="438912"/>
          </a:xfrm>
          <a:prstGeom prst="roundRect">
            <a:avLst>
              <a:gd name="adj" fmla="val 18750"/>
            </a:avLst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36"/>
          <p:cNvSpPr/>
          <p:nvPr/>
        </p:nvSpPr>
        <p:spPr>
          <a:xfrm>
            <a:off x="566928" y="5797296"/>
            <a:ext cx="82296" cy="438912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37"/>
          <p:cNvSpPr/>
          <p:nvPr/>
        </p:nvSpPr>
        <p:spPr>
          <a:xfrm>
            <a:off x="896112" y="5797296"/>
            <a:ext cx="1041775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 天后交还的不是一套软件，而是一支会用 AI 的队伍，和一条持续上涨的用量曲线。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C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669280" cy="5669280"/>
          </a:xfrm>
          <a:prstGeom prst="ellipse">
            <a:avLst/>
          </a:prstGeom>
          <a:solidFill>
            <a:srgbClr val="2C6498">
              <a:alpha val="1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0058400" y="3474720"/>
            <a:ext cx="3840480" cy="3840480"/>
          </a:xfrm>
          <a:prstGeom prst="ellipse">
            <a:avLst/>
          </a:prstGeom>
          <a:solidFill>
            <a:srgbClr val="C2A14B">
              <a:alpha val="9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" name="Image 0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9221" y="329184"/>
            <a:ext cx="1105546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372917" y="356616"/>
            <a:ext cx="0" cy="256032"/>
          </a:xfrm>
          <a:prstGeom prst="line">
            <a:avLst/>
          </a:prstGeom>
          <a:noFill/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1" descr="gfy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5499" y="329184"/>
            <a:ext cx="1601114" cy="3108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7F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 AIGC 创新赋能新质生产力   |   北大合肥论坛 · 新质生产力与智能经济   |   商汤科技 SenseTime</a:t>
            </a:r>
            <a:endParaRPr lang="en-US" sz="760" dirty="0"/>
          </a:p>
        </p:txBody>
      </p:sp>
      <p:sp>
        <p:nvSpPr>
          <p:cNvPr id="8" name="Text 4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r>
              <a:rPr lang="en-US" sz="900" dirty="0">
                <a:solidFill>
                  <a:srgbClr val="7F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37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小结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7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新质生产力养成公式</a:t>
            </a:r>
            <a:endParaRPr lang="en-US" sz="2500" dirty="0"/>
          </a:p>
        </p:txBody>
      </p:sp>
      <p:sp>
        <p:nvSpPr>
          <p:cNvPr id="12" name="Text 8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6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四个因子相乘，缺一项就归零 —— 别问 AI 强不强，先看它今天为你消耗了多少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66928" y="2057400"/>
            <a:ext cx="2421560" cy="2148840"/>
          </a:xfrm>
          <a:prstGeom prst="roundRect">
            <a:avLst>
              <a:gd name="adj" fmla="val 3830"/>
            </a:avLst>
          </a:prstGeom>
          <a:solidFill>
            <a:srgbClr val="1236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0"/>
          <p:cNvSpPr/>
          <p:nvPr/>
        </p:nvSpPr>
        <p:spPr>
          <a:xfrm>
            <a:off x="566928" y="2057400"/>
            <a:ext cx="2421560" cy="54864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1"/>
          <p:cNvSpPr/>
          <p:nvPr/>
        </p:nvSpPr>
        <p:spPr>
          <a:xfrm>
            <a:off x="1457668" y="2331720"/>
            <a:ext cx="640080" cy="640080"/>
          </a:xfrm>
          <a:prstGeom prst="ellipse">
            <a:avLst/>
          </a:prstGeom>
          <a:solidFill>
            <a:srgbClr val="16365C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0490" y="2504542"/>
            <a:ext cx="294437" cy="29443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49808" y="3099816"/>
            <a:ext cx="205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强模型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768096" y="3538728"/>
            <a:ext cx="2019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全模态、够先进 —— 能力的天花板，决定生产力的上限。</a:t>
            </a:r>
            <a:endParaRPr lang="en-US" sz="980" dirty="0"/>
          </a:p>
        </p:txBody>
      </p:sp>
      <p:sp>
        <p:nvSpPr>
          <p:cNvPr id="19" name="Text 14"/>
          <p:cNvSpPr/>
          <p:nvPr/>
        </p:nvSpPr>
        <p:spPr>
          <a:xfrm>
            <a:off x="3006776" y="2898648"/>
            <a:ext cx="4206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</a:t>
            </a:r>
            <a:endParaRPr lang="en-US" sz="3000" dirty="0"/>
          </a:p>
        </p:txBody>
      </p:sp>
      <p:sp>
        <p:nvSpPr>
          <p:cNvPr id="20" name="Shape 15"/>
          <p:cNvSpPr/>
          <p:nvPr/>
        </p:nvSpPr>
        <p:spPr>
          <a:xfrm>
            <a:off x="3445688" y="2057400"/>
            <a:ext cx="2421560" cy="2148840"/>
          </a:xfrm>
          <a:prstGeom prst="roundRect">
            <a:avLst>
              <a:gd name="adj" fmla="val 3830"/>
            </a:avLst>
          </a:prstGeom>
          <a:solidFill>
            <a:srgbClr val="1236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6"/>
          <p:cNvSpPr/>
          <p:nvPr/>
        </p:nvSpPr>
        <p:spPr>
          <a:xfrm>
            <a:off x="3445688" y="2057400"/>
            <a:ext cx="2421560" cy="54864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7"/>
          <p:cNvSpPr/>
          <p:nvPr/>
        </p:nvSpPr>
        <p:spPr>
          <a:xfrm>
            <a:off x="4336428" y="2331720"/>
            <a:ext cx="640080" cy="640080"/>
          </a:xfrm>
          <a:prstGeom prst="ellipse">
            <a:avLst/>
          </a:prstGeom>
          <a:solidFill>
            <a:srgbClr val="16365C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9249" y="2504542"/>
            <a:ext cx="294437" cy="29443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3628568" y="3099816"/>
            <a:ext cx="205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真场景</a:t>
            </a:r>
            <a:endParaRPr lang="en-US" sz="1900" dirty="0"/>
          </a:p>
        </p:txBody>
      </p:sp>
      <p:sp>
        <p:nvSpPr>
          <p:cNvPr id="25" name="Text 19"/>
          <p:cNvSpPr/>
          <p:nvPr/>
        </p:nvSpPr>
        <p:spPr>
          <a:xfrm>
            <a:off x="3646856" y="3538728"/>
            <a:ext cx="2019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从岗位高频任务切入 —— 有交付物、能被量化。</a:t>
            </a:r>
            <a:endParaRPr lang="en-US" sz="980" dirty="0"/>
          </a:p>
        </p:txBody>
      </p:sp>
      <p:sp>
        <p:nvSpPr>
          <p:cNvPr id="26" name="Text 20"/>
          <p:cNvSpPr/>
          <p:nvPr/>
        </p:nvSpPr>
        <p:spPr>
          <a:xfrm>
            <a:off x="5885536" y="2898648"/>
            <a:ext cx="4206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</a:t>
            </a:r>
            <a:endParaRPr lang="en-US" sz="3000" dirty="0"/>
          </a:p>
        </p:txBody>
      </p:sp>
      <p:sp>
        <p:nvSpPr>
          <p:cNvPr id="27" name="Shape 21"/>
          <p:cNvSpPr/>
          <p:nvPr/>
        </p:nvSpPr>
        <p:spPr>
          <a:xfrm>
            <a:off x="6324448" y="2057400"/>
            <a:ext cx="2421560" cy="2148840"/>
          </a:xfrm>
          <a:prstGeom prst="roundRect">
            <a:avLst>
              <a:gd name="adj" fmla="val 3830"/>
            </a:avLst>
          </a:prstGeom>
          <a:solidFill>
            <a:srgbClr val="1236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2"/>
          <p:cNvSpPr/>
          <p:nvPr/>
        </p:nvSpPr>
        <p:spPr>
          <a:xfrm>
            <a:off x="6324448" y="2057400"/>
            <a:ext cx="2421560" cy="54864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3"/>
          <p:cNvSpPr/>
          <p:nvPr/>
        </p:nvSpPr>
        <p:spPr>
          <a:xfrm>
            <a:off x="7215188" y="2331720"/>
            <a:ext cx="640080" cy="640080"/>
          </a:xfrm>
          <a:prstGeom prst="ellipse">
            <a:avLst/>
          </a:prstGeom>
          <a:solidFill>
            <a:srgbClr val="16365C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009" y="2504542"/>
            <a:ext cx="294437" cy="294437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507328" y="3099816"/>
            <a:ext cx="205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好习惯</a:t>
            </a:r>
            <a:endParaRPr lang="en-US" sz="1900" dirty="0"/>
          </a:p>
        </p:txBody>
      </p:sp>
      <p:sp>
        <p:nvSpPr>
          <p:cNvPr id="32" name="Text 25"/>
          <p:cNvSpPr/>
          <p:nvPr/>
        </p:nvSpPr>
        <p:spPr>
          <a:xfrm>
            <a:off x="6525616" y="3538728"/>
            <a:ext cx="2019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说清楚、问明白、守主场 —— 组织带头，人人练成。</a:t>
            </a:r>
            <a:endParaRPr lang="en-US" sz="980" dirty="0"/>
          </a:p>
        </p:txBody>
      </p:sp>
      <p:sp>
        <p:nvSpPr>
          <p:cNvPr id="33" name="Text 26"/>
          <p:cNvSpPr/>
          <p:nvPr/>
        </p:nvSpPr>
        <p:spPr>
          <a:xfrm>
            <a:off x="8764295" y="2898648"/>
            <a:ext cx="4206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</a:t>
            </a:r>
            <a:endParaRPr lang="en-US" sz="3000" dirty="0"/>
          </a:p>
        </p:txBody>
      </p:sp>
      <p:sp>
        <p:nvSpPr>
          <p:cNvPr id="34" name="Shape 27"/>
          <p:cNvSpPr/>
          <p:nvPr/>
        </p:nvSpPr>
        <p:spPr>
          <a:xfrm>
            <a:off x="9203207" y="2057400"/>
            <a:ext cx="2421560" cy="2148840"/>
          </a:xfrm>
          <a:prstGeom prst="roundRect">
            <a:avLst>
              <a:gd name="adj" fmla="val 3830"/>
            </a:avLst>
          </a:prstGeom>
          <a:solidFill>
            <a:srgbClr val="1236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28"/>
          <p:cNvSpPr/>
          <p:nvPr/>
        </p:nvSpPr>
        <p:spPr>
          <a:xfrm>
            <a:off x="9203207" y="2057400"/>
            <a:ext cx="2421560" cy="54864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29"/>
          <p:cNvSpPr/>
          <p:nvPr/>
        </p:nvSpPr>
        <p:spPr>
          <a:xfrm>
            <a:off x="10093947" y="2331720"/>
            <a:ext cx="640080" cy="640080"/>
          </a:xfrm>
          <a:prstGeom prst="ellipse">
            <a:avLst/>
          </a:prstGeom>
          <a:solidFill>
            <a:srgbClr val="16365C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66769" y="2504542"/>
            <a:ext cx="294437" cy="294437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386087" y="3099816"/>
            <a:ext cx="205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持续消耗</a:t>
            </a:r>
            <a:endParaRPr lang="en-US" sz="1900" dirty="0"/>
          </a:p>
        </p:txBody>
      </p:sp>
      <p:sp>
        <p:nvSpPr>
          <p:cNvPr id="39" name="Text 31"/>
          <p:cNvSpPr/>
          <p:nvPr/>
        </p:nvSpPr>
        <p:spPr>
          <a:xfrm>
            <a:off x="9404375" y="3538728"/>
            <a:ext cx="2019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以用量为北极星 —— FDE 陪跑，闭环滚动放大。</a:t>
            </a:r>
            <a:endParaRPr lang="en-US" sz="980" dirty="0"/>
          </a:p>
        </p:txBody>
      </p:sp>
      <p:sp>
        <p:nvSpPr>
          <p:cNvPr id="40" name="Shape 32"/>
          <p:cNvSpPr/>
          <p:nvPr/>
        </p:nvSpPr>
        <p:spPr>
          <a:xfrm>
            <a:off x="2895448" y="4681728"/>
            <a:ext cx="1097280" cy="0"/>
          </a:xfrm>
          <a:prstGeom prst="line">
            <a:avLst/>
          </a:prstGeom>
          <a:noFill/>
          <a:ln w="19050">
            <a:solidFill>
              <a:srgbClr val="C2A1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3"/>
          <p:cNvSpPr/>
          <p:nvPr/>
        </p:nvSpPr>
        <p:spPr>
          <a:xfrm>
            <a:off x="8198968" y="4681728"/>
            <a:ext cx="1097280" cy="0"/>
          </a:xfrm>
          <a:prstGeom prst="line">
            <a:avLst/>
          </a:prstGeom>
          <a:noFill/>
          <a:ln w="19050">
            <a:solidFill>
              <a:srgbClr val="C2A1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34"/>
          <p:cNvSpPr/>
          <p:nvPr/>
        </p:nvSpPr>
        <p:spPr>
          <a:xfrm>
            <a:off x="566928" y="4864608"/>
            <a:ext cx="110578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用量，是企业智能化最诚实的体检表</a:t>
            </a:r>
            <a:endParaRPr lang="en-US" sz="2100" dirty="0"/>
          </a:p>
        </p:txBody>
      </p:sp>
      <p:sp>
        <p:nvSpPr>
          <p:cNvPr id="43" name="Text 35"/>
          <p:cNvSpPr/>
          <p:nvPr/>
        </p:nvSpPr>
        <p:spPr>
          <a:xfrm>
            <a:off x="566928" y="5541264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FA6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报表可以修饰，消耗不会说谎 —— 用量曲线向上，新质生产力正在长出来。</a:t>
            </a:r>
            <a:endParaRPr lang="en-US" sz="11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C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2377440"/>
            <a:ext cx="7315200" cy="7315200"/>
          </a:xfrm>
          <a:prstGeom prst="ellipse">
            <a:avLst/>
          </a:prstGeom>
          <a:solidFill>
            <a:srgbClr val="2C6498">
              <a:alpha val="1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9692640" y="2926080"/>
            <a:ext cx="4572000" cy="4572000"/>
          </a:xfrm>
          <a:prstGeom prst="ellipse">
            <a:avLst/>
          </a:prstGeom>
          <a:solidFill>
            <a:srgbClr val="C2A14B">
              <a:alpha val="11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8778240" y="640080"/>
            <a:ext cx="4389120" cy="4389120"/>
          </a:xfrm>
          <a:prstGeom prst="ellipse">
            <a:avLst/>
          </a:prstGeom>
          <a:noFill/>
          <a:ln w="12700">
            <a:solidFill>
              <a:srgbClr val="7AA0C4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7F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 AIGC 创新赋能新质生产力   |   北大合肥论坛 · 新质生产力与智能经济   |   商汤科技 SenseTime</a:t>
            </a:r>
            <a:endParaRPr lang="en-US" sz="760" dirty="0"/>
          </a:p>
        </p:txBody>
      </p:sp>
      <p:sp>
        <p:nvSpPr>
          <p:cNvPr id="6" name="Text 4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</a:t>
            </a:r>
            <a:r>
              <a:rPr lang="en-US" sz="900" dirty="0">
                <a:solidFill>
                  <a:srgbClr val="7F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37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85216" y="1298448"/>
            <a:ext cx="1554480" cy="45720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66928" y="14813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CLOSING · 结语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1920240"/>
            <a:ext cx="112407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「新质生产力，不是等来的，是用出来的」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566928" y="274320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商汤愿做企业智能化的「陪跑者」—— 与在座各位一起，把 AI 用进真实的生产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66928" y="3419856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FA6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今天带走三件事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441448" y="3419856"/>
            <a:ext cx="1554480" cy="402336"/>
          </a:xfrm>
          <a:prstGeom prst="roundRect">
            <a:avLst>
              <a:gd name="adj" fmla="val 50000"/>
            </a:avLst>
          </a:prstGeom>
          <a:ln w="12700">
            <a:solidFill>
              <a:srgbClr val="C2A1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2441448" y="341985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选对 Agent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995928" y="341985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361688" y="3419856"/>
            <a:ext cx="1280160" cy="402336"/>
          </a:xfrm>
          <a:prstGeom prst="roundRect">
            <a:avLst>
              <a:gd name="adj" fmla="val 50000"/>
            </a:avLst>
          </a:prstGeom>
          <a:ln w="12700">
            <a:solidFill>
              <a:srgbClr val="C2A1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4361688" y="341985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选对模型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41848" y="341985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007608" y="3419856"/>
            <a:ext cx="1280160" cy="402336"/>
          </a:xfrm>
          <a:prstGeom prst="roundRect">
            <a:avLst>
              <a:gd name="adj" fmla="val 50000"/>
            </a:avLst>
          </a:prstGeom>
          <a:ln w="12700">
            <a:solidFill>
              <a:srgbClr val="C2A1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007608" y="341985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养成习惯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6928" y="4041648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谢谢大家</a:t>
            </a:r>
            <a:endParaRPr lang="en-US" sz="4200" dirty="0"/>
          </a:p>
        </p:txBody>
      </p:sp>
      <p:sp>
        <p:nvSpPr>
          <p:cNvPr id="21" name="Shape 19"/>
          <p:cNvSpPr/>
          <p:nvPr/>
        </p:nvSpPr>
        <p:spPr>
          <a:xfrm>
            <a:off x="566928" y="5138928"/>
            <a:ext cx="11057839" cy="0"/>
          </a:xfrm>
          <a:prstGeom prst="line">
            <a:avLst/>
          </a:prstGeom>
          <a:noFill/>
          <a:ln w="12700">
            <a:solidFill>
              <a:srgbClr val="29466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566928" y="5303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6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主讲  </a:t>
            </a: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韩启微 · 商汤科技副总裁 / 大模型商业化及生态负责人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" y="5705856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商汤科技 SenseTime × 北大合肥论坛   ·   新质生产力与智能经济 · 2026 年 7 月 11 日 · 合肥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9875520" y="21671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扫码留资 · 获取方案与试用</a:t>
            </a:r>
            <a:endParaRPr lang="en-US" sz="1000" dirty="0"/>
          </a:p>
        </p:txBody>
      </p:sp>
      <p:pic>
        <p:nvPicPr>
          <p:cNvPr id="26" name="Image 1" descr="qr_wechat_hq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2578608"/>
            <a:ext cx="1819656" cy="2313432"/>
          </a:xfrm>
          <a:prstGeom prst="rect">
            <a:avLst/>
          </a:prstGeom>
        </p:spPr>
      </p:pic>
      <p:pic>
        <p:nvPicPr>
          <p:cNvPr id="27" name="Image 2" descr="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5328" y="5916168"/>
            <a:ext cx="1300643" cy="365760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10122957" y="5541264"/>
            <a:ext cx="0" cy="292608"/>
          </a:xfrm>
          <a:prstGeom prst="line">
            <a:avLst/>
          </a:prstGeom>
          <a:noFill/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9" name="Image 3" descr="gfy_log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9328" y="5916168"/>
            <a:ext cx="1883664" cy="365760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7F9A5732-5827-3086-B0C4-44891A9C23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5111" y="244094"/>
            <a:ext cx="1877314" cy="18773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3994</Words>
  <Application>Microsoft Macintosh PowerPoint</Application>
  <PresentationFormat>宽屏</PresentationFormat>
  <Paragraphs>872</Paragraphs>
  <Slides>38</Slides>
  <Notes>38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1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商汤科技 SenseTime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商汤 AIGC 创新赋能新质生产力 —— 北大合肥论坛主旨演讲</dc:title>
  <dc:subject>PptxGenJS Presentation</dc:subject>
  <dc:creator>商汤科技 · 大模型事业群</dc:creator>
  <cp:lastModifiedBy>戴婧妍</cp:lastModifiedBy>
  <cp:revision>4</cp:revision>
  <dcterms:created xsi:type="dcterms:W3CDTF">2026-07-10T18:07:35Z</dcterms:created>
  <dcterms:modified xsi:type="dcterms:W3CDTF">2026-07-11T03:17:08Z</dcterms:modified>
</cp:coreProperties>
</file>