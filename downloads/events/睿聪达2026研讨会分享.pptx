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37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7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68.png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67.png"/><Relationship Id="rId4" Type="http://schemas.openxmlformats.org/officeDocument/2006/relationships/image" Target="../media/image9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9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9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91.png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.png"/><Relationship Id="rId7" Type="http://schemas.openxmlformats.org/officeDocument/2006/relationships/image" Target="../media/image129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37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1.png"/><Relationship Id="rId4" Type="http://schemas.openxmlformats.org/officeDocument/2006/relationships/image" Target="../media/image13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19.png"/><Relationship Id="rId4" Type="http://schemas.openxmlformats.org/officeDocument/2006/relationships/image" Target="../media/image4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4.png"/><Relationship Id="rId4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194560"/>
            <a:ext cx="6949440" cy="6949440"/>
          </a:xfrm>
          <a:prstGeom prst="ellipse">
            <a:avLst/>
          </a:prstGeom>
          <a:solidFill>
            <a:srgbClr val="2C6498">
              <a:alpha val="1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389120" cy="4389120"/>
          </a:xfrm>
          <a:prstGeom prst="ellipse">
            <a:avLst/>
          </a:prstGeom>
          <a:solidFill>
            <a:srgbClr val="C2A14B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869680" y="822960"/>
            <a:ext cx="4297680" cy="4297680"/>
          </a:xfrm>
          <a:prstGeom prst="ellipse">
            <a:avLst/>
          </a:prstGeom>
          <a:noFill/>
          <a:ln w="12700">
            <a:solidFill>
              <a:srgbClr val="7AA0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应用专题 · 主题演讲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· 韩启微  商汤科技 副总裁 / 大模型商业化及生态负责人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55887" y="548640"/>
            <a:ext cx="2468880" cy="38404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55887" y="548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</a:t>
            </a:r>
            <a:r>
              <a:rPr lang="en-US" sz="1050" kern="0" spc="100" dirty="0" err="1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r>
              <a:rPr lang="en-US" sz="1050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050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r>
              <a:rPr lang="en-US" sz="1050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日 · </a:t>
            </a:r>
            <a:r>
              <a:rPr lang="en-US" sz="1050" kern="0" spc="100" dirty="0" err="1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下午专题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2212848"/>
            <a:ext cx="155448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66928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看清趋势 · 选对工具 · 亲手搭建 · 用好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281635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66928" y="38221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</a:t>
            </a:r>
            <a:r>
              <a:rPr lang="en-US" sz="36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真正用进你的业务与研发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· 农商行 · 保险 · 航空 · 能源电网    —— 面向 IT 科技与研发团队的落地实践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5852160"/>
            <a:ext cx="11057839" cy="0"/>
          </a:xfrm>
          <a:prstGeom prst="line">
            <a:avLst/>
          </a:prstGeom>
          <a:noFill/>
          <a:ln w="12700">
            <a:solidFill>
              <a:srgbClr val="2946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407" y="6035040"/>
            <a:ext cx="1737360" cy="4885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11BA480-F5BF-5008-E301-ED4B04A2B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882" y="2442210"/>
            <a:ext cx="1816100" cy="1816100"/>
          </a:xfrm>
          <a:prstGeom prst="rect">
            <a:avLst/>
          </a:prstGeom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3FF83244-ECB1-8DF3-8424-1ACB09318ED5}"/>
              </a:ext>
            </a:extLst>
          </p:cNvPr>
          <p:cNvSpPr/>
          <p:nvPr/>
        </p:nvSpPr>
        <p:spPr>
          <a:xfrm>
            <a:off x="566928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韩启微 · 商汤科技 副总裁 / 大模型商业化及生态负责人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ABOUT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关于商汤：一家把大模型「用起来」的公司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国内为数不多同时具备算力、自研多模态大模型、Agent 生态与落地服务的完整闭环厂商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52443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2688336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20672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以原创技术研究为根基的人工智能公司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1398" y="1828800"/>
            <a:ext cx="252443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41139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667430" y="2084832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日日新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67430" y="2688336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67430" y="3017520"/>
            <a:ext cx="20672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自研语言 / 多模态大模型体系，能力持续迭代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5868" y="1828800"/>
            <a:ext cx="252443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5586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511900" y="2084832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+ 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11900" y="2688336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灵活部署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1900" y="3017520"/>
            <a:ext cx="20672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云端旗舰 + 可私有化的本地模型，按需搭配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00337" y="1828800"/>
            <a:ext cx="252443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100337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356369" y="2084832"/>
            <a:ext cx="20672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全行业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356369" y="2688336"/>
            <a:ext cx="20672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落地陪跑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56369" y="3017520"/>
            <a:ext cx="20672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能源 / 政务 / 制造等多行业规模化落地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4023360"/>
            <a:ext cx="11057839" cy="2011680"/>
          </a:xfrm>
          <a:prstGeom prst="roundRect">
            <a:avLst>
              <a:gd name="adj" fmla="val 4091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66928" y="4023360"/>
            <a:ext cx="91440" cy="201168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32688" y="4224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今天和大家聊什么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45902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不讲空概念 —— 只讲「怎么把 AI 真正用进你的每一天」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2688" y="5175504"/>
            <a:ext cx="166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2688" y="543153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看清趋势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32688" y="570585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为什么是现在的事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2967228" y="5175504"/>
            <a:ext cx="166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67228" y="543153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选对工具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967228" y="570585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+ 本地怎么搭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5001768" y="5175504"/>
            <a:ext cx="166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01768" y="543153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亲手搭建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01768" y="570585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现场搭出能用的助理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7036308" y="5175504"/>
            <a:ext cx="1668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36308" y="543153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 · 用得安全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036308" y="5705856"/>
            <a:ext cx="1943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数据分级 · 安全可控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9162288" y="4297680"/>
            <a:ext cx="0" cy="146304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436608" y="4370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· 大模型事业群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436608" y="4754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为企业提供从模型、Agent 到落地陪跑的一站式 AI 能力。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内容导览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七个部分 · 从看清趋势到亲手搭建、从安全合规到落地路径，再到商汤能力与 FDE 陪跑 —— 一站式把 AI 用起来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682496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04672" y="1773936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26464" y="168249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看清趋势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727448" y="1810512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56048" y="1682496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拐点 · 三年演进 · 什么是助理 · 能力来源 · 认知校准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11002975" y="1764792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337" y="1874154"/>
            <a:ext cx="201900" cy="2019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6928" y="2350008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04672" y="2441448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04672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26464" y="2350008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你的场景与案例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4727448" y="2478024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956048" y="235000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五类客群 · 六大行业 · 银行科技高频高量 · 标杆案例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11002975" y="2432304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337" y="2541666"/>
            <a:ext cx="201900" cy="2019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66928" y="3017520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04672" y="3108960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804672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426464" y="3017520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选对工具 · 亲手搭建</a:t>
            </a:r>
            <a:endParaRPr lang="en-US" sz="1550" dirty="0"/>
          </a:p>
        </p:txBody>
      </p:sp>
      <p:sp>
        <p:nvSpPr>
          <p:cNvPr id="28" name="Shape 24"/>
          <p:cNvSpPr/>
          <p:nvPr/>
        </p:nvSpPr>
        <p:spPr>
          <a:xfrm>
            <a:off x="4727448" y="3145536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4956048" y="3017520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云端与本地 · 三个助理现场搭 · 用好 AI 三个习惯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11002975" y="3099816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337" y="3209178"/>
            <a:ext cx="201900" cy="2019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566928" y="3685032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804672" y="3776472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/>
        </p:nvSpPr>
        <p:spPr>
          <a:xfrm>
            <a:off x="804672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1426464" y="368503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用得安全</a:t>
            </a:r>
            <a:endParaRPr lang="en-US" sz="1550" dirty="0"/>
          </a:p>
        </p:txBody>
      </p:sp>
      <p:sp>
        <p:nvSpPr>
          <p:cNvPr id="36" name="Shape 31"/>
          <p:cNvSpPr/>
          <p:nvPr/>
        </p:nvSpPr>
        <p:spPr>
          <a:xfrm>
            <a:off x="4727448" y="3813048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4956048" y="3685032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监管底线 · 数据分级 · 部署矩阵 · 安全架构 · 使用红线</a:t>
            </a:r>
            <a:endParaRPr lang="en-US" sz="1080" dirty="0"/>
          </a:p>
        </p:txBody>
      </p:sp>
      <p:sp>
        <p:nvSpPr>
          <p:cNvPr id="38" name="Shape 33"/>
          <p:cNvSpPr/>
          <p:nvPr/>
        </p:nvSpPr>
        <p:spPr>
          <a:xfrm>
            <a:off x="11002975" y="3767328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337" y="3876690"/>
            <a:ext cx="201900" cy="20190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66928" y="4352544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5"/>
          <p:cNvSpPr/>
          <p:nvPr/>
        </p:nvSpPr>
        <p:spPr>
          <a:xfrm>
            <a:off x="804672" y="4443984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6"/>
          <p:cNvSpPr/>
          <p:nvPr/>
        </p:nvSpPr>
        <p:spPr>
          <a:xfrm>
            <a:off x="804672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1426464" y="4352544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1550" dirty="0"/>
          </a:p>
        </p:txBody>
      </p:sp>
      <p:sp>
        <p:nvSpPr>
          <p:cNvPr id="44" name="Shape 38"/>
          <p:cNvSpPr/>
          <p:nvPr/>
        </p:nvSpPr>
        <p:spPr>
          <a:xfrm>
            <a:off x="4727448" y="4480560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9"/>
          <p:cNvSpPr/>
          <p:nvPr/>
        </p:nvSpPr>
        <p:spPr>
          <a:xfrm>
            <a:off x="4956048" y="4352544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从个人到组织 · 试点 · 治理 · 分行业建议 · 90 天计划</a:t>
            </a:r>
            <a:endParaRPr lang="en-US" sz="1080" dirty="0"/>
          </a:p>
        </p:txBody>
      </p:sp>
      <p:sp>
        <p:nvSpPr>
          <p:cNvPr id="46" name="Shape 40"/>
          <p:cNvSpPr/>
          <p:nvPr/>
        </p:nvSpPr>
        <p:spPr>
          <a:xfrm>
            <a:off x="11002975" y="4434840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2337" y="4544202"/>
            <a:ext cx="201900" cy="201900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566928" y="5020056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2"/>
          <p:cNvSpPr/>
          <p:nvPr/>
        </p:nvSpPr>
        <p:spPr>
          <a:xfrm>
            <a:off x="804672" y="5111496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3"/>
          <p:cNvSpPr/>
          <p:nvPr/>
        </p:nvSpPr>
        <p:spPr>
          <a:xfrm>
            <a:off x="804672" y="5102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51" name="Text 44"/>
          <p:cNvSpPr/>
          <p:nvPr/>
        </p:nvSpPr>
        <p:spPr>
          <a:xfrm>
            <a:off x="1426464" y="5020056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与商汤同行</a:t>
            </a:r>
            <a:endParaRPr lang="en-US" sz="1550" dirty="0"/>
          </a:p>
        </p:txBody>
      </p:sp>
      <p:sp>
        <p:nvSpPr>
          <p:cNvPr id="52" name="Shape 45"/>
          <p:cNvSpPr/>
          <p:nvPr/>
        </p:nvSpPr>
        <p:spPr>
          <a:xfrm>
            <a:off x="4727448" y="5148072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6"/>
          <p:cNvSpPr/>
          <p:nvPr/>
        </p:nvSpPr>
        <p:spPr>
          <a:xfrm>
            <a:off x="4956048" y="5020056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完整能力栈 · 产品清单 · 为什么选商汤 · 开放不锁定</a:t>
            </a:r>
            <a:endParaRPr lang="en-US" sz="1080" dirty="0"/>
          </a:p>
        </p:txBody>
      </p:sp>
      <p:sp>
        <p:nvSpPr>
          <p:cNvPr id="54" name="Shape 47"/>
          <p:cNvSpPr/>
          <p:nvPr/>
        </p:nvSpPr>
        <p:spPr>
          <a:xfrm>
            <a:off x="11002975" y="5102352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12337" y="5211714"/>
            <a:ext cx="201900" cy="201900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566928" y="5687568"/>
            <a:ext cx="11057839" cy="585216"/>
          </a:xfrm>
          <a:prstGeom prst="roundRect">
            <a:avLst>
              <a:gd name="adj" fmla="val 1406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9"/>
          <p:cNvSpPr/>
          <p:nvPr/>
        </p:nvSpPr>
        <p:spPr>
          <a:xfrm>
            <a:off x="804672" y="5779008"/>
            <a:ext cx="402336" cy="402336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0"/>
          <p:cNvSpPr/>
          <p:nvPr/>
        </p:nvSpPr>
        <p:spPr>
          <a:xfrm>
            <a:off x="804672" y="5769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59" name="Text 51"/>
          <p:cNvSpPr/>
          <p:nvPr/>
        </p:nvSpPr>
        <p:spPr>
          <a:xfrm>
            <a:off x="1426464" y="5687568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1550" dirty="0"/>
          </a:p>
        </p:txBody>
      </p:sp>
      <p:sp>
        <p:nvSpPr>
          <p:cNvPr id="60" name="Shape 52"/>
          <p:cNvSpPr/>
          <p:nvPr/>
        </p:nvSpPr>
        <p:spPr>
          <a:xfrm>
            <a:off x="4727448" y="5815584"/>
            <a:ext cx="0" cy="32918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3"/>
          <p:cNvSpPr/>
          <p:nvPr/>
        </p:nvSpPr>
        <p:spPr>
          <a:xfrm>
            <a:off x="4956048" y="5687568"/>
            <a:ext cx="58823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FDE · 各行业价值 · 六步落地 · 边界 · 合作起步</a:t>
            </a:r>
            <a:endParaRPr lang="en-US" sz="1080" dirty="0"/>
          </a:p>
        </p:txBody>
      </p:sp>
      <p:sp>
        <p:nvSpPr>
          <p:cNvPr id="62" name="Shape 54"/>
          <p:cNvSpPr/>
          <p:nvPr/>
        </p:nvSpPr>
        <p:spPr>
          <a:xfrm>
            <a:off x="11002975" y="5769864"/>
            <a:ext cx="420624" cy="42062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2337" y="5879226"/>
            <a:ext cx="201900" cy="20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今天想和大家达成的：三个目标、一个共识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面向在座的金融、保险、航空、能源与科技研发团队 —— 无论你在哪个行业，方法是相通的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77824" y="2194560"/>
            <a:ext cx="749808" cy="74980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774" y="2389510"/>
            <a:ext cx="359908" cy="3599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92224" y="2249424"/>
            <a:ext cx="1979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01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92224" y="2505456"/>
            <a:ext cx="2070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人人会用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3127248"/>
            <a:ext cx="2838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每位同事都能创建并用好「自己的 AI 助理」，把它当随叫随到的实习生与分析师。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74794" y="1828800"/>
            <a:ext cx="344210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685690" y="2194560"/>
            <a:ext cx="749808" cy="74980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40" y="2389510"/>
            <a:ext cx="359908" cy="3599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00090" y="2249424"/>
            <a:ext cx="1979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02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600090" y="2505456"/>
            <a:ext cx="2070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事事见效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685690" y="3127248"/>
            <a:ext cx="2838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围绕你行业里真实的高频业务，找到能立刻提效的场景并跑通、见到效果。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82661" y="1828800"/>
            <a:ext cx="344210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8182661" y="1828800"/>
            <a:ext cx="344210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8493557" y="2194560"/>
            <a:ext cx="749808" cy="74980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507" y="2389510"/>
            <a:ext cx="359908" cy="3599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407957" y="2249424"/>
            <a:ext cx="19790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03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407957" y="2505456"/>
            <a:ext cx="2070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用得安全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493557" y="3127248"/>
            <a:ext cx="28386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在数据合规与行业监管的底线内使用 AI —— 知道什么能用、怎么用、红线在哪。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66928" y="4434840"/>
            <a:ext cx="11057839" cy="1600200"/>
          </a:xfrm>
          <a:prstGeom prst="roundRect">
            <a:avLst>
              <a:gd name="adj" fmla="val 514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566928" y="4434840"/>
            <a:ext cx="91440" cy="1600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932688" y="46268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一个共识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932688" y="499262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不是要取代谁，而是给每个人配一个「不知疲倦的助手」。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932688" y="5468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用得好的人，会比不用的人效率高出一个量级 —— 越早开始练，复利越大。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8247888" y="4663440"/>
            <a:ext cx="0" cy="118872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0"/>
          <p:cNvSpPr/>
          <p:nvPr/>
        </p:nvSpPr>
        <p:spPr>
          <a:xfrm>
            <a:off x="8613648" y="4736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+25~40%</a:t>
            </a:r>
            <a:endParaRPr lang="en-US" sz="3000" dirty="0"/>
          </a:p>
        </p:txBody>
      </p:sp>
      <p:sp>
        <p:nvSpPr>
          <p:cNvPr id="36" name="Text 31"/>
          <p:cNvSpPr/>
          <p:nvPr/>
        </p:nvSpPr>
        <p:spPr>
          <a:xfrm>
            <a:off x="8613648" y="53218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哈佛 × BCG 实证：用 AI 的知识工作者，任务完成速度 +25%、质量 +40%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看清趋势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 THE TREND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看懂方向，再谈怎么做 —— 为什么「人人都有 AI 助理」是现在的事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已是确定性大势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各行业怎么用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中心平台 → 个人助理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AI 助理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能力从哪里来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认知校准 · 避坑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趋势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已是确定性大势 —— 不是观点，而是数据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 × 用户规模 × 消耗增速 × 能力跃迁 × 成本下降 × 效率实证，六重证据指向同一结论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47258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2960" y="20665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209190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17904" y="2029968"/>
            <a:ext cx="2329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2960" y="2724912"/>
            <a:ext cx="3015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国家战略·人工智能+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2999232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"人工智能+"上升为国家行动，2027年智能体普及率目标超70%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359554" y="1810512"/>
            <a:ext cx="347258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615586" y="20665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233" y="2209190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10530" y="2029968"/>
            <a:ext cx="2329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8亿+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615586" y="2724912"/>
            <a:ext cx="3015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用户规模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15586" y="2999232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全球AI助理周活用户已达8亿量级，中国生成式AI用户超6亿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8152181" y="1810512"/>
            <a:ext cx="347258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8408213" y="20665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859" y="2209190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03157" y="2029968"/>
            <a:ext cx="2329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≈100倍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408213" y="2724912"/>
            <a:ext cx="3015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使用量·Token消耗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408213" y="2999232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头部平台月处理Token量一年增长近百倍，需求持续爆发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566928" y="3785616"/>
            <a:ext cx="347258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822960" y="404164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184294"/>
            <a:ext cx="263347" cy="26334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17904" y="4005072"/>
            <a:ext cx="2329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70%+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822960" y="4700016"/>
            <a:ext cx="3015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Agent能干活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822960" y="4974336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真实软件与办公任务自主完成率从个位数跃升至70%以上</a:t>
            </a:r>
            <a:endParaRPr lang="en-US" sz="960" dirty="0"/>
          </a:p>
        </p:txBody>
      </p:sp>
      <p:sp>
        <p:nvSpPr>
          <p:cNvPr id="32" name="Shape 26"/>
          <p:cNvSpPr/>
          <p:nvPr/>
        </p:nvSpPr>
        <p:spPr>
          <a:xfrm>
            <a:off x="4359554" y="3785616"/>
            <a:ext cx="347258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4615586" y="404164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233" y="4184294"/>
            <a:ext cx="263347" cy="26334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10530" y="4005072"/>
            <a:ext cx="2329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-80%/年</a:t>
            </a:r>
            <a:endParaRPr lang="en-US" sz="2600" dirty="0"/>
          </a:p>
        </p:txBody>
      </p:sp>
      <p:sp>
        <p:nvSpPr>
          <p:cNvPr id="36" name="Text 29"/>
          <p:cNvSpPr/>
          <p:nvPr/>
        </p:nvSpPr>
        <p:spPr>
          <a:xfrm>
            <a:off x="4615586" y="4700016"/>
            <a:ext cx="3015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成本逐年下降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4615586" y="4974336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同等能力大模型调用成本约每年下降80%，用得起门槛骤降</a:t>
            </a:r>
            <a:endParaRPr lang="en-US" sz="960" dirty="0"/>
          </a:p>
        </p:txBody>
      </p:sp>
      <p:sp>
        <p:nvSpPr>
          <p:cNvPr id="38" name="Shape 31"/>
          <p:cNvSpPr/>
          <p:nvPr/>
        </p:nvSpPr>
        <p:spPr>
          <a:xfrm>
            <a:off x="8152181" y="3785616"/>
            <a:ext cx="3472586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8408213" y="404164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0859" y="4184294"/>
            <a:ext cx="263347" cy="263347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103157" y="4005072"/>
            <a:ext cx="2329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30%+</a:t>
            </a:r>
            <a:endParaRPr lang="en-US" sz="2600" dirty="0"/>
          </a:p>
        </p:txBody>
      </p:sp>
      <p:sp>
        <p:nvSpPr>
          <p:cNvPr id="42" name="Text 34"/>
          <p:cNvSpPr/>
          <p:nvPr/>
        </p:nvSpPr>
        <p:spPr>
          <a:xfrm>
            <a:off x="8408213" y="4700016"/>
            <a:ext cx="3015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提效实证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8408213" y="4974336"/>
            <a:ext cx="30153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客服、研发、写作等知识工作实测提效30%以上，已被广泛验证</a:t>
            </a:r>
            <a:endParaRPr lang="en-US" sz="960" dirty="0"/>
          </a:p>
        </p:txBody>
      </p:sp>
      <p:sp>
        <p:nvSpPr>
          <p:cNvPr id="44" name="Shape 36"/>
          <p:cNvSpPr/>
          <p:nvPr/>
        </p:nvSpPr>
        <p:spPr>
          <a:xfrm>
            <a:off x="566928" y="5797296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7"/>
          <p:cNvSpPr/>
          <p:nvPr/>
        </p:nvSpPr>
        <p:spPr>
          <a:xfrm>
            <a:off x="566928" y="579729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用不用AI，已经不是选择题，而是"早用早受益、晚用补代价"的必答题。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演进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三年三级跳：从「会答题」到「能干活、进流程」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短短三年，AI 从一个会聊天的工具，长成一个能独立完成任务、融入工作流的「数字员工」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32688" y="2468880"/>
            <a:ext cx="10326319" cy="0"/>
          </a:xfrm>
          <a:prstGeom prst="line">
            <a:avLst/>
          </a:prstGeom>
          <a:noFill/>
          <a:ln w="254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710271" y="2350008"/>
            <a:ext cx="237744" cy="237744"/>
          </a:xfrm>
          <a:prstGeom prst="ellipse">
            <a:avLst/>
          </a:prstGeom>
          <a:solidFill>
            <a:srgbClr val="7AA0C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697480"/>
            <a:ext cx="2524430" cy="28803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66928" y="2697480"/>
            <a:ext cx="2524430" cy="82296"/>
          </a:xfrm>
          <a:prstGeom prst="rect">
            <a:avLst/>
          </a:prstGeom>
          <a:solidFill>
            <a:srgbClr val="7AA0C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49808" y="3008376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9808" y="3794760"/>
            <a:ext cx="2158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会答题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509103" y="4288536"/>
            <a:ext cx="640080" cy="0"/>
          </a:xfrm>
          <a:prstGeom prst="line">
            <a:avLst/>
          </a:prstGeom>
          <a:noFill/>
          <a:ln w="25400">
            <a:solidFill>
              <a:srgbClr val="7AA0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4672" y="4453128"/>
            <a:ext cx="20489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能对话、能写作 —— 但要靠人来用，产出好坏靠你判断。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00502" y="37033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54741" y="2350008"/>
            <a:ext cx="237744" cy="237744"/>
          </a:xfrm>
          <a:prstGeom prst="ellipse">
            <a:avLst/>
          </a:prstGeom>
          <a:solidFill>
            <a:srgbClr val="2C649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411398" y="2697480"/>
            <a:ext cx="2524430" cy="28803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411398" y="2697480"/>
            <a:ext cx="2524430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594278" y="3008376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594278" y="3794760"/>
            <a:ext cx="2158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会读懂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353573" y="4288536"/>
            <a:ext cx="640080" cy="0"/>
          </a:xfrm>
          <a:prstGeom prst="line">
            <a:avLst/>
          </a:prstGeom>
          <a:noFill/>
          <a:ln w="254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649142" y="4453128"/>
            <a:ext cx="20489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多模态登场：看懂图像、文档、表格、语音，读得懂真实材料。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4972" y="37033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99211" y="2350008"/>
            <a:ext cx="237744" cy="237744"/>
          </a:xfrm>
          <a:prstGeom prst="ellipse">
            <a:avLst/>
          </a:prstGeom>
          <a:solidFill>
            <a:srgbClr val="C2A14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255868" y="2697480"/>
            <a:ext cx="2524430" cy="2880360"/>
          </a:xfrm>
          <a:prstGeom prst="roundRect">
            <a:avLst>
              <a:gd name="adj" fmla="val 326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255868" y="269748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38748" y="3008376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438748" y="3794760"/>
            <a:ext cx="2158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会干活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198043" y="4288536"/>
            <a:ext cx="64008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93612" y="4453128"/>
            <a:ext cx="20489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自主拆解任务、调用工具、连续完成数小时的多步工作。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89441" y="37033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0243680" y="2350008"/>
            <a:ext cx="237744" cy="237744"/>
          </a:xfrm>
          <a:prstGeom prst="ellipse">
            <a:avLst/>
          </a:prstGeom>
          <a:solidFill>
            <a:srgbClr val="C2A14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100337" y="2697480"/>
            <a:ext cx="2524430" cy="2880360"/>
          </a:xfrm>
          <a:prstGeom prst="roundRect">
            <a:avLst>
              <a:gd name="adj" fmla="val 326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100337" y="269748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283217" y="3008376"/>
            <a:ext cx="2158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9283217" y="3794760"/>
            <a:ext cx="2158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进流程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10042512" y="4288536"/>
            <a:ext cx="640080" cy="0"/>
          </a:xfrm>
          <a:prstGeom prst="line">
            <a:avLst/>
          </a:prstGeom>
          <a:noFill/>
          <a:ln w="254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338081" y="4453128"/>
            <a:ext cx="204894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接入你的系统与数据，融入日常流程、定时自动跑 —— 真正进业务。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797296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66928" y="579729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对你的意义   </a:t>
            </a: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 AI 已经越过「能不能用」的门槛 —— 问题只剩「你有没有把它用进业务」。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范式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范式之变：从「中心化平台」到「人人都有 AI 助理」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去年企业想的是「建一个大平台」，今年真正落地的是「给每个人配一个助理」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5254600" cy="2788920"/>
          </a:xfrm>
          <a:prstGeom prst="roundRect">
            <a:avLst>
              <a:gd name="adj" fmla="val 2951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32688" y="2148840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昨天 · 2024–2025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441448"/>
            <a:ext cx="452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中心化大平台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0976" y="3044952"/>
            <a:ext cx="640080" cy="36576"/>
          </a:xfrm>
          <a:prstGeom prst="rect">
            <a:avLst/>
          </a:prstGeom>
          <a:solidFill>
            <a:srgbClr val="6E7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32688" y="324612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牵头建一套「智能体平台 + 知识库」推给全员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70332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重、慢、强推难落地，建好了用的人不多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416052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能力固定，跟不上模型每月一变的节奏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70168" y="1874520"/>
            <a:ext cx="5254600" cy="2788920"/>
          </a:xfrm>
          <a:prstGeom prst="roundRect">
            <a:avLst>
              <a:gd name="adj" fmla="val 2951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35928" y="2148840"/>
            <a:ext cx="452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·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35928" y="2441448"/>
            <a:ext cx="452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754216" y="3044952"/>
            <a:ext cx="640080" cy="3657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35928" y="324612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2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每个人有自己的 AI 助理，配自己的记忆与资料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35928" y="370332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2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 Skill / MCP 工具，能调数据、能干活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35928" y="4160520"/>
            <a:ext cx="457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2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踩在通用大模型肩膀上，自动跟着升级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39816" y="2880360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66928" y="4937760"/>
            <a:ext cx="11057839" cy="109728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96112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对你的启示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541324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不必先砸钱自建大平台 —— 先让每个人用「通用大模型 + 助理」把手头的活干漂亮，跑通了再沉淀成团队和组织的资产。这条路更快、更省、风险更低。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概念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什么是「AI 助理」：从会聊天，到会干活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不是一个更聪明的搜索框 —— 而是一个能理解任务、调用工具、把活干完交付的数字员工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会聊天的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432304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你问一句、它答一句。给信息、给草稿，但要不要用、怎么落地，全靠你自己。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77824" y="305409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「帮我写段话」「这是什么意思」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5029200" cy="1828800"/>
          </a:xfrm>
          <a:prstGeom prst="roundRect">
            <a:avLst>
              <a:gd name="adj" fmla="val 45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3840480"/>
            <a:ext cx="82296" cy="18288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7824" y="40599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会干活的 AI 助理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4443984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你交代目标，它自己拆步骤、查资料、调工具、产出成品 —— 像一个随叫随到的实习生。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824" y="5065776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「把这 5 份研报读了，按我关注的口径出一页纪要」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53328" y="1810512"/>
            <a:ext cx="55714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一个「能干活」的助理，具备四件事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53328" y="2249424"/>
            <a:ext cx="55714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272784" y="2423160"/>
            <a:ext cx="438912" cy="43891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01" y="2537277"/>
            <a:ext cx="210678" cy="21067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94576" y="2377440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听懂任务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94576" y="2670048"/>
            <a:ext cx="4565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理解你的目标与上下文，不是逐字执行而是抓住意图。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6053328" y="3145536"/>
            <a:ext cx="55714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6272784" y="3319272"/>
            <a:ext cx="438912" cy="43891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901" y="3433389"/>
            <a:ext cx="210678" cy="21067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94576" y="3273552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拥有记忆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6894576" y="3566160"/>
            <a:ext cx="4565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记得你是谁、负责什么、偏好什么口径，越用越懂你。</a:t>
            </a:r>
            <a:endParaRPr lang="en-US" sz="1030" dirty="0"/>
          </a:p>
        </p:txBody>
      </p:sp>
      <p:sp>
        <p:nvSpPr>
          <p:cNvPr id="28" name="Shape 24"/>
          <p:cNvSpPr/>
          <p:nvPr/>
        </p:nvSpPr>
        <p:spPr>
          <a:xfrm>
            <a:off x="6053328" y="4041648"/>
            <a:ext cx="55714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6272784" y="4215384"/>
            <a:ext cx="438912" cy="43891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901" y="4329501"/>
            <a:ext cx="210678" cy="21067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94576" y="4169664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会用工具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6894576" y="4462272"/>
            <a:ext cx="4565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能查资料、读文件、调数据、连系统 —— 不只在对话框里。</a:t>
            </a:r>
            <a:endParaRPr lang="en-US" sz="1030" dirty="0"/>
          </a:p>
        </p:txBody>
      </p:sp>
      <p:sp>
        <p:nvSpPr>
          <p:cNvPr id="33" name="Shape 28"/>
          <p:cNvSpPr/>
          <p:nvPr/>
        </p:nvSpPr>
        <p:spPr>
          <a:xfrm>
            <a:off x="6053328" y="4937760"/>
            <a:ext cx="55714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6272784" y="5111496"/>
            <a:ext cx="438912" cy="43891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901" y="5225613"/>
            <a:ext cx="210678" cy="21067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94576" y="5065776"/>
            <a:ext cx="45655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交付成品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6894576" y="5358384"/>
            <a:ext cx="4565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产出可直接用的纪要 / 表格 / 文稿 / 代码，并能复核。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原理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助理的能力，从哪里来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四块积木拼出一个懂你、会干活的助理 —— 理解了它，你就知道怎么把它「养」得更强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524430" cy="32004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2524430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435951" y="2185416"/>
            <a:ext cx="786384" cy="78638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275" y="2397740"/>
            <a:ext cx="361737" cy="36173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309981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49808" y="3429000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9808" y="372160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助理的「大脑」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384" y="4087368"/>
            <a:ext cx="20855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负责理解、推理、生成。模型越强，听懂与产出的天花板越高 —— 选对模型是第一步。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3109646" y="3154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411398" y="1874520"/>
            <a:ext cx="2524430" cy="32004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3411398" y="187452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280421" y="2185416"/>
            <a:ext cx="786384" cy="78638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744" y="2397740"/>
            <a:ext cx="361737" cy="36173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94278" y="309981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· 知识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3594278" y="3429000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&amp; RAG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594278" y="372160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助理的「履历」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630854" y="4087368"/>
            <a:ext cx="20855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你的身份、偏好、专属资料与制度文档。把你的业务知识喂给它，它才「懂你」。</a:t>
            </a:r>
            <a:endParaRPr lang="en-US" sz="1030" dirty="0"/>
          </a:p>
        </p:txBody>
      </p:sp>
      <p:sp>
        <p:nvSpPr>
          <p:cNvPr id="25" name="Text 21"/>
          <p:cNvSpPr/>
          <p:nvPr/>
        </p:nvSpPr>
        <p:spPr>
          <a:xfrm>
            <a:off x="5954116" y="3154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400" dirty="0"/>
          </a:p>
        </p:txBody>
      </p:sp>
      <p:sp>
        <p:nvSpPr>
          <p:cNvPr id="26" name="Shape 22"/>
          <p:cNvSpPr/>
          <p:nvPr/>
        </p:nvSpPr>
        <p:spPr>
          <a:xfrm>
            <a:off x="6255868" y="1874520"/>
            <a:ext cx="2524430" cy="32004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6255868" y="1874520"/>
            <a:ext cx="2524430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7124891" y="2185416"/>
            <a:ext cx="786384" cy="78638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214" y="2397740"/>
            <a:ext cx="361737" cy="36173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38748" y="309981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Skill</a:t>
            </a:r>
            <a:endParaRPr lang="en-US" sz="1650" dirty="0"/>
          </a:p>
        </p:txBody>
      </p:sp>
      <p:sp>
        <p:nvSpPr>
          <p:cNvPr id="31" name="Text 26"/>
          <p:cNvSpPr/>
          <p:nvPr/>
        </p:nvSpPr>
        <p:spPr>
          <a:xfrm>
            <a:off x="6438748" y="3429000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38748" y="372160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助理的「手艺」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475324" y="4087368"/>
            <a:ext cx="20855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把一类任务的标准做法固化成可复用技能 —— 写纪要、做速读、出周报，一键调用。</a:t>
            </a:r>
            <a:endParaRPr lang="en-US" sz="1030" dirty="0"/>
          </a:p>
        </p:txBody>
      </p:sp>
      <p:sp>
        <p:nvSpPr>
          <p:cNvPr id="34" name="Text 29"/>
          <p:cNvSpPr/>
          <p:nvPr/>
        </p:nvSpPr>
        <p:spPr>
          <a:xfrm>
            <a:off x="8798585" y="315468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400" dirty="0"/>
          </a:p>
        </p:txBody>
      </p:sp>
      <p:sp>
        <p:nvSpPr>
          <p:cNvPr id="35" name="Shape 30"/>
          <p:cNvSpPr/>
          <p:nvPr/>
        </p:nvSpPr>
        <p:spPr>
          <a:xfrm>
            <a:off x="9100337" y="1874520"/>
            <a:ext cx="2524430" cy="32004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1"/>
          <p:cNvSpPr/>
          <p:nvPr/>
        </p:nvSpPr>
        <p:spPr>
          <a:xfrm>
            <a:off x="9100337" y="1874520"/>
            <a:ext cx="2524430" cy="82296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2"/>
          <p:cNvSpPr/>
          <p:nvPr/>
        </p:nvSpPr>
        <p:spPr>
          <a:xfrm>
            <a:off x="9969360" y="2185416"/>
            <a:ext cx="786384" cy="78638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1684" y="2397740"/>
            <a:ext cx="361737" cy="361737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283217" y="309981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MCP</a:t>
            </a:r>
            <a:endParaRPr lang="en-US" sz="1650" dirty="0"/>
          </a:p>
        </p:txBody>
      </p:sp>
      <p:sp>
        <p:nvSpPr>
          <p:cNvPr id="40" name="Text 34"/>
          <p:cNvSpPr/>
          <p:nvPr/>
        </p:nvSpPr>
        <p:spPr>
          <a:xfrm>
            <a:off x="9283217" y="3429000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/ MCP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9283217" y="372160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助理的「手脚」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9319793" y="4087368"/>
            <a:ext cx="20855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MCP 连接外部系统与数据 —— 让助理能真正去查、去取、去写，而不止于聊天。</a:t>
            </a:r>
            <a:endParaRPr lang="en-US" sz="1030" dirty="0"/>
          </a:p>
        </p:txBody>
      </p:sp>
      <p:sp>
        <p:nvSpPr>
          <p:cNvPr id="43" name="Shape 37"/>
          <p:cNvSpPr/>
          <p:nvPr/>
        </p:nvSpPr>
        <p:spPr>
          <a:xfrm>
            <a:off x="566928" y="528523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8"/>
          <p:cNvSpPr/>
          <p:nvPr/>
        </p:nvSpPr>
        <p:spPr>
          <a:xfrm>
            <a:off x="932688" y="5285232"/>
            <a:ext cx="103263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  </a:t>
            </a: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强模型  +  你的知识  +  好用的技能  +  能连系统的工具  =  一个真正「懂你、能干活」的 AI 助理。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同业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你所在的行业，正在被 AI 重构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从金融到能源、从研发到客服 —— 头部企业已把大模型用进核心业务流程，你的同行可能已经在用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2194560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04" y="2346716"/>
            <a:ext cx="280904" cy="280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72768" y="224942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· 证券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2889504"/>
            <a:ext cx="2911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投研速读、信贷尽调、合规反洗钱、智能客服，把海量资料变成可用观点。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374794" y="192024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649114" y="2194560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271" y="234671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80634" y="224942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49114" y="2889504"/>
            <a:ext cx="2911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核保理赔材料审核、代理人展业话术、条款问答与反欺诈，长文档读得又快又准。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182661" y="192024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8456981" y="2194560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137" y="2346716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8501" y="224942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 · 电网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56981" y="2889504"/>
            <a:ext cx="2911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规程预案秒级问答、设备缺陷研判、安监作业管控，让现场经验沉淀复用。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566928" y="3986784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841248" y="4261104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04" y="4413260"/>
            <a:ext cx="280904" cy="280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72768" y="4315968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 · 交通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41248" y="4956048"/>
            <a:ext cx="2911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机务手册问答、运行签派辅助、QAR 事件分析、收益营销，安全与效率同时起飞。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4374794" y="3986784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4649114" y="4261104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1271" y="4413260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80634" y="4315968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 · 研发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649114" y="4956048"/>
            <a:ext cx="2911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代码生成与评审、单测与缺陷定位、运维排障、研发度量，研发人效成倍提升。</a:t>
            </a:r>
            <a:endParaRPr lang="en-US" sz="1080" dirty="0"/>
          </a:p>
        </p:txBody>
      </p:sp>
      <p:sp>
        <p:nvSpPr>
          <p:cNvPr id="33" name="Shape 26"/>
          <p:cNvSpPr/>
          <p:nvPr/>
        </p:nvSpPr>
        <p:spPr>
          <a:xfrm>
            <a:off x="8182661" y="3986784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8456981" y="4261104"/>
            <a:ext cx="585216" cy="58521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9137" y="4413260"/>
            <a:ext cx="280904" cy="28090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88501" y="4315968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 · 客服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8456981" y="4956048"/>
            <a:ext cx="29117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知识库智能问答、工单自动分类、高频问题机器先答、人工只兜底，7×24 响应。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校准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认知校准：用好 AI 之前，先避开两类误区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管理者的误区决定「敢不敢推」，使用者的误区决定「用不用得好」—— 两头都要纠偏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00320" cy="4160520"/>
          </a:xfrm>
          <a:prstGeom prst="roundRect">
            <a:avLst>
              <a:gd name="adj" fmla="val 1978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206654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管理者常见误区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5420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2523744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「要不先建个大平台再说」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61872" y="2834640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先在个人/小团队跑通价值，再谈平台化，避免重投入打水漂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896112" y="3383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3364992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「等更成熟了再用」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61872" y="3675888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能力每月在变、成本每年腰斩，等待的代价是同业先甩开身位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896112" y="42245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4206240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「买了工具就等于用起来了」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61872" y="4517136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工具≠生产力，关键在场景、习惯与陪跑，否则 license 躺着睡觉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96112" y="506577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61872" y="5047488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会取代人，先观望」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61872" y="535838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短期是「会用 AI 的人」替代「不会用的人」，组织要做的是赋能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324448" y="1828800"/>
            <a:ext cx="5300320" cy="4160520"/>
          </a:xfrm>
          <a:prstGeom prst="roundRect">
            <a:avLst>
              <a:gd name="adj" fmla="val 1978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24448" y="1828800"/>
            <a:ext cx="82296" cy="416052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653632" y="206654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使用者常见误区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53632" y="254203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8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19392" y="2523744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「问一句不灵就说 AI 不行」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19392" y="2834640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把任务讲清楚、给上下文、多轮迭代，AI 是「调教」出来的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6653632" y="3383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8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19392" y="3364992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「只敢拿它当搜索引擎」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3675888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它能读文件、做表格、写代码、跑流程 —— 别只用 1% 的能力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6653632" y="42245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8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19392" y="4206240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「什么都敢往里贴」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19392" y="4517136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客户信息、未公开数据不能随手贴 —— 合规红线第四部分细讲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6653632" y="506577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8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19392" y="5047488"/>
            <a:ext cx="429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「一次性用完就忘」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019392" y="535838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把好用法沉淀成技能与习惯，让助理越用越懂你、越用越省力</a:t>
            </a:r>
            <a:endParaRPr lang="en-US" sz="1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你的场景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AI HELPS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到底能解决什么 —— 先看在座各行业，再看每天都在做的高频活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在座的你们 · 客群画像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通用职能 + 行业专业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 · 银行 · 农商行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 · 能源 · 航空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vs 传统系统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三类入口与选型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客群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在座的你们：五类客群，各有各的高频活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· 农商行 · 保险 · 航空 · 能源电网 —— 行业不同，但「把重复活交给 AI 助理」的逻辑相通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94944" y="1847088"/>
            <a:ext cx="2377440" cy="493776"/>
          </a:xfrm>
          <a:prstGeom prst="roundRect">
            <a:avLst>
              <a:gd name="adj" fmla="val 11111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04672" y="1856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大中型银行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" y="2130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9EE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建行/招行/杭州/华兴/汇丰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3419856" y="173736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重合规风控、要私有化与全程可审计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25896" y="1938528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190488" y="185623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信贷尽调与授信材料审阅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920076" y="1938528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84668" y="185623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跨条线会议纪要与决议跟踪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025896" y="2194560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190488" y="211226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监管政策解读与制度比对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920076" y="2194560"/>
            <a:ext cx="82296" cy="8229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84668" y="211226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客户投诉与舆情分析归因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942271" y="1865376"/>
            <a:ext cx="1609344" cy="457200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942271" y="186537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数据不出域、每步可追溯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6928" y="2560320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94944" y="2670048"/>
            <a:ext cx="2377440" cy="493776"/>
          </a:xfrm>
          <a:prstGeom prst="roundRect">
            <a:avLst>
              <a:gd name="adj" fmla="val 11111"/>
            </a:avLst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04672" y="2679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农商行/中小银行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4672" y="2953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9EE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江南农商/东莞/四川农商联合/新疆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419856" y="256032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人手紧、要开箱即用、低门槛提效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25896" y="2761488"/>
            <a:ext cx="82296" cy="82296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190488" y="267919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网点营销话术与产品问答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920076" y="2761488"/>
            <a:ext cx="82296" cy="82296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084668" y="267919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小微贷款材料整理核对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6025896" y="3017520"/>
            <a:ext cx="82296" cy="82296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190488" y="293522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本地客群报表与经营分析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920076" y="3017520"/>
            <a:ext cx="82296" cy="82296"/>
          </a:xfrm>
          <a:prstGeom prst="ellipse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084668" y="293522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内部制度与业务知识问答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9942271" y="2688336"/>
            <a:ext cx="1609344" cy="457200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942271" y="268833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投入小、上手快、见效快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66928" y="3383280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94944" y="3493008"/>
            <a:ext cx="2377440" cy="493776"/>
          </a:xfrm>
          <a:prstGeom prst="roundRect">
            <a:avLst>
              <a:gd name="adj" fmla="val 11111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04672" y="35021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04672" y="3776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9EE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平安/泰康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3419856" y="338328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重条款与理赔、要长文档精读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25896" y="3584448"/>
            <a:ext cx="82296" cy="82296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190488" y="350215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保单条款解读与责任比对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920076" y="3584448"/>
            <a:ext cx="82296" cy="82296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084668" y="350215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理赔材料审核与欺诈识别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025896" y="3840480"/>
            <a:ext cx="82296" cy="82296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190488" y="375818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代理人培训与话术生成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7920076" y="3840480"/>
            <a:ext cx="82296" cy="82296"/>
          </a:xfrm>
          <a:prstGeom prst="ellipse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084668" y="375818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客服工单归类与回复起草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9942271" y="3511296"/>
            <a:ext cx="1609344" cy="457200"/>
          </a:xfrm>
          <a:prstGeom prst="roundRect">
            <a:avLst>
              <a:gd name="adj" fmla="val 50000"/>
            </a:avLst>
          </a:prstGeom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942271" y="351129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长文档读得准、口径统一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566928" y="4206240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694944" y="4315968"/>
            <a:ext cx="2377440" cy="493776"/>
          </a:xfrm>
          <a:prstGeom prst="roundRect">
            <a:avLst>
              <a:gd name="adj" fmla="val 11111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04672" y="43251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04672" y="4599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9EE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南方航空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3419856" y="420624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重运行安全、要多源实时研判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25896" y="4407408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190488" y="432511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航班运行简报与延误归因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920076" y="4407408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084668" y="432511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维修手册与故障处置查询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6025896" y="4663440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190488" y="458114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值机客服高频问题应答</a:t>
            </a:r>
            <a:endParaRPr lang="en-US" sz="920" dirty="0"/>
          </a:p>
        </p:txBody>
      </p:sp>
      <p:sp>
        <p:nvSpPr>
          <p:cNvPr id="64" name="Shape 62"/>
          <p:cNvSpPr/>
          <p:nvPr/>
        </p:nvSpPr>
        <p:spPr>
          <a:xfrm>
            <a:off x="7920076" y="4663440"/>
            <a:ext cx="82296" cy="8229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084668" y="458114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安全通告解读与合规检查</a:t>
            </a:r>
            <a:endParaRPr lang="en-US" sz="920" dirty="0"/>
          </a:p>
        </p:txBody>
      </p:sp>
      <p:sp>
        <p:nvSpPr>
          <p:cNvPr id="66" name="Shape 64"/>
          <p:cNvSpPr/>
          <p:nvPr/>
        </p:nvSpPr>
        <p:spPr>
          <a:xfrm>
            <a:off x="9942271" y="4334256"/>
            <a:ext cx="1609344" cy="457200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942271" y="433425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响应要快、结论要可核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566928" y="5029200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694944" y="5138928"/>
            <a:ext cx="2377440" cy="493776"/>
          </a:xfrm>
          <a:prstGeom prst="roundRect">
            <a:avLst>
              <a:gd name="adj" fmla="val 11111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804672" y="51480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能源电网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804672" y="5422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9EE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南方电网下属公司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419856" y="5029200"/>
            <a:ext cx="2386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重稳定安全、要现场与知识沉淀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025896" y="5230368"/>
            <a:ext cx="82296" cy="82296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6190488" y="514807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设备台账与运维知识问答</a:t>
            </a:r>
            <a:endParaRPr lang="en-US" sz="920" dirty="0"/>
          </a:p>
        </p:txBody>
      </p:sp>
      <p:sp>
        <p:nvSpPr>
          <p:cNvPr id="75" name="Shape 73"/>
          <p:cNvSpPr/>
          <p:nvPr/>
        </p:nvSpPr>
        <p:spPr>
          <a:xfrm>
            <a:off x="7920076" y="5230368"/>
            <a:ext cx="82296" cy="82296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8084668" y="5148072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调度日志与告警分析研判</a:t>
            </a:r>
            <a:endParaRPr lang="en-US" sz="920" dirty="0"/>
          </a:p>
        </p:txBody>
      </p:sp>
      <p:sp>
        <p:nvSpPr>
          <p:cNvPr id="77" name="Shape 75"/>
          <p:cNvSpPr/>
          <p:nvPr/>
        </p:nvSpPr>
        <p:spPr>
          <a:xfrm>
            <a:off x="6025896" y="5486400"/>
            <a:ext cx="82296" cy="82296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6190488" y="540410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巡检报告整理与缺陷跟踪</a:t>
            </a:r>
            <a:endParaRPr lang="en-US" sz="920" dirty="0"/>
          </a:p>
        </p:txBody>
      </p:sp>
      <p:sp>
        <p:nvSpPr>
          <p:cNvPr id="79" name="Shape 77"/>
          <p:cNvSpPr/>
          <p:nvPr/>
        </p:nvSpPr>
        <p:spPr>
          <a:xfrm>
            <a:off x="7920076" y="5486400"/>
            <a:ext cx="82296" cy="82296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8084668" y="5404104"/>
            <a:ext cx="1693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标准规程解读与工单生成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9942271" y="5157216"/>
            <a:ext cx="1609344" cy="457200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9942271" y="515721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贴现场、经验可沉淀复用</a:t>
            </a:r>
            <a:endParaRPr lang="en-US" sz="880" dirty="0"/>
          </a:p>
        </p:txBody>
      </p:sp>
      <p:sp>
        <p:nvSpPr>
          <p:cNvPr id="83" name="Shape 81"/>
          <p:cNvSpPr/>
          <p:nvPr/>
        </p:nvSpPr>
        <p:spPr>
          <a:xfrm>
            <a:off x="566928" y="5870448"/>
            <a:ext cx="11057839" cy="530352"/>
          </a:xfrm>
          <a:prstGeom prst="roundRect">
            <a:avLst>
              <a:gd name="adj" fmla="val 1551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566928" y="5870448"/>
            <a:ext cx="82296" cy="5303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932688" y="5870448"/>
            <a:ext cx="103263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/ 科技部门的共性诉求   </a:t>
            </a: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要私有化部署、数据分级可控、模型可审计，让业务人员低门槛用起来，安全合规是前提。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全景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场景版图：通用职能人人可用，行业专业各有侧重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先看跨行业都能立刻上手的「通用职能场景」，再分行业细看你最痛的「专业场景」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通用职能 · 不分行业，人人都用得上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322576"/>
            <a:ext cx="191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252088" y="25237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221" y="2671877"/>
            <a:ext cx="252374" cy="2523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3145536"/>
            <a:ext cx="173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401568"/>
            <a:ext cx="177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录音转纪要+待办到人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2851648" y="2322576"/>
            <a:ext cx="191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536808" y="25237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941" y="2671877"/>
            <a:ext cx="252374" cy="2523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43088" y="3145536"/>
            <a:ext cx="173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材料与汇报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24800" y="3401568"/>
            <a:ext cx="177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数据+观点出简报初稿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5136368" y="2322576"/>
            <a:ext cx="191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5821528" y="25237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660" y="2671877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27808" y="3145536"/>
            <a:ext cx="173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209520" y="3401568"/>
            <a:ext cx="177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自然语言查数、出图表</a:t>
            </a:r>
            <a:endParaRPr lang="en-US" sz="860" dirty="0"/>
          </a:p>
        </p:txBody>
      </p:sp>
      <p:sp>
        <p:nvSpPr>
          <p:cNvPr id="25" name="Shape 20"/>
          <p:cNvSpPr/>
          <p:nvPr/>
        </p:nvSpPr>
        <p:spPr>
          <a:xfrm>
            <a:off x="7421088" y="2322576"/>
            <a:ext cx="191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8106247" y="25237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4380" y="2671877"/>
            <a:ext cx="252374" cy="2523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12528" y="3145536"/>
            <a:ext cx="173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知识/制度问答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94240" y="3401568"/>
            <a:ext cx="177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问一句、带出处即答</a:t>
            </a:r>
            <a:endParaRPr lang="en-US" sz="860" dirty="0"/>
          </a:p>
        </p:txBody>
      </p:sp>
      <p:sp>
        <p:nvSpPr>
          <p:cNvPr id="30" name="Shape 24"/>
          <p:cNvSpPr/>
          <p:nvPr/>
        </p:nvSpPr>
        <p:spPr>
          <a:xfrm>
            <a:off x="9705807" y="2322576"/>
            <a:ext cx="1918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10390967" y="2523744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100" y="2671877"/>
            <a:ext cx="252374" cy="25237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97247" y="3145536"/>
            <a:ext cx="173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长文速读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778959" y="3401568"/>
            <a:ext cx="177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几十页读成一页要点</a:t>
            </a:r>
            <a:endParaRPr lang="en-US" sz="860" dirty="0"/>
          </a:p>
        </p:txBody>
      </p:sp>
      <p:sp>
        <p:nvSpPr>
          <p:cNvPr id="35" name="Shape 28"/>
          <p:cNvSpPr/>
          <p:nvPr/>
        </p:nvSpPr>
        <p:spPr>
          <a:xfrm>
            <a:off x="566928" y="3968496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29"/>
          <p:cNvSpPr/>
          <p:nvPr/>
        </p:nvSpPr>
        <p:spPr>
          <a:xfrm>
            <a:off x="841248" y="3968496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行业专业 · 接下来分行业逐一细看（点开就是你每天的活）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566928" y="4553712"/>
            <a:ext cx="159913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1"/>
          <p:cNvSpPr/>
          <p:nvPr/>
        </p:nvSpPr>
        <p:spPr>
          <a:xfrm>
            <a:off x="566928" y="4553712"/>
            <a:ext cx="1599133" cy="7315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1101319" y="4754880"/>
            <a:ext cx="530352" cy="53035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514" y="4898075"/>
            <a:ext cx="243962" cy="24396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21792" y="5358384"/>
            <a:ext cx="1489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科技研发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603504" y="5614416"/>
            <a:ext cx="1525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AI4SE</a:t>
            </a:r>
            <a:endParaRPr lang="en-US" sz="820" dirty="0"/>
          </a:p>
        </p:txBody>
      </p:sp>
      <p:sp>
        <p:nvSpPr>
          <p:cNvPr id="43" name="Shape 35"/>
          <p:cNvSpPr/>
          <p:nvPr/>
        </p:nvSpPr>
        <p:spPr>
          <a:xfrm>
            <a:off x="2458669" y="4553712"/>
            <a:ext cx="159913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6"/>
          <p:cNvSpPr/>
          <p:nvPr/>
        </p:nvSpPr>
        <p:spPr>
          <a:xfrm>
            <a:off x="2458669" y="4553712"/>
            <a:ext cx="1599133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37"/>
          <p:cNvSpPr/>
          <p:nvPr/>
        </p:nvSpPr>
        <p:spPr>
          <a:xfrm>
            <a:off x="2993060" y="4754880"/>
            <a:ext cx="530352" cy="53035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6255" y="4898075"/>
            <a:ext cx="243962" cy="24396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513533" y="5358384"/>
            <a:ext cx="1489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2495245" y="5614416"/>
            <a:ext cx="1525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投研·信贷·合规</a:t>
            </a:r>
            <a:endParaRPr lang="en-US" sz="820" dirty="0"/>
          </a:p>
        </p:txBody>
      </p:sp>
      <p:sp>
        <p:nvSpPr>
          <p:cNvPr id="49" name="Shape 40"/>
          <p:cNvSpPr/>
          <p:nvPr/>
        </p:nvSpPr>
        <p:spPr>
          <a:xfrm>
            <a:off x="4350410" y="4553712"/>
            <a:ext cx="159913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1"/>
          <p:cNvSpPr/>
          <p:nvPr/>
        </p:nvSpPr>
        <p:spPr>
          <a:xfrm>
            <a:off x="4350410" y="4553712"/>
            <a:ext cx="1599133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2"/>
          <p:cNvSpPr/>
          <p:nvPr/>
        </p:nvSpPr>
        <p:spPr>
          <a:xfrm>
            <a:off x="4884801" y="4754880"/>
            <a:ext cx="530352" cy="53035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7996" y="4898075"/>
            <a:ext cx="243962" cy="24396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4405274" y="5358384"/>
            <a:ext cx="1489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农商行</a:t>
            </a:r>
            <a:endParaRPr lang="en-US" sz="1150" dirty="0"/>
          </a:p>
        </p:txBody>
      </p:sp>
      <p:sp>
        <p:nvSpPr>
          <p:cNvPr id="54" name="Text 44"/>
          <p:cNvSpPr/>
          <p:nvPr/>
        </p:nvSpPr>
        <p:spPr>
          <a:xfrm>
            <a:off x="4386986" y="5614416"/>
            <a:ext cx="1525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支农支小·普惠</a:t>
            </a:r>
            <a:endParaRPr lang="en-US" sz="820" dirty="0"/>
          </a:p>
        </p:txBody>
      </p:sp>
      <p:sp>
        <p:nvSpPr>
          <p:cNvPr id="55" name="Shape 45"/>
          <p:cNvSpPr/>
          <p:nvPr/>
        </p:nvSpPr>
        <p:spPr>
          <a:xfrm>
            <a:off x="6242152" y="4553712"/>
            <a:ext cx="159913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6"/>
          <p:cNvSpPr/>
          <p:nvPr/>
        </p:nvSpPr>
        <p:spPr>
          <a:xfrm>
            <a:off x="6242152" y="4553712"/>
            <a:ext cx="1599133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7"/>
          <p:cNvSpPr/>
          <p:nvPr/>
        </p:nvSpPr>
        <p:spPr>
          <a:xfrm>
            <a:off x="6776542" y="4754880"/>
            <a:ext cx="530352" cy="53035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9737" y="4898075"/>
            <a:ext cx="243962" cy="243962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6297016" y="5358384"/>
            <a:ext cx="1489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150" dirty="0"/>
          </a:p>
        </p:txBody>
      </p:sp>
      <p:sp>
        <p:nvSpPr>
          <p:cNvPr id="60" name="Text 49"/>
          <p:cNvSpPr/>
          <p:nvPr/>
        </p:nvSpPr>
        <p:spPr>
          <a:xfrm>
            <a:off x="6278728" y="5614416"/>
            <a:ext cx="1525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核保·理赔·展业</a:t>
            </a:r>
            <a:endParaRPr lang="en-US" sz="820" dirty="0"/>
          </a:p>
        </p:txBody>
      </p:sp>
      <p:sp>
        <p:nvSpPr>
          <p:cNvPr id="61" name="Shape 50"/>
          <p:cNvSpPr/>
          <p:nvPr/>
        </p:nvSpPr>
        <p:spPr>
          <a:xfrm>
            <a:off x="8133893" y="4553712"/>
            <a:ext cx="159913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1"/>
          <p:cNvSpPr/>
          <p:nvPr/>
        </p:nvSpPr>
        <p:spPr>
          <a:xfrm>
            <a:off x="8133893" y="4553712"/>
            <a:ext cx="1599133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52"/>
          <p:cNvSpPr/>
          <p:nvPr/>
        </p:nvSpPr>
        <p:spPr>
          <a:xfrm>
            <a:off x="8668283" y="4754880"/>
            <a:ext cx="530352" cy="53035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11478" y="4898075"/>
            <a:ext cx="243962" cy="243962"/>
          </a:xfrm>
          <a:prstGeom prst="rect">
            <a:avLst/>
          </a:prstGeom>
        </p:spPr>
      </p:pic>
      <p:sp>
        <p:nvSpPr>
          <p:cNvPr id="65" name="Text 53"/>
          <p:cNvSpPr/>
          <p:nvPr/>
        </p:nvSpPr>
        <p:spPr>
          <a:xfrm>
            <a:off x="8188757" y="5358384"/>
            <a:ext cx="1489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能源电网</a:t>
            </a:r>
            <a:endParaRPr lang="en-US" sz="1150" dirty="0"/>
          </a:p>
        </p:txBody>
      </p:sp>
      <p:sp>
        <p:nvSpPr>
          <p:cNvPr id="66" name="Text 54"/>
          <p:cNvSpPr/>
          <p:nvPr/>
        </p:nvSpPr>
        <p:spPr>
          <a:xfrm>
            <a:off x="8170469" y="5614416"/>
            <a:ext cx="1525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运维·调度·安监</a:t>
            </a:r>
            <a:endParaRPr lang="en-US" sz="820" dirty="0"/>
          </a:p>
        </p:txBody>
      </p:sp>
      <p:sp>
        <p:nvSpPr>
          <p:cNvPr id="67" name="Shape 55"/>
          <p:cNvSpPr/>
          <p:nvPr/>
        </p:nvSpPr>
        <p:spPr>
          <a:xfrm>
            <a:off x="10025634" y="4553712"/>
            <a:ext cx="1599133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56"/>
          <p:cNvSpPr/>
          <p:nvPr/>
        </p:nvSpPr>
        <p:spPr>
          <a:xfrm>
            <a:off x="10025634" y="4553712"/>
            <a:ext cx="1599133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57"/>
          <p:cNvSpPr/>
          <p:nvPr/>
        </p:nvSpPr>
        <p:spPr>
          <a:xfrm>
            <a:off x="10560025" y="4754880"/>
            <a:ext cx="530352" cy="53035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03220" y="4898075"/>
            <a:ext cx="243962" cy="243962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10080498" y="5358384"/>
            <a:ext cx="1489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</a:t>
            </a:r>
            <a:endParaRPr lang="en-US" sz="1150" dirty="0"/>
          </a:p>
        </p:txBody>
      </p:sp>
      <p:sp>
        <p:nvSpPr>
          <p:cNvPr id="72" name="Text 59"/>
          <p:cNvSpPr/>
          <p:nvPr/>
        </p:nvSpPr>
        <p:spPr>
          <a:xfrm>
            <a:off x="10062210" y="5614416"/>
            <a:ext cx="15259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机务·签派·收益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科技研发 AI4SE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研发提效·AI4SE 全链路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从需求到运维，AI助理贯穿研发全流程，让每个工程师多出一双手。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850392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154680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1911096"/>
            <a:ext cx="1197864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61688" y="1911096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测试工程师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42432" y="1911096"/>
            <a:ext cx="1197864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742432" y="1911096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运维工程师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23176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23176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研发效能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代码生成·补全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样板代码多、重复造轮子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按需求与规范生成代码、补全接口、写注释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代码评审·把关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省70%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评审排队、漏检隐患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自动审出坏味道、安全漏洞与规范问题并给改法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单测·缺陷定位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省60%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补测试没空、查Bug靠猜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生成单测、复现用例，顺着堆栈定位根因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运维排障·止血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半夜告警、翻日志到天亮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聚合告警日志、定位故障点、给出处置建议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线上接口突然报错，把告警和一段异常日志丢给助理 → 30秒内圈出出问题的服务和那行代码，还原调用链、给出3条可能根因和回滚建议，你确认后一键处置，故障从小时级压到分钟级。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私有部署·代码不出域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接现有研发流水线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度量提效看得见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银行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银行:让每个业务岗都配一位AI助理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投研、信贷尽调、合规反洗钱、零售营销——高频重活交给AI助理先跑一遍。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公司金融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28416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328416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35424" y="1911096"/>
            <a:ext cx="1197864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35424" y="1911096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合规反洗钱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16168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916168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零售营销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23176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23176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运营网点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投研与市场速读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研报公告读不完、观点难提炼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批量读研报公告、提炼要点与影响、生成投研简报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授信尽调材料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省70%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尽调材料多、授信报告写得慢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汇总财报流水与征信、起草尽调与授信报告初稿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合规反洗钱核查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省60%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可疑交易逐笔查、制度对照累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关联可疑交易、比对制度红线、生成核查底稿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零售营销话术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客服口径不一、话术更新慢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按客群产品生成合规话术、实时答疑辅助坐席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把一家授信客户的3年财报、银行流水和征信报告丢给助理 → 10分钟输出财务比率分析、还款能力评估、风险提示和一份授信报告初稿,你只需核对数据、补充结论、签字上会。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数据不出行、私有化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按岗位分级授权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结论可溯源可复核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银行科技部门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银行科技部门：AI 用得最高频、最高量的地方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 · 测试 · 运维 · 数据 · 安全 · 服务台 —— 天天在跑、量级巨大，正是 AI 提效的最佳主战场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208483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2232233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15798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研发编码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1248" y="2779776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841248" y="2852928"/>
            <a:ext cx="2930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  </a:t>
            </a:r>
            <a:r>
              <a:rPr lang="en-US" sz="9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千人研发、日均代码提交数万次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841248" y="3200400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实时代码生成/补全、单测与注释一键生成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4374794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649114" y="208483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516" y="2232233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62346" y="215798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649114" y="2779776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4649114" y="2852928"/>
            <a:ext cx="2930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  </a:t>
            </a:r>
            <a:r>
              <a:rPr lang="en-US" sz="9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每版回归数千用例，周期以周计</a:t>
            </a:r>
            <a:endParaRPr lang="en-US" sz="960" dirty="0"/>
          </a:p>
        </p:txBody>
      </p:sp>
      <p:sp>
        <p:nvSpPr>
          <p:cNvPr id="21" name="Text 17"/>
          <p:cNvSpPr/>
          <p:nvPr/>
        </p:nvSpPr>
        <p:spPr>
          <a:xfrm>
            <a:off x="4649114" y="3200400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需求转测试用例、自动化脚本与缺陷复现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8182661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8456981" y="208483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382" y="2232233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70213" y="215798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智能运维AIOps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456981" y="2779776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8456981" y="2852928"/>
            <a:ext cx="2930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  </a:t>
            </a:r>
            <a:r>
              <a:rPr lang="en-US" sz="9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7×24告警日均数万条、日志PB级</a:t>
            </a:r>
            <a:endParaRPr lang="en-US" sz="960" dirty="0"/>
          </a:p>
        </p:txBody>
      </p:sp>
      <p:sp>
        <p:nvSpPr>
          <p:cNvPr id="28" name="Text 23"/>
          <p:cNvSpPr/>
          <p:nvPr/>
        </p:nvSpPr>
        <p:spPr>
          <a:xfrm>
            <a:off x="8456981" y="3200400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告警降噪、根因定位、日志摘要与处置建议</a:t>
            </a:r>
            <a:endParaRPr lang="en-US" sz="960" dirty="0"/>
          </a:p>
        </p:txBody>
      </p:sp>
      <p:sp>
        <p:nvSpPr>
          <p:cNvPr id="29" name="Shape 24"/>
          <p:cNvSpPr/>
          <p:nvPr/>
        </p:nvSpPr>
        <p:spPr>
          <a:xfrm>
            <a:off x="566928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841248" y="408736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49" y="4234769"/>
            <a:ext cx="272125" cy="2721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54480" y="4160520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数据取数报表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841248" y="4782312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841248" y="4855464"/>
            <a:ext cx="2930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  </a:t>
            </a:r>
            <a:r>
              <a:rPr lang="en-US" sz="9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日均取数上千次、报表长尾无穷</a:t>
            </a:r>
            <a:endParaRPr lang="en-US" sz="960" dirty="0"/>
          </a:p>
        </p:txBody>
      </p:sp>
      <p:sp>
        <p:nvSpPr>
          <p:cNvPr id="35" name="Text 29"/>
          <p:cNvSpPr/>
          <p:nvPr/>
        </p:nvSpPr>
        <p:spPr>
          <a:xfrm>
            <a:off x="841248" y="5202936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自然语言转SQL、自助取数与报表自动生成</a:t>
            </a:r>
            <a:endParaRPr lang="en-US" sz="960" dirty="0"/>
          </a:p>
        </p:txBody>
      </p:sp>
      <p:sp>
        <p:nvSpPr>
          <p:cNvPr id="36" name="Shape 30"/>
          <p:cNvSpPr/>
          <p:nvPr/>
        </p:nvSpPr>
        <p:spPr>
          <a:xfrm>
            <a:off x="4374794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4649114" y="408736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516" y="4234769"/>
            <a:ext cx="272125" cy="27212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362346" y="4160520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信息安全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4649114" y="4782312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4"/>
          <p:cNvSpPr/>
          <p:nvPr/>
        </p:nvSpPr>
        <p:spPr>
          <a:xfrm>
            <a:off x="4649114" y="4855464"/>
            <a:ext cx="2930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  </a:t>
            </a:r>
            <a:r>
              <a:rPr lang="en-US" sz="9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百万行代码待审、安全事件高发</a:t>
            </a:r>
            <a:endParaRPr lang="en-US" sz="960" dirty="0"/>
          </a:p>
        </p:txBody>
      </p:sp>
      <p:sp>
        <p:nvSpPr>
          <p:cNvPr id="42" name="Text 35"/>
          <p:cNvSpPr/>
          <p:nvPr/>
        </p:nvSpPr>
        <p:spPr>
          <a:xfrm>
            <a:off x="4649114" y="5202936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代码审计、漏洞识别与安全事件研判辅助</a:t>
            </a:r>
            <a:endParaRPr lang="en-US" sz="960" dirty="0"/>
          </a:p>
        </p:txBody>
      </p:sp>
      <p:sp>
        <p:nvSpPr>
          <p:cNvPr id="43" name="Shape 36"/>
          <p:cNvSpPr/>
          <p:nvPr/>
        </p:nvSpPr>
        <p:spPr>
          <a:xfrm>
            <a:off x="8182661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7"/>
          <p:cNvSpPr/>
          <p:nvPr/>
        </p:nvSpPr>
        <p:spPr>
          <a:xfrm>
            <a:off x="8456981" y="4087368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4382" y="4234769"/>
            <a:ext cx="272125" cy="27212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170213" y="4160520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IT服务台</a:t>
            </a: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8456981" y="4782312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0"/>
          <p:cNvSpPr/>
          <p:nvPr/>
        </p:nvSpPr>
        <p:spPr>
          <a:xfrm>
            <a:off x="8456981" y="4855464"/>
            <a:ext cx="29300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高频高量  </a:t>
            </a:r>
            <a:r>
              <a:rPr lang="en-US" sz="9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海量重复工单、日均数千次咨询</a:t>
            </a:r>
            <a:endParaRPr lang="en-US" sz="960" dirty="0"/>
          </a:p>
        </p:txBody>
      </p:sp>
      <p:sp>
        <p:nvSpPr>
          <p:cNvPr id="49" name="Text 41"/>
          <p:cNvSpPr/>
          <p:nvPr/>
        </p:nvSpPr>
        <p:spPr>
          <a:xfrm>
            <a:off x="8456981" y="5202936"/>
            <a:ext cx="29300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知识问答、工单分类与解决方案推荐</a:t>
            </a:r>
            <a:endParaRPr lang="en-US" sz="960" dirty="0"/>
          </a:p>
        </p:txBody>
      </p:sp>
      <p:sp>
        <p:nvSpPr>
          <p:cNvPr id="50" name="Shape 42"/>
          <p:cNvSpPr/>
          <p:nvPr/>
        </p:nvSpPr>
        <p:spPr>
          <a:xfrm>
            <a:off x="566928" y="5797296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3"/>
          <p:cNvSpPr/>
          <p:nvPr/>
        </p:nvSpPr>
        <p:spPr>
          <a:xfrm>
            <a:off x="566928" y="579729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为什么先从科技部门切入   </a:t>
            </a:r>
            <a:r>
              <a:rPr lang="en-US" sz="11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选它因为量大、可量化、直接提效，且在内部环境风险可控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银行科技部门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银行科技部门:AI高频高量场景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软件开发中心/数据中心/运维中心/信息安全部,4类日常高频活AI直接接管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80944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980944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911096"/>
            <a:ext cx="850392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700016" y="191109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33288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733288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信息安全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核心系统研发提效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提效30%+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存量代码多、信创改造工期紧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代码补全生成、评审、老代码理解与注释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7×24智能运维AIOps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告警↓60%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海量告警刷屏、值班夜里排障慢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告警降噪聚合、日志分析、根因定位与预案推荐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自然语言取数与治理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取数分钟级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取数排队、报表口径反复对不齐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自然语言转SQL查数、报表生成、指标口径问答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代码安全与测试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覆盖率↑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监管合规压力大、单测覆盖不足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代码安全审计、单测用例生成、缺陷定位与修复建议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某全国性股份制银行·运维中心(示意):线上交易系统夜间批量告警,AI助理自动聚合关联告警、下钻交易日志定位到某支付网关连接池打满,分钟级给出根因与扩容预案,值班人一键确认处置。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私有化部署代码不出行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接现有DevOps流水线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度量可量化可审计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案例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研发运维双提效落地案例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某全国性股份制银行·软件开发中心与数据中心(示意)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82296" cy="6035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96112" y="1737360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  </a:t>
            </a:r>
            <a:r>
              <a:rPr lang="en-US" sz="11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全员研发试点AI结对编程,数据中心并行接入AIOps告警降噪与根因辅助,覆盖核心系统迭代与7×24生产运维两条主线。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5254600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7780">
            <a:solidFill>
              <a:srgbClr val="B43A3A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77824" y="2670048"/>
            <a:ext cx="470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用 AI 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3182112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3090672"/>
            <a:ext cx="443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需求到代码手写为主,交付周期长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96112" y="3547872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3456432"/>
            <a:ext cx="443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海量告警淹没值班,人工逐条排查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96112" y="3913632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443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故障根因靠经验,定位慢难复盘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70168" y="2505456"/>
            <a:ext cx="5254600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7780">
            <a:solidFill>
              <a:srgbClr val="3C8C68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81064" y="2670048"/>
            <a:ext cx="470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用 AI 后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99352" y="3182112"/>
            <a:ext cx="91440" cy="91440"/>
          </a:xfrm>
          <a:prstGeom prst="ellipse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900520" y="3090672"/>
            <a:ext cx="443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AI辅助生成与补全,提交量稳步上升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699352" y="3547872"/>
            <a:ext cx="91440" cy="91440"/>
          </a:xfrm>
          <a:prstGeom prst="ellipse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00520" y="3456432"/>
            <a:ext cx="443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同源告警自动聚合,噪声大幅收敛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699352" y="3913632"/>
            <a:ext cx="91440" cy="91440"/>
          </a:xfrm>
          <a:prstGeom prst="ellipse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900520" y="3822192"/>
            <a:ext cx="443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根因链路一键关联,复盘沉淀为知识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858104" y="3145536"/>
            <a:ext cx="475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66928" y="4370832"/>
            <a:ext cx="3442106" cy="969264"/>
          </a:xfrm>
          <a:prstGeom prst="roundRect">
            <a:avLst>
              <a:gd name="adj" fmla="val 8491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66928" y="4370832"/>
            <a:ext cx="73152" cy="9692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41248" y="4517136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研发提效35%+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41248" y="499262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编码交付效率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74794" y="4370832"/>
            <a:ext cx="3442106" cy="969264"/>
          </a:xfrm>
          <a:prstGeom prst="roundRect">
            <a:avLst>
              <a:gd name="adj" fmla="val 8491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374794" y="4370832"/>
            <a:ext cx="73152" cy="9692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649114" y="4517136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告警量↓60%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4649114" y="499262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有效降噪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82661" y="4370832"/>
            <a:ext cx="3442106" cy="969264"/>
          </a:xfrm>
          <a:prstGeom prst="roundRect">
            <a:avLst>
              <a:gd name="adj" fmla="val 8491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182661" y="4370832"/>
            <a:ext cx="73152" cy="96926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456981" y="4517136"/>
            <a:ext cx="29849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MTTR↓50%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456981" y="499262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故障恢复时长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522976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66928" y="5522976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</a:t>
            </a: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AI不是替人,而是把重复交给机器,让工程师回到设计与判断上。</a:t>
            </a: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」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农商行 / 中小银行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农商行·把专家装进每个网点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人少预算紧、网点分散、水平参差——让开箱即用的AI助理把专家能力下沉到支农支小一线。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1371600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信贷客户经理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75888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75888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网点柜员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82896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882896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合规专员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089904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科技运维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96912" y="1911096"/>
            <a:ext cx="1197864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296912" y="1911096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支行负责人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支农支小·授信初审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小微材料杂、初审慢、人手少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自动核材料、算指标、生成尽调与授信初稿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网点客服·方言问答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客户问业务、方言多、口径不一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调本行制度库,普通话/方言即时应答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合规问答·减负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省70%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查监管条文、翻制度，一问半天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问一句就答，附出处条款，先审后用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柜员助手·业务代查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省60%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新员工不熟流程、老手带不过来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话术、办理步骤、常见问题一键调取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某支农客户经理把小微客户的营业执照、流水、纳税单拍照上传 → 助理3分钟核对材料完整性、自动测算经营指标、比对本行支小授信政策，产出尽调要点和授信申请初稿 —— 客户经理只需实地核实、补充判断、点提交。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轻量够用、开箱即用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本地可控、数据不出行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投入小、见效快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保险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保险:核保理赔提速,展业客服增效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给核保、理赔、代理人、客服、精算配AI助理,把高频重活变成分钟级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80944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980944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911096"/>
            <a:ext cx="850392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191109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73752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73752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33288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733288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核保辅助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病历几十页、逐条查规则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读体检报告病历、比对核保规则、给结论与依据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理赔审核·反欺诈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省70%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单证一张张核、疑点靠经验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识别单证发票、查一致性、标高风险疑点并溯源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展业·话术助手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快3倍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产品条款多、客户问题接不住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按客户情况荐产品、生成话术与投保建议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保单·条款客服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条款查半天、答复口径不一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秒查条款保单、生成合规话术、多轮答复到位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把一份含体检报告和既往病历的核保件丢给助理 → 3分钟读完几十页,自动比对核保规则,输出"标准体/加费/除外"建议、列明每条依据和缺失材料清单,核保员只需复核签字。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数据分级、隐私合规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结论可溯源可追责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落地到现有核保系统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能源电网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 AI 助理：让规程、缺陷、报表跑得更快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面向运维/调度/安监/客服/信息岗，数据不出域，把高频重活交给助理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80944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980944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700016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59552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59552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规程预案·秒级问答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规程标准预案上千页翻不完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问一句直接给出条款、出处与操作步骤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设备缺陷·辅助研判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省60%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巡检图像台账多、判缺靠人盯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识别缺陷隐患、关联历史、给处置建议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作业风险·安监管控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漏项↓70%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工作票风险点核对易漏项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自动核票、比对安规、提示风险与防控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业扩报装·客服应答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报装流程复杂、重复问答多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答政策查进度、生成工单与办理指引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变电站巡检拍到一处疑似渗漏，现场把照片发给助理 → 30秒识别为设备缺陷、关联同类历史处置，自动调出相关检修规程条款、生成含风险点的工作票草稿，运维只需复核签发。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数据不出域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关键设施安全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工业级可控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航空交通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航空运行：让安全与效率同时起飞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面向签派、机务、客服、收益、安全的AI助理，把海量手册、运行数据和旅客诉求变成即时可用的答案。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80944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980944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840480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700016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59552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559552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机务手册秒查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快10倍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翻上千页手册查故障，耗时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自然语言问答，直达故障处置条款与工卡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客服投诉提速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省70%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退改签规则多、投诉响应慢</a:t>
            </a:r>
            <a:endParaRPr lang="en-US" sz="980" dirty="0"/>
          </a:p>
        </p:txBody>
      </p:sp>
      <p:sp>
        <p:nvSpPr>
          <p:cNvPr id="35" name="Text 31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自动理解诉求、匹配规则、起草回复与处置建议</a:t>
            </a:r>
            <a:endParaRPr lang="en-US" sz="980" dirty="0"/>
          </a:p>
        </p:txBody>
      </p:sp>
      <p:sp>
        <p:nvSpPr>
          <p:cNvPr id="36" name="Shape 32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QAR事件分析</a:t>
            </a:r>
            <a:endParaRPr lang="en-US" sz="1350" dirty="0"/>
          </a:p>
        </p:txBody>
      </p:sp>
      <p:sp>
        <p:nvSpPr>
          <p:cNvPr id="40" name="Shape 35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海量飞行数据人工筛超限费时</a:t>
            </a:r>
            <a:endParaRPr lang="en-US" sz="980" dirty="0"/>
          </a:p>
        </p:txBody>
      </p:sp>
      <p:sp>
        <p:nvSpPr>
          <p:cNvPr id="43" name="Text 38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自动识别超限事件、聚类归因、生成分析报告</a:t>
            </a:r>
            <a:endParaRPr lang="en-US" sz="980" dirty="0"/>
          </a:p>
        </p:txBody>
      </p:sp>
      <p:sp>
        <p:nvSpPr>
          <p:cNvPr id="44" name="Shape 39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收益营销助手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省60%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航线定价与客群营销要盯多表</a:t>
            </a:r>
            <a:endParaRPr lang="en-US" sz="980" dirty="0"/>
          </a:p>
        </p:txBody>
      </p:sp>
      <p:sp>
        <p:nvSpPr>
          <p:cNvPr id="51" name="Text 45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汇总客座与竞价数据、生成调价与营销建议</a:t>
            </a:r>
            <a:endParaRPr lang="en-US" sz="980" dirty="0"/>
          </a:p>
        </p:txBody>
      </p:sp>
      <p:sp>
        <p:nvSpPr>
          <p:cNvPr id="52" name="Shape 46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7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8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5" name="Text 49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机务收到"某机型液压告警"→ 助理秒查维修手册与历史工卡，给出处置步骤、所需航材与适用MEL条款，并生成放行前检查清单，工程师复核即可执行。</a:t>
            </a:r>
            <a:endParaRPr lang="en-US" sz="1060" dirty="0"/>
          </a:p>
        </p:txBody>
      </p:sp>
      <p:sp>
        <p:nvSpPr>
          <p:cNvPr id="56" name="Shape 50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2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运行安全零妥协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手册数据可溯源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分级授权可管控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场景 · 通用办公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通用办公：不管哪个行业，这几件事天天在做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会议、材料、数据、知识问答 —— 每位管理者与职能同事都用得上的高频活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77824" y="175564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适用岗位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21408" y="1911096"/>
            <a:ext cx="850392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21408" y="1911096"/>
            <a:ext cx="850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154680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业务骨干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1911096"/>
            <a:ext cx="1024128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361688" y="191109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职能后台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68696" y="1911096"/>
            <a:ext cx="676656" cy="310896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568696" y="191109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229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963753"/>
            <a:ext cx="272125" cy="2721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61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会议纪要·待办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742536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4742536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省80%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5361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开会两小时、整理两小时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15361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转写成纪要、决议与待办到人、自动跟踪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278728" y="2542032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4"/>
          <p:cNvSpPr/>
          <p:nvPr/>
        </p:nvSpPr>
        <p:spPr>
          <a:xfrm>
            <a:off x="6534760" y="281635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61" y="2963753"/>
            <a:ext cx="272125" cy="27212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247992" y="2724912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材料与汇报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10454335" y="27249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10454335" y="2724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省60%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247992" y="30723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改到深夜、版本满天飞</a:t>
            </a:r>
            <a:endParaRPr lang="en-US" sz="980" dirty="0"/>
          </a:p>
        </p:txBody>
      </p:sp>
      <p:sp>
        <p:nvSpPr>
          <p:cNvPr id="33" name="Text 29"/>
          <p:cNvSpPr/>
          <p:nvPr/>
        </p:nvSpPr>
        <p:spPr>
          <a:xfrm>
            <a:off x="7247992" y="3383280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数据+观点生成简报 / 讲话稿初稿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5669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1"/>
          <p:cNvSpPr/>
          <p:nvPr/>
        </p:nvSpPr>
        <p:spPr>
          <a:xfrm>
            <a:off x="8229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4481657"/>
            <a:ext cx="272125" cy="27212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5361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数据分析取数</a:t>
            </a:r>
            <a:endParaRPr lang="en-US" sz="1350" dirty="0"/>
          </a:p>
        </p:txBody>
      </p:sp>
      <p:sp>
        <p:nvSpPr>
          <p:cNvPr id="38" name="Shape 33"/>
          <p:cNvSpPr/>
          <p:nvPr/>
        </p:nvSpPr>
        <p:spPr>
          <a:xfrm>
            <a:off x="4742536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4742536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快5倍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15361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手工抠数、做表易错</a:t>
            </a:r>
            <a:endParaRPr lang="en-US" sz="980" dirty="0"/>
          </a:p>
        </p:txBody>
      </p:sp>
      <p:sp>
        <p:nvSpPr>
          <p:cNvPr id="41" name="Text 36"/>
          <p:cNvSpPr/>
          <p:nvPr/>
        </p:nvSpPr>
        <p:spPr>
          <a:xfrm>
            <a:off x="15361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自然语言查数、自动出表出图</a:t>
            </a:r>
            <a:endParaRPr lang="en-US" sz="980" dirty="0"/>
          </a:p>
        </p:txBody>
      </p:sp>
      <p:sp>
        <p:nvSpPr>
          <p:cNvPr id="42" name="Shape 37"/>
          <p:cNvSpPr/>
          <p:nvPr/>
        </p:nvSpPr>
        <p:spPr>
          <a:xfrm>
            <a:off x="6278728" y="4059936"/>
            <a:ext cx="5346040" cy="1353312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8"/>
          <p:cNvSpPr/>
          <p:nvPr/>
        </p:nvSpPr>
        <p:spPr>
          <a:xfrm>
            <a:off x="6534760" y="433425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161" y="4481657"/>
            <a:ext cx="272125" cy="27212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247992" y="4242816"/>
            <a:ext cx="315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知识/制度问答</a:t>
            </a:r>
            <a:endParaRPr lang="en-US" sz="1350" dirty="0"/>
          </a:p>
        </p:txBody>
      </p:sp>
      <p:sp>
        <p:nvSpPr>
          <p:cNvPr id="46" name="Shape 40"/>
          <p:cNvSpPr/>
          <p:nvPr/>
        </p:nvSpPr>
        <p:spPr>
          <a:xfrm>
            <a:off x="10454335" y="42428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1"/>
          <p:cNvSpPr/>
          <p:nvPr/>
        </p:nvSpPr>
        <p:spPr>
          <a:xfrm>
            <a:off x="10454335" y="42428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</a:t>
            </a:r>
            <a:endParaRPr lang="en-US" sz="950" dirty="0"/>
          </a:p>
        </p:txBody>
      </p:sp>
      <p:sp>
        <p:nvSpPr>
          <p:cNvPr id="48" name="Text 42"/>
          <p:cNvSpPr/>
          <p:nvPr/>
        </p:nvSpPr>
        <p:spPr>
          <a:xfrm>
            <a:off x="7247992" y="4590288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 </a:t>
            </a:r>
            <a:r>
              <a:rPr lang="en-US" sz="98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翻制度慢、口径不一</a:t>
            </a:r>
            <a:endParaRPr lang="en-US" sz="980" dirty="0"/>
          </a:p>
        </p:txBody>
      </p:sp>
      <p:sp>
        <p:nvSpPr>
          <p:cNvPr id="49" name="Text 43"/>
          <p:cNvSpPr/>
          <p:nvPr/>
        </p:nvSpPr>
        <p:spPr>
          <a:xfrm>
            <a:off x="7247992" y="4901184"/>
            <a:ext cx="415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  </a:t>
            </a: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即问即答、带出处、先审后用</a:t>
            </a:r>
            <a:endParaRPr lang="en-US" sz="980" dirty="0"/>
          </a:p>
        </p:txBody>
      </p:sp>
      <p:sp>
        <p:nvSpPr>
          <p:cNvPr id="50" name="Shape 44"/>
          <p:cNvSpPr/>
          <p:nvPr/>
        </p:nvSpPr>
        <p:spPr>
          <a:xfrm>
            <a:off x="566928" y="5468112"/>
            <a:ext cx="6766560" cy="859536"/>
          </a:xfrm>
          <a:prstGeom prst="roundRect">
            <a:avLst>
              <a:gd name="adj" fmla="val 957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5"/>
          <p:cNvSpPr/>
          <p:nvPr/>
        </p:nvSpPr>
        <p:spPr>
          <a:xfrm>
            <a:off x="566928" y="5468112"/>
            <a:ext cx="82296" cy="8595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6"/>
          <p:cNvSpPr/>
          <p:nvPr/>
        </p:nvSpPr>
        <p:spPr>
          <a:xfrm>
            <a:off x="877824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一个例子</a:t>
            </a:r>
            <a:endParaRPr lang="en-US" sz="1200" dirty="0"/>
          </a:p>
        </p:txBody>
      </p:sp>
      <p:sp>
        <p:nvSpPr>
          <p:cNvPr id="53" name="Text 47"/>
          <p:cNvSpPr/>
          <p:nvPr/>
        </p:nvSpPr>
        <p:spPr>
          <a:xfrm>
            <a:off x="2084832" y="5559552"/>
            <a:ext cx="5102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把部门周会的 1 小时录音丢给助理 → 几分钟产出纪要、决议、责任到人的待办，并生成一版可发的汇报简报初稿；你只需复核措辞、补两句结论。</a:t>
            </a:r>
            <a:endParaRPr lang="en-US" sz="1060" dirty="0"/>
          </a:p>
        </p:txBody>
      </p:sp>
      <p:sp>
        <p:nvSpPr>
          <p:cNvPr id="54" name="Shape 48"/>
          <p:cNvSpPr/>
          <p:nvPr/>
        </p:nvSpPr>
        <p:spPr>
          <a:xfrm>
            <a:off x="7607808" y="5468112"/>
            <a:ext cx="4016959" cy="859536"/>
          </a:xfrm>
          <a:prstGeom prst="roundRect">
            <a:avLst>
              <a:gd name="adj" fmla="val 957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49"/>
          <p:cNvSpPr/>
          <p:nvPr/>
        </p:nvSpPr>
        <p:spPr>
          <a:xfrm>
            <a:off x="7607808" y="5468112"/>
            <a:ext cx="73152" cy="85953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0"/>
          <p:cNvSpPr/>
          <p:nvPr/>
        </p:nvSpPr>
        <p:spPr>
          <a:xfrm>
            <a:off x="7863840" y="5586984"/>
            <a:ext cx="3559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他们最关注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零门槛、人人上手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公开信息先用起来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重要产出人工把关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案例速览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标杆案例速览：四个行业，四个真实的提效场景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从银行运维到航空机务 —— 同一套「AI 助理」逻辑，在不同行业都跑出了实打实的效果（示意场景）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91440" cy="95097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7824" y="19751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银行·智能运维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2322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生产告警定位与根因排查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01568" y="1975104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39312" y="1993392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  </a:t>
            </a:r>
            <a:r>
              <a:rPr lang="en-US" sz="103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告警刷屏、跨系统翻日志,定位靠人肉、恢复慢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3639312" y="2340864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后   </a:t>
            </a:r>
            <a:r>
              <a:rPr lang="en-US" sz="103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AI聚合关联告警、串联链路日志、给出疑似根因与处置建议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10051999" y="2066544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051999" y="2066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定位提速50%+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907792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66928" y="2907792"/>
            <a:ext cx="91440" cy="950976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7824" y="3054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保险·核保理赔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3401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医疗票据与病历要素审核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01568" y="3054096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639312" y="3072384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  </a:t>
            </a:r>
            <a:r>
              <a:rPr lang="en-US" sz="103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影像件人工录入、逐条比对规则,件均耗时长、易漏检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639312" y="3419856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后   </a:t>
            </a:r>
            <a:r>
              <a:rPr lang="en-US" sz="103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AI抽取票据病历要素、自动校验规则与风险点、生成结论初稿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10051999" y="3145536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0051999" y="31455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件均提效60%+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986784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66928" y="3986784"/>
            <a:ext cx="91440" cy="95097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77824" y="4133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能源电网·设备运维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77824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缺陷描述规整与规程问答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01568" y="4133088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39312" y="4151376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  </a:t>
            </a:r>
            <a:r>
              <a:rPr lang="en-US" sz="103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缺陷记录口语化不规范,规程厚重、现场查阅困难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3639312" y="4498848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后   </a:t>
            </a:r>
            <a:r>
              <a:rPr lang="en-US" sz="103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AI规整缺陷文本并定级、按问题检索规程给出条款依据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10051999" y="4224528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051999" y="42245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查阅提速70%+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065776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66928" y="5065776"/>
            <a:ext cx="91440" cy="95097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77824" y="5212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航空·机务放行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7824" y="5559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机务手册与故障隔离查询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01568" y="5212080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639312" y="5230368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  </a:t>
            </a:r>
            <a:r>
              <a:rPr lang="en-US" sz="103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手册体量大、跨册交叉引用,排故翻查耗时、依赖经验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3639312" y="5577840"/>
            <a:ext cx="62115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后   </a:t>
            </a:r>
            <a:r>
              <a:rPr lang="en-US" sz="103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AI理解自然语言提问、跨手册定位条目并给出隔离步骤引用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10051999" y="530352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0051999" y="5303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查阅提速65%+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卡点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为什么很多企业买了 AI，却没真用起来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AI 不行，而是卡在了这三点 —— 认清卡点，就知道接下来三个部分要解决什么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44210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203704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401214"/>
            <a:ext cx="336499" cy="33649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55648" y="2331720"/>
            <a:ext cx="2070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01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55648" y="2606040"/>
            <a:ext cx="2116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只买了工具，没进场景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77824" y="3447288"/>
            <a:ext cx="28386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买了 license、开了平台，却没对着真实高频业务 —— 工具躺着睡觉，人还是老办法干。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77824" y="4334256"/>
            <a:ext cx="2820314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77824" y="4425696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选对场景（Part 02）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74794" y="1874520"/>
            <a:ext cx="344210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374794" y="187452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667402" y="2203704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913" y="2401214"/>
            <a:ext cx="336499" cy="33649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63514" y="2331720"/>
            <a:ext cx="2070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02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563514" y="2606040"/>
            <a:ext cx="2116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只发了账号，没养习惯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4685690" y="3447288"/>
            <a:ext cx="28386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发完账号就散了，缺少示范、陪跑与「四习惯」，多数人尝鲜一次就放下。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4685690" y="4334256"/>
            <a:ext cx="2820314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4685690" y="4425696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亲手搭建、养成习惯（Part 03）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182661" y="1874520"/>
            <a:ext cx="3442106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8182661" y="1874520"/>
            <a:ext cx="344210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8475269" y="2203704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2779" y="2401214"/>
            <a:ext cx="336499" cy="33649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371381" y="2331720"/>
            <a:ext cx="2070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03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9371381" y="2606040"/>
            <a:ext cx="21162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只想着上，没管住安全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8493557" y="3447288"/>
            <a:ext cx="28386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怕碰敏感数据，一刀切禁用，或反过来什么都往里贴 —— 没有分级与红线，不敢放心用。</a:t>
            </a:r>
            <a:endParaRPr lang="en-US" sz="1060" dirty="0"/>
          </a:p>
        </p:txBody>
      </p:sp>
      <p:sp>
        <p:nvSpPr>
          <p:cNvPr id="33" name="Shape 28"/>
          <p:cNvSpPr/>
          <p:nvPr/>
        </p:nvSpPr>
        <p:spPr>
          <a:xfrm>
            <a:off x="8493557" y="4334256"/>
            <a:ext cx="2820314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/>
        </p:nvSpPr>
        <p:spPr>
          <a:xfrm>
            <a:off x="8493557" y="4425696"/>
            <a:ext cx="28386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数据分级、安全可控（Part 04）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66928" y="5193792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1"/>
          <p:cNvSpPr/>
          <p:nvPr/>
        </p:nvSpPr>
        <p:spPr>
          <a:xfrm>
            <a:off x="566928" y="5193792"/>
            <a:ext cx="91440" cy="8412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932688" y="5193792"/>
            <a:ext cx="1032631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破解之道   </a:t>
            </a:r>
            <a:r>
              <a:rPr lang="en-US" sz="12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选对场景 + 亲手搭建养成习惯 + 数据分级安全可控 —— 这正是接下来三个部分，我们一件一件带你解决。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辨析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助理，和你们建过的信息化系统有何不同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在座很多是 IT / 科技老兵 —— 它不是又一个要立项、要开发的系统，而是「会用自然语言干活的通用底座」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86384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15184" y="1828800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传统信息化系统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9704" y="1828800"/>
            <a:ext cx="434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助理（大模型底座）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377440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86384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15184" y="2377440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开发功能、点菜单、走流程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010248" y="2487168"/>
            <a:ext cx="54864" cy="32918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229704" y="2377440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说人话交代目标，它自己拆解执行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66928" y="2980944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86384" y="2980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15184" y="2980944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 IT 立项、排期、开发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010248" y="3090672"/>
            <a:ext cx="54864" cy="32918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229704" y="2980944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业务人员几分钟自己搭一个助理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66928" y="3584448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86384" y="3584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15184" y="3584448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一个系统办一类事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010248" y="3694176"/>
            <a:ext cx="54864" cy="32918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229704" y="3584448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一个助理跨文档、数据、系统办很多事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566928" y="4187952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86384" y="41879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怎么升级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15184" y="4187952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版本迭代，功能相对固定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7010248" y="4297680"/>
            <a:ext cx="54864" cy="32918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229704" y="4187952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踩在大模型肩上，能力自动跟着变强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566928" y="4791456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86384" y="47914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落地重心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15184" y="4791456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重在「建系统」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7010248" y="4901184"/>
            <a:ext cx="54864" cy="32918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229704" y="4791456"/>
            <a:ext cx="424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</a:t>
            </a: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重在「用起来、养成习惯」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66928" y="5413248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32688" y="5413248"/>
            <a:ext cx="1032631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  </a:t>
            </a:r>
            <a:r>
              <a:rPr lang="en-US" sz="11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两者不是替代关系 —— AI 助理接上你们已有的系统与数据（MCP / API），让老系统「会说话、能自动」，投入更轻、见效更快。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入口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三类入口：你的 AI 助理「住」在哪里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由浅入深、各有所长 —— 先从最低门槛的开始，按需要逐步升级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37033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59536" y="2139696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09" y="2332269"/>
            <a:ext cx="328087" cy="3280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2194560"/>
            <a:ext cx="2070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浏览器端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37360" y="2450592"/>
            <a:ext cx="2070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X-Agent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59536" y="305409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即开即用 · 上手第一站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9536" y="3401568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9536" y="354787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打开浏览器即用，零安装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859536" y="402336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先体验起来、快速尝鲜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859536" y="4498848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适合新手第一次接触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859536" y="4983480"/>
            <a:ext cx="2856890" cy="365760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59536" y="4983480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免费体验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74794" y="1828800"/>
            <a:ext cx="3442106" cy="3703320"/>
          </a:xfrm>
          <a:prstGeom prst="roundRect">
            <a:avLst>
              <a:gd name="adj" fmla="val 2391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4667402" y="2139696"/>
            <a:ext cx="713232" cy="713232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975" y="2332269"/>
            <a:ext cx="328087" cy="32808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45226" y="2194560"/>
            <a:ext cx="2070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545226" y="2450592"/>
            <a:ext cx="2070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4667402" y="305409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AI 工作台 · 日常主力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67402" y="3401568"/>
            <a:ext cx="2856890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4667402" y="354787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/ Windows / Linux 全覆盖</a:t>
            </a:r>
            <a:endParaRPr lang="en-US" sz="1060" dirty="0"/>
          </a:p>
        </p:txBody>
      </p:sp>
      <p:sp>
        <p:nvSpPr>
          <p:cNvPr id="29" name="Text 25"/>
          <p:cNvSpPr/>
          <p:nvPr/>
        </p:nvSpPr>
        <p:spPr>
          <a:xfrm>
            <a:off x="4667402" y="402336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 Agent + Skills，接你的文件</a:t>
            </a:r>
            <a:endParaRPr lang="en-US" sz="1060" dirty="0"/>
          </a:p>
        </p:txBody>
      </p:sp>
      <p:sp>
        <p:nvSpPr>
          <p:cNvPr id="30" name="Text 26"/>
          <p:cNvSpPr/>
          <p:nvPr/>
        </p:nvSpPr>
        <p:spPr>
          <a:xfrm>
            <a:off x="4667402" y="4498848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定时任务、多频道、语音随手用</a:t>
            </a:r>
            <a:endParaRPr lang="en-US" sz="1060" dirty="0"/>
          </a:p>
        </p:txBody>
      </p:sp>
      <p:sp>
        <p:nvSpPr>
          <p:cNvPr id="31" name="Shape 27"/>
          <p:cNvSpPr/>
          <p:nvPr/>
        </p:nvSpPr>
        <p:spPr>
          <a:xfrm>
            <a:off x="4667402" y="4983480"/>
            <a:ext cx="2856890" cy="365760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4667402" y="4983480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日常提效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182661" y="1828800"/>
            <a:ext cx="3442106" cy="370332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0"/>
          <p:cNvSpPr/>
          <p:nvPr/>
        </p:nvSpPr>
        <p:spPr>
          <a:xfrm>
            <a:off x="8475269" y="2139696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841" y="2332269"/>
            <a:ext cx="328087" cy="328087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353093" y="2194560"/>
            <a:ext cx="2070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云端编排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9353093" y="2450592"/>
            <a:ext cx="2070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X-Design</a:t>
            </a:r>
            <a:endParaRPr lang="en-US" sz="1900" dirty="0"/>
          </a:p>
        </p:txBody>
      </p:sp>
      <p:sp>
        <p:nvSpPr>
          <p:cNvPr id="38" name="Text 33"/>
          <p:cNvSpPr/>
          <p:nvPr/>
        </p:nvSpPr>
        <p:spPr>
          <a:xfrm>
            <a:off x="8475269" y="3054096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流程级 · 团队沉淀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475269" y="3401568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8475269" y="3547872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把多个 Agent 编排成业务流程</a:t>
            </a:r>
            <a:endParaRPr lang="en-US" sz="1060" dirty="0"/>
          </a:p>
        </p:txBody>
      </p:sp>
      <p:sp>
        <p:nvSpPr>
          <p:cNvPr id="41" name="Text 36"/>
          <p:cNvSpPr/>
          <p:nvPr/>
        </p:nvSpPr>
        <p:spPr>
          <a:xfrm>
            <a:off x="8475269" y="4023360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可复用模板，沉淀团队资产</a:t>
            </a:r>
            <a:endParaRPr lang="en-US" sz="1060" dirty="0"/>
          </a:p>
        </p:txBody>
      </p:sp>
      <p:sp>
        <p:nvSpPr>
          <p:cNvPr id="42" name="Text 37"/>
          <p:cNvSpPr/>
          <p:nvPr/>
        </p:nvSpPr>
        <p:spPr>
          <a:xfrm>
            <a:off x="8475269" y="4498848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企业级落地与治理</a:t>
            </a:r>
            <a:endParaRPr lang="en-US" sz="1060" dirty="0"/>
          </a:p>
        </p:txBody>
      </p:sp>
      <p:sp>
        <p:nvSpPr>
          <p:cNvPr id="43" name="Shape 38"/>
          <p:cNvSpPr/>
          <p:nvPr/>
        </p:nvSpPr>
        <p:spPr>
          <a:xfrm>
            <a:off x="8475269" y="4983480"/>
            <a:ext cx="2856890" cy="365760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8475269" y="4983480"/>
            <a:ext cx="2856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高阶编排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566928" y="5724144"/>
            <a:ext cx="11057839" cy="530352"/>
          </a:xfrm>
          <a:prstGeom prst="roundRect">
            <a:avLst>
              <a:gd name="adj" fmla="val 15517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896112" y="5724144"/>
            <a:ext cx="104177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建议路径   </a:t>
            </a: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浏览器端先尝鲜  →  桌面端做日常主力（今天实操用它）  →  跑顺了再用云端把团队流程编排沉淀下来。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选对工具 · 亲手搭建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CHOOSE &amp; 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现在动手 —— 跟着搭出能用的助理，再把「用好 AI」练成习惯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选对模型是第一步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现场搭三个助理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资料速读 · 会议纪要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制度问答（RAG）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 AI 三个习惯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如何养成习惯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83880" y="4709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430768" y="4590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进流程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选对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选对工具：为什么「选对模型」是第一步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助理再好用，天花板也由底层模型决定 —— 选型看四件事，别只看参数，看你的真实场景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52443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72527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00" y="2295693"/>
            <a:ext cx="328087" cy="3280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290779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" y="3127248"/>
            <a:ext cx="2158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能力够强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8096" y="3493008"/>
            <a:ext cx="21220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能力够强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3411398" y="1828800"/>
            <a:ext cx="252443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316997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569" y="2295693"/>
            <a:ext cx="328087" cy="3280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94278" y="290779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594278" y="3127248"/>
            <a:ext cx="2158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12566" y="3493008"/>
            <a:ext cx="21220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255868" y="1828800"/>
            <a:ext cx="252443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7161467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039" y="2295693"/>
            <a:ext cx="328087" cy="3280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38748" y="290779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38748" y="3127248"/>
            <a:ext cx="2158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成本可控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57036" y="3493008"/>
            <a:ext cx="21220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成本可控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9100337" y="1828800"/>
            <a:ext cx="252443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10005936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509" y="2295693"/>
            <a:ext cx="328087" cy="32808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3217" y="2907792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283217" y="3127248"/>
            <a:ext cx="21586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可私有化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301505" y="3493008"/>
            <a:ext cx="21220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可私有化</a:t>
            </a:r>
            <a:endParaRPr lang="en-US" sz="980" dirty="0"/>
          </a:p>
        </p:txBody>
      </p:sp>
      <p:sp>
        <p:nvSpPr>
          <p:cNvPr id="32" name="Shape 26"/>
          <p:cNvSpPr/>
          <p:nvPr/>
        </p:nvSpPr>
        <p:spPr>
          <a:xfrm>
            <a:off x="566928" y="4434840"/>
            <a:ext cx="11057839" cy="1600200"/>
          </a:xfrm>
          <a:prstGeom prst="roundRect">
            <a:avLst>
              <a:gd name="adj" fmla="val 514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566928" y="4434840"/>
            <a:ext cx="91440" cy="16002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932688" y="46268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一个务实的选型建议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32688" y="499262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不追求「一个模型打天下」，而是按场景与数据等级搭配 —— 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932688" y="5358384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公开、高难度的任务交给云端旗舰（能力最强、免运维、自动迭代）；敏感数据交给可本地私有化的轻量 / 专用模型（不出域、可控可审）。同一个助理，按数据等级动态决定「在哪算、用哪个模型」。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底座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选对底座：商汤「日日新」多模态模型矩阵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从旗舰到轻量、从云端到本地 —— 一套模型体系覆盖不同能力档位与部署方式，按需取用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2880360"/>
          </a:xfrm>
          <a:prstGeom prst="roundRect">
            <a:avLst>
              <a:gd name="adj" fmla="val 285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39696"/>
            <a:ext cx="694944" cy="694944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71" y="2327331"/>
            <a:ext cx="319674" cy="3196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00784" y="2212848"/>
            <a:ext cx="2161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旗舰大模型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700784" y="2542032"/>
            <a:ext cx="2161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" y="3145536"/>
            <a:ext cx="28934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最强通用与推理能力，处理公开、高难度任务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" y="4142232"/>
            <a:ext cx="2856890" cy="38404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59536" y="4142232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· 免运维 · 自动迭代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74794" y="1828800"/>
            <a:ext cx="344210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667402" y="2139696"/>
            <a:ext cx="694944" cy="69494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037" y="2327331"/>
            <a:ext cx="319674" cy="31967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08650" y="2212848"/>
            <a:ext cx="2161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多模态模型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5508650" y="2542032"/>
            <a:ext cx="2161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 / 视觉 / 语音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667402" y="3145536"/>
            <a:ext cx="28934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读图像、文档、表格、语音，看懂真实业务材料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67402" y="4142232"/>
            <a:ext cx="2856890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4667402" y="4142232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+ 可本地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182661" y="1828800"/>
            <a:ext cx="344210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8182661" y="1828800"/>
            <a:ext cx="3442106" cy="8229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8475269" y="2139696"/>
            <a:ext cx="694944" cy="69494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904" y="2327331"/>
            <a:ext cx="319674" cy="31967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316517" y="2212848"/>
            <a:ext cx="2161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/ 专用模型</a:t>
            </a:r>
            <a:endParaRPr lang="en-US" sz="1550" dirty="0"/>
          </a:p>
        </p:txBody>
      </p:sp>
      <p:sp>
        <p:nvSpPr>
          <p:cNvPr id="31" name="Text 26"/>
          <p:cNvSpPr/>
          <p:nvPr/>
        </p:nvSpPr>
        <p:spPr>
          <a:xfrm>
            <a:off x="9316517" y="2542032"/>
            <a:ext cx="2161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/ 场景专用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475269" y="3145536"/>
            <a:ext cx="28934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低成本、可私有化，承接敏感数据与高频调用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475269" y="4142232"/>
            <a:ext cx="2856890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/>
        </p:nvSpPr>
        <p:spPr>
          <a:xfrm>
            <a:off x="8475269" y="4142232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 · 数据不出域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66928" y="4937760"/>
            <a:ext cx="11057839" cy="109728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1"/>
          <p:cNvSpPr/>
          <p:nvPr/>
        </p:nvSpPr>
        <p:spPr>
          <a:xfrm>
            <a:off x="566928" y="4937760"/>
            <a:ext cx="82296" cy="109728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896112" y="50840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为什么这对你重要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896112" y="5413248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你不用在「要能力」和「要安全」之间二选一 —— 一套模型体系里，云端旗舰给能力、本地轻量给安全，商汤为你做场景与 Agent 的深度定制，但不为单客户把 S2 旗舰整套私有化（投入大、迭代慢、不划算）。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总览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实操总览：今天，你会亲手带走三个助理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跟着一步步做，结束时你的电脑里就有三个能立刻用起来的 AI 助理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57984"/>
            <a:ext cx="457200" cy="45720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953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58058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705" y="2264054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9536" y="277977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资料速读助理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59536" y="316382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把几十页读成一页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59536" y="3584448"/>
            <a:ext cx="2856890" cy="329184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59536" y="3584448"/>
            <a:ext cx="2856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 / 研发 / 任何长文档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74794" y="1828800"/>
            <a:ext cx="344210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4667402" y="2157984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66740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65925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571" y="2264054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67402" y="277977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会议纪要助理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4667402" y="316382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录音变纪要＋待办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667402" y="3584448"/>
            <a:ext cx="2856890" cy="329184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4667402" y="3584448"/>
            <a:ext cx="2856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 / 协同岗最高频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182661" y="1828800"/>
            <a:ext cx="3442106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8182661" y="1828800"/>
            <a:ext cx="344210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8475269" y="2157984"/>
            <a:ext cx="457200" cy="45720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8475269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0673791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6438" y="2264054"/>
            <a:ext cx="263347" cy="26334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75269" y="2779776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知识问答助理</a:t>
            </a:r>
            <a:endParaRPr lang="en-US" sz="1700" dirty="0"/>
          </a:p>
        </p:txBody>
      </p:sp>
      <p:sp>
        <p:nvSpPr>
          <p:cNvPr id="35" name="Text 30"/>
          <p:cNvSpPr/>
          <p:nvPr/>
        </p:nvSpPr>
        <p:spPr>
          <a:xfrm>
            <a:off x="8475269" y="3163824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本行制度即问即答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475269" y="3584448"/>
            <a:ext cx="2856890" cy="329184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2"/>
          <p:cNvSpPr/>
          <p:nvPr/>
        </p:nvSpPr>
        <p:spPr>
          <a:xfrm>
            <a:off x="8475269" y="3584448"/>
            <a:ext cx="2856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/ 客服 / 全员最实用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66928" y="4434840"/>
            <a:ext cx="11057839" cy="1600200"/>
          </a:xfrm>
          <a:prstGeom prst="roundRect">
            <a:avLst>
              <a:gd name="adj" fmla="val 514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896112" y="46085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我们怎么进行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896112" y="5084064"/>
            <a:ext cx="384048" cy="38404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89611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1389888" y="5029200"/>
            <a:ext cx="1731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看一遍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1389888" y="5431536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讲师演示一遍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3230804" y="5029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0"/>
          <p:cNvSpPr/>
          <p:nvPr/>
        </p:nvSpPr>
        <p:spPr>
          <a:xfrm>
            <a:off x="3633140" y="5084064"/>
            <a:ext cx="384048" cy="38404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36331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4126916" y="5029200"/>
            <a:ext cx="1731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做一遍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4126916" y="5431536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你跟着做一遍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5967832" y="5029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Shape 45"/>
          <p:cNvSpPr/>
          <p:nvPr/>
        </p:nvSpPr>
        <p:spPr>
          <a:xfrm>
            <a:off x="6370168" y="5084064"/>
            <a:ext cx="384048" cy="38404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6"/>
          <p:cNvSpPr/>
          <p:nvPr/>
        </p:nvSpPr>
        <p:spPr>
          <a:xfrm>
            <a:off x="6370168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6863944" y="5029200"/>
            <a:ext cx="1731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改一遍</a:t>
            </a:r>
            <a:endParaRPr lang="en-US" sz="1400" dirty="0"/>
          </a:p>
        </p:txBody>
      </p:sp>
      <p:sp>
        <p:nvSpPr>
          <p:cNvPr id="53" name="Text 48"/>
          <p:cNvSpPr/>
          <p:nvPr/>
        </p:nvSpPr>
        <p:spPr>
          <a:xfrm>
            <a:off x="6863944" y="5431536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换成你的真实任务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8704859" y="5029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0"/>
          <p:cNvSpPr/>
          <p:nvPr/>
        </p:nvSpPr>
        <p:spPr>
          <a:xfrm>
            <a:off x="9107195" y="5084064"/>
            <a:ext cx="384048" cy="38404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1"/>
          <p:cNvSpPr/>
          <p:nvPr/>
        </p:nvSpPr>
        <p:spPr>
          <a:xfrm>
            <a:off x="910719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57" name="Text 52"/>
          <p:cNvSpPr/>
          <p:nvPr/>
        </p:nvSpPr>
        <p:spPr>
          <a:xfrm>
            <a:off x="9600971" y="5029200"/>
            <a:ext cx="1731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留下来</a:t>
            </a:r>
            <a:endParaRPr lang="en-US" sz="1400" dirty="0"/>
          </a:p>
        </p:txBody>
      </p:sp>
      <p:sp>
        <p:nvSpPr>
          <p:cNvPr id="58" name="Text 53"/>
          <p:cNvSpPr/>
          <p:nvPr/>
        </p:nvSpPr>
        <p:spPr>
          <a:xfrm>
            <a:off x="9600971" y="5431536"/>
            <a:ext cx="1822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存成自己的技能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实操一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资料速读助理：把几十页，读成你要的一页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适合投研、研发、风控、任何需要「快速吃透长文档」的岗位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566928"/>
          </a:xfrm>
          <a:prstGeom prst="roundRect">
            <a:avLst>
              <a:gd name="adj" fmla="val 1451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1755648"/>
            <a:ext cx="9046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本节目标   </a:t>
            </a:r>
            <a:r>
              <a:rPr lang="en-US" sz="12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上传一份长研报 / 手册 / 公告，让助理按你的口径输出结构化要点。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70287" y="1892808"/>
            <a:ext cx="1280160" cy="31089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70287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动手步骤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6928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70432" y="2907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打开桌面端助理，新建一个对话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用今天发的账号登录 Sowork 桌面端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07822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70432" y="3639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PDF 拖进对话框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70432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PDF / Word / 长文本，直接拖拽上传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38912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80974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70432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告诉它你的「身份」和「关注点」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70432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你是谁、服务谁、最关心哪几类信息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12064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6928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554126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7043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让它按固定格式输出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70432" y="5376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 / 关键数据 / 风险提示 / 一句话总结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5843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存成「技能」，下次一键复用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70432" y="6108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把这套提示词保存，以后换文档直接用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2542032"/>
            <a:ext cx="4839919" cy="2514600"/>
          </a:xfrm>
          <a:prstGeom prst="roundRect">
            <a:avLst>
              <a:gd name="adj" fmla="val 3273"/>
            </a:avLst>
          </a:prstGeom>
          <a:solidFill>
            <a:srgbClr val="12365F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59168" y="272491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提示词示例（可直接抄）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59168" y="3054096"/>
            <a:ext cx="4291279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059168" y="3163824"/>
            <a:ext cx="429127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你是我的行业研究助理。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我会发你一份长文档，请用中文按以下结构输出：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核心观点（不超过 5 条，每条一句）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关键数据（列成表：指标 / 数值 / 同比）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风险提示（标出最需要关注的 2 条）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一句话总结（给没时间读的人看）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7F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只依据原文，拿不准的标注「原文未明确」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784848" y="5239512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你会得到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21424" y="5660136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059168" y="5568696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一页纸的结构化摘要，可直接进汇报素材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6821424" y="6044184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059168" y="5952744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一张关键数据表，省去手工抠数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821424" y="6428232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059168" y="6336792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一个可复用的「速读」技能，团队共享</a:t>
            </a:r>
            <a:endParaRPr lang="en-US" sz="10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实操二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会议纪要助理：录音进去，纪要和待办出来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适合管理者、协同岗，以及所有「会多、纪要多」的同事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566928"/>
          </a:xfrm>
          <a:prstGeom prst="roundRect">
            <a:avLst>
              <a:gd name="adj" fmla="val 1451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1755648"/>
            <a:ext cx="9046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本节目标   </a:t>
            </a:r>
            <a:r>
              <a:rPr lang="en-US" sz="12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把一段会议录音 / 文字记录，变成结构化纪要 + 责任到人的待办清单。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70287" y="1892808"/>
            <a:ext cx="1280160" cy="31089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70287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动手步骤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6928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70432" y="2907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准备一段会议录音或文字记录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可用今天提供的脱敏示例音频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07822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70432" y="3639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上传给助理并说明会议背景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70432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什么会、有哪些角色、你要什么产出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38912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80974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70432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让它输出纪要 + 决议 + 待办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70432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待办要包含「事项 / 责任人 / 时限」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12064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6928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554126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7043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要求生成一封跟进邮件草稿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70432" y="5376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把待办自动写成发给责任人的邮件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5843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人工复核后再发出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70432" y="6108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出草稿，你把关 —— 这是铁律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2542032"/>
            <a:ext cx="4839919" cy="2514600"/>
          </a:xfrm>
          <a:prstGeom prst="roundRect">
            <a:avLst>
              <a:gd name="adj" fmla="val 3273"/>
            </a:avLst>
          </a:prstGeom>
          <a:solidFill>
            <a:srgbClr val="12365F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59168" y="272491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提示词示例（可直接抄）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59168" y="3054096"/>
            <a:ext cx="4291279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059168" y="3163824"/>
            <a:ext cx="429127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你是我的会议助理。我发你一段会议记录，请输出：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会议纪要（议题 / 讨论要点 / 结论）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决议事项（编号列出）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待办清单（表格：事项 / 责任人 / 时限）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一封发给各责任人的跟进邮件草稿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7F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语气正式、简洁；不确定责任人的留空待我确认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784848" y="5239512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你会得到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21424" y="5660136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059168" y="5568696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结构化会议纪要，5 分钟替代 2 小时整理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6821424" y="6044184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059168" y="5952744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责任到人、带时限的待办清单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821424" y="6428232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059168" y="6336792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一封可一键发送的跟进邮件草稿</a:t>
            </a:r>
            <a:endParaRPr lang="en-US" sz="10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实操三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知识问答助理：把本行的制度，装进助理的「脑子」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这一步用到「知识库 / RAG」—— 让助理基于你自己的资料回答，而不是凭空编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566928"/>
          </a:xfrm>
          <a:prstGeom prst="roundRect">
            <a:avLst>
              <a:gd name="adj" fmla="val 1451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1755648"/>
            <a:ext cx="9046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本节目标   </a:t>
            </a:r>
            <a:r>
              <a:rPr lang="en-US" sz="12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建一个小知识库，让助理只依据上传的制度文档来回答，并给出处。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70287" y="1892808"/>
            <a:ext cx="1280160" cy="31089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70287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 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动手步骤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6928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70432" y="2907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新建一个「知识库」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给它起名，如「合规制度库（示例）」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07822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70432" y="3639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上传几份制度 / 流程文档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70432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用今天提供的脱敏示例制度文件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38912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80974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70432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把助理「挂」到这个知识库上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70432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让它回答时优先查库，而不是凭记忆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12064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6928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554126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7043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设定回答规则：必须引出处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70432" y="5376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答案要标明依据的文件名与条款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5843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试问几个真实问题并验证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70432" y="6108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对照原文，确认它没有「编造」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2542032"/>
            <a:ext cx="4839919" cy="2514600"/>
          </a:xfrm>
          <a:prstGeom prst="roundRect">
            <a:avLst>
              <a:gd name="adj" fmla="val 3273"/>
            </a:avLst>
          </a:prstGeom>
          <a:solidFill>
            <a:srgbClr val="12365F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59168" y="272491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提示词示例（可直接抄）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59168" y="3054096"/>
            <a:ext cx="4291279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059168" y="3163824"/>
            <a:ext cx="429127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你是本机构的制度问答助理。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回答时必须遵守：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只依据知识库中的制度文档作答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给出依据的【文件名 + 条款编号】作为出处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知识库里没有的，回答「制度库未覆盖，请咨询合规」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不臆测、不补充库外信息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784848" y="5239512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你会得到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21424" y="5660136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059168" y="5568696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一个「即问即答 + 带出处」的制度助理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6821424" y="6044184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059168" y="5952744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对「会不会乱编」有了直观认识（看出处）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821424" y="6428232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059168" y="6336792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理解了为什么「知识库」是企业用 AI 的关键</a:t>
            </a:r>
            <a:endParaRPr lang="en-US" sz="10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实操四（研发向 · 选做）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研发助理：让 AI 帮你写代码、查 Bug、审代码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面向在座研发 / 测试 / 运维同事 —— 把 AI 接进你的日常编码与排障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11057839" cy="566928"/>
          </a:xfrm>
          <a:prstGeom prst="roundRect">
            <a:avLst>
              <a:gd name="adj" fmla="val 1451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1755648"/>
            <a:ext cx="90461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本节目标   </a:t>
            </a:r>
            <a:r>
              <a:rPr lang="en-US" sz="12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用助理完成一段真实的编码 / 排障任务，体验「AI 结对编程」。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70287" y="1892808"/>
            <a:ext cx="1280160" cy="310896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070287" y="18928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15 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8716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动手步骤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66928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70432" y="2907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打开桌面端助理 / IDE 插件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70432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用今天的账号登录，选研发场景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65760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07822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70432" y="3639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贴上需求或一段报错日志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70432" y="3913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说清语言、框架、约束与期望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38912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80974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70432" y="4370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让它生成 / 定位并解释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70432" y="46451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要它讲清思路、给出可运行的改法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512064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566928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5541264"/>
            <a:ext cx="0" cy="310896"/>
          </a:xfrm>
          <a:prstGeom prst="line">
            <a:avLst/>
          </a:prstGeom>
          <a:noFill/>
          <a:ln w="1905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70432" y="5102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让它补单测、写注释、审代码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70432" y="5376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覆盖边界与异常，标出坏味道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585216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5843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复核后再合入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70432" y="6108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出草稿、你把关合并 —— 这是铁律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2542032"/>
            <a:ext cx="4839919" cy="2514600"/>
          </a:xfrm>
          <a:prstGeom prst="roundRect">
            <a:avLst>
              <a:gd name="adj" fmla="val 3273"/>
            </a:avLst>
          </a:prstGeom>
          <a:solidFill>
            <a:srgbClr val="12365F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059168" y="2724912"/>
            <a:ext cx="4291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提示词示例（可直接抄）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59168" y="3054096"/>
            <a:ext cx="4291279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059168" y="3163824"/>
            <a:ext cx="429127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你是我的结对编程助理。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我贴一段 {语言 / 框架} 代码与报错，请：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定位问题（指出文件 / 行与原因）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给出修复代码 + 简要解释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补一个覆盖该 Bug 的单元测试</a:t>
            </a:r>
            <a:endParaRPr lang="en-US" sz="103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030" dirty="0">
                <a:solidFill>
                  <a:srgbClr val="7F9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// 敏感代码在本地私有化环境处理，不外传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6784848" y="5239512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你会得到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21424" y="5660136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059168" y="5568696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定位到根因的排障结论 + 修复代码</a:t>
            </a:r>
            <a:endParaRPr lang="en-US" sz="1060" dirty="0"/>
          </a:p>
        </p:txBody>
      </p:sp>
      <p:sp>
        <p:nvSpPr>
          <p:cNvPr id="44" name="Shape 42"/>
          <p:cNvSpPr/>
          <p:nvPr/>
        </p:nvSpPr>
        <p:spPr>
          <a:xfrm>
            <a:off x="6821424" y="6044184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059168" y="5952744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一个可回归的单元测试，省手写</a:t>
            </a:r>
            <a:endParaRPr lang="en-US" sz="1060" dirty="0"/>
          </a:p>
        </p:txBody>
      </p:sp>
      <p:sp>
        <p:nvSpPr>
          <p:cNvPr id="46" name="Shape 44"/>
          <p:cNvSpPr/>
          <p:nvPr/>
        </p:nvSpPr>
        <p:spPr>
          <a:xfrm>
            <a:off x="6821424" y="6428232"/>
            <a:ext cx="118872" cy="118872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059168" y="6336792"/>
            <a:ext cx="4565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一个可复用的「排障 / 评审」技能</a:t>
            </a:r>
            <a:endParaRPr lang="en-US" sz="10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三个习惯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 AI 的三个习惯：说清楚 · 问明白 · 守主场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工具一样、人不一样 —— 拉开差距的不是工具，是这三个习惯；靠每天用养成，不靠记笔记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39696"/>
            <a:ext cx="512064" cy="512064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9536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58058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191" y="2269541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9536" y="2779776"/>
            <a:ext cx="289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 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9536" y="301752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会写提示词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59536" y="3511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59536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9536" y="4023360"/>
            <a:ext cx="28934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 </a:t>
            </a:r>
            <a:r>
              <a:rPr lang="en-US" sz="11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听不懂」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59536" y="4334256"/>
            <a:ext cx="28751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把角色、背景、任务、要求讲清楚，AI 才给得准。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4374794" y="1828800"/>
            <a:ext cx="3442106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4667402" y="2139696"/>
            <a:ext cx="512064" cy="51206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4667402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865925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058" y="226954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67402" y="2779776"/>
            <a:ext cx="289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 02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667402" y="301752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会问问题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4667402" y="3511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4667402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问明白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667402" y="4023360"/>
            <a:ext cx="28934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 </a:t>
            </a: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「我没想清」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667402" y="4334256"/>
            <a:ext cx="28751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提问的质量决定答案的质量 —— 问对、问深、会追问。</a:t>
            </a:r>
            <a:endParaRPr lang="en-US" sz="1030" dirty="0"/>
          </a:p>
        </p:txBody>
      </p:sp>
      <p:sp>
        <p:nvSpPr>
          <p:cNvPr id="32" name="Shape 28"/>
          <p:cNvSpPr/>
          <p:nvPr/>
        </p:nvSpPr>
        <p:spPr>
          <a:xfrm>
            <a:off x="8182661" y="1828800"/>
            <a:ext cx="3442106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9"/>
          <p:cNvSpPr/>
          <p:nvPr/>
        </p:nvSpPr>
        <p:spPr>
          <a:xfrm>
            <a:off x="8182661" y="1828800"/>
            <a:ext cx="344210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0"/>
          <p:cNvSpPr/>
          <p:nvPr/>
        </p:nvSpPr>
        <p:spPr>
          <a:xfrm>
            <a:off x="8475269" y="2139696"/>
            <a:ext cx="512064" cy="512064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1"/>
          <p:cNvSpPr/>
          <p:nvPr/>
        </p:nvSpPr>
        <p:spPr>
          <a:xfrm>
            <a:off x="8475269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10673791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1924" y="2269541"/>
            <a:ext cx="252374" cy="252374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475269" y="2779776"/>
            <a:ext cx="28934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 03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475269" y="3017520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会思考</a:t>
            </a:r>
            <a:endParaRPr lang="en-US" sz="1900" dirty="0"/>
          </a:p>
        </p:txBody>
      </p:sp>
      <p:sp>
        <p:nvSpPr>
          <p:cNvPr id="40" name="Shape 35"/>
          <p:cNvSpPr/>
          <p:nvPr/>
        </p:nvSpPr>
        <p:spPr>
          <a:xfrm>
            <a:off x="8475269" y="3511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8475269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守主场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8475269" y="4023360"/>
            <a:ext cx="28934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  </a:t>
            </a:r>
            <a:r>
              <a:rPr lang="en-US" sz="11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「不能全信它」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475269" y="4334256"/>
            <a:ext cx="28751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干活、人做判断，越重要的事越要自己把关。</a:t>
            </a:r>
            <a:endParaRPr lang="en-US" sz="1030" dirty="0"/>
          </a:p>
        </p:txBody>
      </p:sp>
      <p:sp>
        <p:nvSpPr>
          <p:cNvPr id="44" name="Shape 39"/>
          <p:cNvSpPr/>
          <p:nvPr/>
        </p:nvSpPr>
        <p:spPr>
          <a:xfrm>
            <a:off x="566928" y="5029200"/>
            <a:ext cx="11057839" cy="1005840"/>
          </a:xfrm>
          <a:prstGeom prst="roundRect">
            <a:avLst>
              <a:gd name="adj" fmla="val 8182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566928" y="5029200"/>
            <a:ext cx="91440" cy="10058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932688" y="5029200"/>
            <a:ext cx="103263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一条线，缺一环就漏   </a:t>
            </a:r>
            <a:r>
              <a:rPr lang="en-US" sz="12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 → 问明白 → 守主场。三个都是习惯、不是技巧 —— 靠每天用、不靠记笔记；越练，AI 越像你身体的一部分。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习惯① 会写提示词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习惯① 会写提示词：把话说清楚，AI 才干得对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不是不行，常常是「没说清」—— 角色 · 背景 · 任务 · 要求，四件事补齐，效果立刻不一样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524430" cy="30175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63383" y="2103120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893" y="2300630"/>
            <a:ext cx="336499" cy="33649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296265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给角色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9808" y="331012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告诉它「你是谁」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6384" y="3657600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6384" y="3767328"/>
            <a:ext cx="2085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你是我的行业研究助理 / 合规助理……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786384" y="4389120"/>
            <a:ext cx="2085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9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“帮我看看”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3411398" y="1828800"/>
            <a:ext cx="2524430" cy="30175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307853" y="2103120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363" y="2300630"/>
            <a:ext cx="336499" cy="33649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94278" y="296265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给目标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594278" y="331012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说清「要什么产出」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30854" y="3657600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3630854" y="3767328"/>
            <a:ext cx="2085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输出一页摘要：观点 / 数据 / 风险 / 总结</a:t>
            </a:r>
            <a:endParaRPr lang="en-US" sz="960" dirty="0"/>
          </a:p>
        </p:txBody>
      </p:sp>
      <p:sp>
        <p:nvSpPr>
          <p:cNvPr id="23" name="Text 19"/>
          <p:cNvSpPr/>
          <p:nvPr/>
        </p:nvSpPr>
        <p:spPr>
          <a:xfrm>
            <a:off x="3630854" y="4389120"/>
            <a:ext cx="2085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9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“分析一下”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6255868" y="1828800"/>
            <a:ext cx="2524430" cy="30175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7152323" y="2103120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833" y="2300630"/>
            <a:ext cx="336499" cy="33649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38748" y="296265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438748" y="331012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补足「背景与约束」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475324" y="3657600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6475324" y="3767328"/>
            <a:ext cx="2085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服务对象是谁、口径是什么、只用公开信息</a:t>
            </a:r>
            <a:endParaRPr lang="en-US" sz="960" dirty="0"/>
          </a:p>
        </p:txBody>
      </p:sp>
      <p:sp>
        <p:nvSpPr>
          <p:cNvPr id="31" name="Text 26"/>
          <p:cNvSpPr/>
          <p:nvPr/>
        </p:nvSpPr>
        <p:spPr>
          <a:xfrm>
            <a:off x="6475324" y="4389120"/>
            <a:ext cx="2085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9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（什么都不给）</a:t>
            </a:r>
            <a:endParaRPr lang="en-US" sz="960" dirty="0"/>
          </a:p>
        </p:txBody>
      </p:sp>
      <p:sp>
        <p:nvSpPr>
          <p:cNvPr id="32" name="Shape 27"/>
          <p:cNvSpPr/>
          <p:nvPr/>
        </p:nvSpPr>
        <p:spPr>
          <a:xfrm>
            <a:off x="9100337" y="1828800"/>
            <a:ext cx="2524430" cy="30175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9996792" y="2103120"/>
            <a:ext cx="731520" cy="73152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4303" y="2300630"/>
            <a:ext cx="336499" cy="336499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283217" y="296265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给格式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9283217" y="3310128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指定「长什么样」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319793" y="3657600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9319793" y="3767328"/>
            <a:ext cx="2085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用表格 / 不超过 5 条 / 正式语气</a:t>
            </a:r>
            <a:endParaRPr lang="en-US" sz="960" dirty="0"/>
          </a:p>
        </p:txBody>
      </p:sp>
      <p:sp>
        <p:nvSpPr>
          <p:cNvPr id="39" name="Text 33"/>
          <p:cNvSpPr/>
          <p:nvPr/>
        </p:nvSpPr>
        <p:spPr>
          <a:xfrm>
            <a:off x="9319793" y="4389120"/>
            <a:ext cx="2085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</a:t>
            </a:r>
            <a:r>
              <a:rPr lang="en-US" sz="96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（随它发挥）</a:t>
            </a:r>
            <a:endParaRPr lang="en-US" sz="960" dirty="0"/>
          </a:p>
        </p:txBody>
      </p:sp>
      <p:sp>
        <p:nvSpPr>
          <p:cNvPr id="40" name="Shape 34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918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5"/>
          <p:cNvSpPr/>
          <p:nvPr/>
        </p:nvSpPr>
        <p:spPr>
          <a:xfrm>
            <a:off x="932688" y="5138928"/>
            <a:ext cx="103263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一句顺口溜：  </a:t>
            </a: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「你是谁、做什么、什么背景、长什么样」—— 四句话补齐，AI 的产出立刻从 60 分到 90 分。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习惯② 会问问题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习惯② 会问问题：提问的质量，决定答案的质量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同一件事，问法不同、结果天差地别 —— 学会把问题问对、问深、问到点子上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72527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00" y="2295693"/>
            <a:ext cx="328087" cy="3280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2944368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说目标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9808" y="3273552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6384" y="3621024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68096" y="3730752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先讲清你到底想达成什么，而不是泛泛地问。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3411398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316997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569" y="2295693"/>
            <a:ext cx="328087" cy="3280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94278" y="2944368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给背景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594278" y="3273552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现状与约束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30854" y="3621024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3612566" y="3730752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补上你是谁、面临什么、有哪些限制与前提。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255868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7161467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039" y="2295693"/>
            <a:ext cx="328087" cy="32808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38748" y="2944368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提期望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438748" y="3273552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想要什么答案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75324" y="3621024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6457036" y="3730752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说清要几条、什么口径、给结论还是给选项。</a:t>
            </a:r>
            <a:endParaRPr lang="en-US" sz="980" dirty="0"/>
          </a:p>
        </p:txBody>
      </p:sp>
      <p:sp>
        <p:nvSpPr>
          <p:cNvPr id="29" name="Shape 24"/>
          <p:cNvSpPr/>
          <p:nvPr/>
        </p:nvSpPr>
        <p:spPr>
          <a:xfrm>
            <a:off x="9100337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10005936" y="210312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509" y="2295693"/>
            <a:ext cx="328087" cy="328087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83217" y="2944368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会追问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9283217" y="3273552"/>
            <a:ext cx="2158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不满意就深挖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319793" y="3621024"/>
            <a:ext cx="2085518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9301505" y="3730752"/>
            <a:ext cx="21220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顺着答案继续问「为什么、还有呢、举个例」。</a:t>
            </a:r>
            <a:endParaRPr lang="en-US" sz="980" dirty="0"/>
          </a:p>
        </p:txBody>
      </p:sp>
      <p:sp>
        <p:nvSpPr>
          <p:cNvPr id="36" name="Shape 30"/>
          <p:cNvSpPr/>
          <p:nvPr/>
        </p:nvSpPr>
        <p:spPr>
          <a:xfrm>
            <a:off x="566928" y="4718304"/>
            <a:ext cx="11057839" cy="1316736"/>
          </a:xfrm>
          <a:prstGeom prst="roundRect">
            <a:avLst>
              <a:gd name="adj" fmla="val 625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1"/>
          <p:cNvSpPr/>
          <p:nvPr/>
        </p:nvSpPr>
        <p:spPr>
          <a:xfrm>
            <a:off x="932688" y="4864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同一件事，两种问法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932688" y="5193792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88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弱问法   </a:t>
            </a:r>
            <a:r>
              <a:rPr lang="en-US" sz="11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「帮我看看这个方案怎么样」—— AI 只能泛泛而谈。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932688" y="5559552"/>
            <a:ext cx="103263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强问法   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「我是零售运营，要在预算 20 万内提升复购，请从获客、体验、会员三个角度评估这个方案的风险，列成表并给改进建议」。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习惯③ 会思考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习惯③ 会思考：AI 干活，人想问题 —— 守住你的主场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会一本正经地胡说 —— 越重要的事，越要用你的判断力把最后一道关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2524430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472527" y="2121408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00" y="2313981"/>
            <a:ext cx="328087" cy="3280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2926080"/>
            <a:ext cx="21586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关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9808" y="314553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审逻辑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49808" y="3474720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推理站得住吗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8096" y="3785616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看它的论证有没有漏洞、假设成不成立。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3411398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3411398" y="1828800"/>
            <a:ext cx="2524430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316997" y="2121408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569" y="2313981"/>
            <a:ext cx="328087" cy="32808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94278" y="2926080"/>
            <a:ext cx="21586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关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594278" y="314553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核事实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594278" y="3474720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有没有编造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612566" y="3785616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 / 引用要出处，别被「一本正经」骗了。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6255868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6255868" y="1828800"/>
            <a:ext cx="2524430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7161467" y="2121408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4039" y="2313981"/>
            <a:ext cx="328087" cy="32808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38748" y="2926080"/>
            <a:ext cx="21586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关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38748" y="314553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提高度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6438748" y="3474720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先想清要什么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457036" y="3785616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别被 AI 带着走 —— 你定方向，它填内容。</a:t>
            </a:r>
            <a:endParaRPr lang="en-US" sz="960" dirty="0"/>
          </a:p>
        </p:txBody>
      </p:sp>
      <p:sp>
        <p:nvSpPr>
          <p:cNvPr id="32" name="Shape 27"/>
          <p:cNvSpPr/>
          <p:nvPr/>
        </p:nvSpPr>
        <p:spPr>
          <a:xfrm>
            <a:off x="9100337" y="1828800"/>
            <a:ext cx="2524430" cy="265176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9100337" y="1828800"/>
            <a:ext cx="2524430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10005936" y="2121408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509" y="2313981"/>
            <a:ext cx="328087" cy="328087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283217" y="2926080"/>
            <a:ext cx="21586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关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283217" y="3145536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人拍板</a:t>
            </a:r>
            <a:endParaRPr lang="en-US" sz="1700" dirty="0"/>
          </a:p>
        </p:txBody>
      </p:sp>
      <p:sp>
        <p:nvSpPr>
          <p:cNvPr id="38" name="Text 32"/>
          <p:cNvSpPr/>
          <p:nvPr/>
        </p:nvSpPr>
        <p:spPr>
          <a:xfrm>
            <a:off x="9283217" y="3474720"/>
            <a:ext cx="21586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决策你负责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301505" y="3785616"/>
            <a:ext cx="21220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重要判断与对外结论，人来定、人担责。</a:t>
            </a:r>
            <a:endParaRPr lang="en-US" sz="960" dirty="0"/>
          </a:p>
        </p:txBody>
      </p:sp>
      <p:sp>
        <p:nvSpPr>
          <p:cNvPr id="40" name="Shape 34"/>
          <p:cNvSpPr/>
          <p:nvPr/>
        </p:nvSpPr>
        <p:spPr>
          <a:xfrm>
            <a:off x="566928" y="4718304"/>
            <a:ext cx="11057839" cy="1316736"/>
          </a:xfrm>
          <a:prstGeom prst="roundRect">
            <a:avLst>
              <a:gd name="adj" fmla="val 625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5"/>
          <p:cNvSpPr/>
          <p:nvPr/>
        </p:nvSpPr>
        <p:spPr>
          <a:xfrm>
            <a:off x="566928" y="4718304"/>
            <a:ext cx="91440" cy="131673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6"/>
          <p:cNvSpPr/>
          <p:nvPr/>
        </p:nvSpPr>
        <p:spPr>
          <a:xfrm>
            <a:off x="932688" y="48828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一句话记住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932688" y="523036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是超级参谋，不是替你负责的人 —— 它给信息、给选项、给草稿，</a:t>
            </a:r>
            <a:endParaRPr lang="en-US" sz="1500" dirty="0"/>
          </a:p>
        </p:txBody>
      </p:sp>
      <p:sp>
        <p:nvSpPr>
          <p:cNvPr id="44" name="Text 38"/>
          <p:cNvSpPr/>
          <p:nvPr/>
        </p:nvSpPr>
        <p:spPr>
          <a:xfrm>
            <a:off x="932688" y="5596128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但方向、判断与责任，永远在你这边。会用 AI 的人，不是「更会问」，而是「更会想」。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养成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怎么培养：三个动作，把习惯练进每天的工作里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习惯不是听会的，是练出来的 —— 三个动作，让 AI 从「偶尔用一次」变成「离不开」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39696"/>
            <a:ext cx="493776" cy="493776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9536" y="2130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76346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479" y="2269541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9536" y="281635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每天用一次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59536" y="3255264"/>
            <a:ext cx="1554480" cy="347472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59536" y="32552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刻意练习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9536" y="3712464"/>
            <a:ext cx="2875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从一个高频活开始，逼自己每天用 AI 做一次；坚持几周，就成肌肉记忆。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74794" y="1828800"/>
            <a:ext cx="3442106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4667402" y="2139696"/>
            <a:ext cx="493776" cy="49377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4667402" y="2130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884213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346" y="2269541"/>
            <a:ext cx="252374" cy="25237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67402" y="281635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存成资产</a:t>
            </a:r>
            <a:endParaRPr lang="en-US" sz="1750" dirty="0"/>
          </a:p>
        </p:txBody>
      </p:sp>
      <p:sp>
        <p:nvSpPr>
          <p:cNvPr id="25" name="Shape 21"/>
          <p:cNvSpPr/>
          <p:nvPr/>
        </p:nvSpPr>
        <p:spPr>
          <a:xfrm>
            <a:off x="4667402" y="3255264"/>
            <a:ext cx="1554480" cy="347472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4667402" y="32552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越用越省力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667402" y="3712464"/>
            <a:ext cx="2875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把好用的提示词、问法、结果存成技能与知识库，下次一键复用、团队共享。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82661" y="1828800"/>
            <a:ext cx="3442106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8182661" y="1828800"/>
            <a:ext cx="344210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8475269" y="2139696"/>
            <a:ext cx="493776" cy="493776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8475269" y="21305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0692079" y="2121408"/>
            <a:ext cx="548640" cy="548640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0212" y="2269541"/>
            <a:ext cx="252374" cy="25237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475269" y="2816352"/>
            <a:ext cx="2893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复盘迭代</a:t>
            </a:r>
            <a:endParaRPr lang="en-US" sz="1750" dirty="0"/>
          </a:p>
        </p:txBody>
      </p:sp>
      <p:sp>
        <p:nvSpPr>
          <p:cNvPr id="35" name="Shape 30"/>
          <p:cNvSpPr/>
          <p:nvPr/>
        </p:nvSpPr>
        <p:spPr>
          <a:xfrm>
            <a:off x="8475269" y="3255264"/>
            <a:ext cx="1554480" cy="347472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8475269" y="32552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把踩坑变经验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475269" y="3712464"/>
            <a:ext cx="28751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不满意就追问打磨；定期回看哪些提效明显，和同事互相分享好用法。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66928" y="4700016"/>
            <a:ext cx="11057839" cy="1335024"/>
          </a:xfrm>
          <a:prstGeom prst="roundRect">
            <a:avLst>
              <a:gd name="adj" fmla="val 616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4"/>
          <p:cNvSpPr/>
          <p:nvPr/>
        </p:nvSpPr>
        <p:spPr>
          <a:xfrm>
            <a:off x="566928" y="4700016"/>
            <a:ext cx="91440" cy="133502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932688" y="484632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一个自检 · 你在哪一级？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932688" y="5175504"/>
            <a:ext cx="1499616" cy="384048"/>
          </a:xfrm>
          <a:prstGeom prst="roundRect">
            <a:avLst>
              <a:gd name="adj" fmla="val 16667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932688" y="517550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</a:t>
            </a: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偶尔试试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2432304" y="517550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Shape 39"/>
          <p:cNvSpPr/>
          <p:nvPr/>
        </p:nvSpPr>
        <p:spPr>
          <a:xfrm>
            <a:off x="2743200" y="5175504"/>
            <a:ext cx="1499616" cy="384048"/>
          </a:xfrm>
          <a:prstGeom prst="roundRect">
            <a:avLst>
              <a:gd name="adj" fmla="val 16667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2743200" y="517550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</a:t>
            </a: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会用工具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4242816" y="517550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47" name="Shape 42"/>
          <p:cNvSpPr/>
          <p:nvPr/>
        </p:nvSpPr>
        <p:spPr>
          <a:xfrm>
            <a:off x="4553712" y="5175504"/>
            <a:ext cx="1499616" cy="384048"/>
          </a:xfrm>
          <a:prstGeom prst="roundRect">
            <a:avLst>
              <a:gd name="adj" fmla="val 16667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3"/>
          <p:cNvSpPr/>
          <p:nvPr/>
        </p:nvSpPr>
        <p:spPr>
          <a:xfrm>
            <a:off x="4553712" y="517550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</a:t>
            </a: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融入日常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6053328" y="5175504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6364224" y="5175504"/>
            <a:ext cx="2523744" cy="384048"/>
          </a:xfrm>
          <a:prstGeom prst="roundRect">
            <a:avLst>
              <a:gd name="adj" fmla="val 16667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6"/>
          <p:cNvSpPr/>
          <p:nvPr/>
        </p:nvSpPr>
        <p:spPr>
          <a:xfrm>
            <a:off x="6364224" y="51755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</a:t>
            </a:r>
            <a:r>
              <a:rPr lang="en-US" sz="10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能教 AI · 带团队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932688" y="5632704"/>
            <a:ext cx="10326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检验：明天断了 AI，你的工作会慢半拍、还是几乎没影响？—— 影响越大，级别越高。目标：把自己从「会用」推到「融入日常、能教 AI」。</a:t>
            </a:r>
            <a:endParaRPr lang="en-US" sz="10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进阶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进流程：从「一次性问答」到「日常自动化」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真正的复利，来自把好用法沉淀下来、让它每天自动替你跑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524430" cy="2697480"/>
          </a:xfrm>
          <a:prstGeom prst="roundRect">
            <a:avLst>
              <a:gd name="adj" fmla="val 326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6" y="2311786"/>
            <a:ext cx="277612" cy="2776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76958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898648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一次性问答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2960" y="3319272"/>
            <a:ext cx="2067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想到才问一次，用完即走。门槛最低，但每次都要从头说。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100502" y="2788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11398" y="1874520"/>
            <a:ext cx="2524430" cy="2697480"/>
          </a:xfrm>
          <a:prstGeom prst="roundRect">
            <a:avLst>
              <a:gd name="adj" fmla="val 326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667430" y="214884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376" y="2311786"/>
            <a:ext cx="277612" cy="2776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1428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Lv.2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67430" y="2898648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沉淀成技能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3667430" y="3319272"/>
            <a:ext cx="2067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把常用提示词存成 Skill，一键复用 —— 团队还能共享同一套。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944972" y="2788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255868" y="1874520"/>
            <a:ext cx="2524430" cy="2697480"/>
          </a:xfrm>
          <a:prstGeom prst="roundRect">
            <a:avLst>
              <a:gd name="adj" fmla="val 326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6511900" y="2148840"/>
            <a:ext cx="603504" cy="603504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846" y="2311786"/>
            <a:ext cx="277612" cy="2776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865897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511900" y="2898648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串成工作流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6511900" y="3319272"/>
            <a:ext cx="2067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多步骤自动衔接：读文档 → 抽数据 → 出报告，一条龙跑完。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8789441" y="2788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9100337" y="1874520"/>
            <a:ext cx="2524430" cy="2697480"/>
          </a:xfrm>
          <a:prstGeom prst="roundRect">
            <a:avLst>
              <a:gd name="adj" fmla="val 326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9356369" y="2148840"/>
            <a:ext cx="603504" cy="603504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9315" y="2311786"/>
            <a:ext cx="277612" cy="27761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710367" y="2167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Lv.4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56369" y="2898648"/>
            <a:ext cx="20672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定时自动跑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9356369" y="3319272"/>
            <a:ext cx="2067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设成定时任务：每天早上自动生成晨报、舆情摘要，到点就有。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66928" y="4901184"/>
            <a:ext cx="11057839" cy="1133856"/>
          </a:xfrm>
          <a:prstGeom prst="roundRect">
            <a:avLst>
              <a:gd name="adj" fmla="val 7258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0"/>
          <p:cNvSpPr/>
          <p:nvPr/>
        </p:nvSpPr>
        <p:spPr>
          <a:xfrm>
            <a:off x="566928" y="4901184"/>
            <a:ext cx="82296" cy="113385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1"/>
          <p:cNvSpPr/>
          <p:nvPr/>
        </p:nvSpPr>
        <p:spPr>
          <a:xfrm>
            <a:off x="896112" y="50474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给你的落地建议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896112" y="5376672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 Lv.1 / Lv.2 全员铺开（人人会用、会存技能），再由科技 / 效能团队牵头，把高频场景做成 Lv.3 / Lv.4 的自动化流程 —— 个人提效沉淀为团队和组织的资产。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清单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现场练习清单 &amp; 课后共建任务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把今天学到的，立刻用到你自己的真实业务上 —— 这才算「带走了」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003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96112" y="206654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现场打卡（今天完成）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6112" y="2578608"/>
            <a:ext cx="274320" cy="2743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611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16736" y="2542032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登录桌面端助理，跑通「资料速读」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" y="3236976"/>
            <a:ext cx="274320" cy="2743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6112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6736" y="3200400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用一段录音，生成纪要 + 待办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" y="3895344"/>
            <a:ext cx="274320" cy="2743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6112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16736" y="3858768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建一个小知识库，做「制度问答」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" y="4553712"/>
            <a:ext cx="274320" cy="2743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96112" y="4535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16736" y="4517136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把一套提示词，存成自己的技能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" y="5212080"/>
            <a:ext cx="274320" cy="27432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96112" y="5193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16736" y="5175504"/>
            <a:ext cx="420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用「四习惯」改写一条你常用的问法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24448" y="1828800"/>
            <a:ext cx="5300320" cy="4160520"/>
          </a:xfrm>
          <a:prstGeom prst="roundRect">
            <a:avLst>
              <a:gd name="adj" fmla="val 1978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324448" y="1828800"/>
            <a:ext cx="82296" cy="416052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653632" y="2066544"/>
            <a:ext cx="466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课后共建（带回团队）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53632" y="2615184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653632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0560" y="2596896"/>
            <a:ext cx="411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人人选 1 个场景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0560" y="2907792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每位同事挑一个自己最痛的高频活，做成助理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653632" y="3456432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653632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0560" y="3438144"/>
            <a:ext cx="411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小组评出 Top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0560" y="3749040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团队汇总，选出 3 个最值得推广的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6653632" y="4297680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653632" y="4288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20560" y="4279392"/>
            <a:ext cx="411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科技团队做深 1 个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0560" y="4590288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把其中 1 个做成 Lv.3/Lv.4 自动化流程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6653632" y="5138928"/>
            <a:ext cx="420624" cy="42062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653632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20560" y="5120640"/>
            <a:ext cx="411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两周后回看效果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0560" y="5431536"/>
            <a:ext cx="411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对照「省了多少时间」，决定是否推广</a:t>
            </a:r>
            <a:endParaRPr lang="en-US" sz="103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用得安全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· 能源 · 航空 用 AI 的前提 —— 先把「安全可控」和「数据分级」说清楚，才能放心用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监管底线与框架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数据分级管理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部署原则与搭配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数据等级×部署矩阵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安全护栏与红线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个人使用守则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框架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监管底线：用 AI，必须站在「安全可控」之上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金融、能源、航空都是数据合规的「高敏感区」—— 用 AI 不是要不要合规，而是合规之内怎么用好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252443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2084832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2241743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2798064"/>
            <a:ext cx="2012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3182112"/>
            <a:ext cx="20123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数据分类分级管理，重要数据识别、评估与出境安全审查。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3411398" y="1810512"/>
            <a:ext cx="252443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685718" y="2084832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629" y="2241743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718" y="2798064"/>
            <a:ext cx="2012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个人信息保护法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85718" y="3182112"/>
            <a:ext cx="20123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客户个人信息处理需授权、最小必要，敏感信息单独同意。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6255868" y="1810512"/>
            <a:ext cx="252443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6530188" y="2084832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099" y="2241743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30188" y="2798064"/>
            <a:ext cx="2012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行业监管要求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30188" y="3182112"/>
            <a:ext cx="20123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金融看人民银行/金融监管总局/证监会数据与外包，能源守关基条例，保险重偿付与数据合规。</a:t>
            </a:r>
            <a:endParaRPr lang="en-US" sz="960" dirty="0"/>
          </a:p>
        </p:txBody>
      </p:sp>
      <p:sp>
        <p:nvSpPr>
          <p:cNvPr id="23" name="Shape 18"/>
          <p:cNvSpPr/>
          <p:nvPr/>
        </p:nvSpPr>
        <p:spPr>
          <a:xfrm>
            <a:off x="9100337" y="1810512"/>
            <a:ext cx="252443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9374657" y="2084832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568" y="2241743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4657" y="2798064"/>
            <a:ext cx="20123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生成式AI服务管理办法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74657" y="3182112"/>
            <a:ext cx="201236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网信办要求内容合规、算法备案、语料与生成结果可管可控。</a:t>
            </a:r>
            <a:endParaRPr lang="en-US" sz="960" dirty="0"/>
          </a:p>
        </p:txBody>
      </p:sp>
      <p:sp>
        <p:nvSpPr>
          <p:cNvPr id="28" name="Shape 22"/>
          <p:cNvSpPr/>
          <p:nvPr/>
        </p:nvSpPr>
        <p:spPr>
          <a:xfrm>
            <a:off x="566928" y="4224528"/>
            <a:ext cx="11057839" cy="1828800"/>
          </a:xfrm>
          <a:prstGeom prst="roundRect">
            <a:avLst>
              <a:gd name="adj" fmla="val 45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3"/>
          <p:cNvSpPr/>
          <p:nvPr/>
        </p:nvSpPr>
        <p:spPr>
          <a:xfrm>
            <a:off x="932688" y="4407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三条不可逾越的底线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932688" y="4956048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5"/>
          <p:cNvSpPr/>
          <p:nvPr/>
        </p:nvSpPr>
        <p:spPr>
          <a:xfrm>
            <a:off x="932688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536192" y="49377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数据不出域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2688" y="5522976"/>
            <a:ext cx="3503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敏感数据在本地/私有域内处理，不外传第三方。</a:t>
            </a:r>
            <a:endParaRPr lang="en-US" sz="1020" dirty="0"/>
          </a:p>
        </p:txBody>
      </p:sp>
      <p:sp>
        <p:nvSpPr>
          <p:cNvPr id="34" name="Shape 28"/>
          <p:cNvSpPr/>
          <p:nvPr/>
        </p:nvSpPr>
        <p:spPr>
          <a:xfrm>
            <a:off x="4527194" y="4956048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4527194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5130698" y="49377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人为最终把关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4527194" y="5522976"/>
            <a:ext cx="3503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AI只做辅助，关键决策由人复核后生效。</a:t>
            </a:r>
            <a:endParaRPr lang="en-US" sz="1020" dirty="0"/>
          </a:p>
        </p:txBody>
      </p:sp>
      <p:sp>
        <p:nvSpPr>
          <p:cNvPr id="38" name="Shape 32"/>
          <p:cNvSpPr/>
          <p:nvPr/>
        </p:nvSpPr>
        <p:spPr>
          <a:xfrm>
            <a:off x="8121701" y="4956048"/>
            <a:ext cx="457200" cy="45720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3"/>
          <p:cNvSpPr/>
          <p:nvPr/>
        </p:nvSpPr>
        <p:spPr>
          <a:xfrm>
            <a:off x="8121701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8725205" y="4937760"/>
            <a:ext cx="2771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全程可追溯</a:t>
            </a:r>
            <a:endParaRPr lang="en-US" sz="1500" dirty="0"/>
          </a:p>
        </p:txBody>
      </p:sp>
      <p:sp>
        <p:nvSpPr>
          <p:cNvPr id="41" name="Text 35"/>
          <p:cNvSpPr/>
          <p:nvPr/>
        </p:nvSpPr>
        <p:spPr>
          <a:xfrm>
            <a:off x="8121701" y="5522976"/>
            <a:ext cx="3503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调用、数据与输出全链路留痕，可审计可回溯。</a:t>
            </a:r>
            <a:endParaRPr lang="en-US" sz="10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数据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数据分级：什么能进 AI，什么绝对不能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之前先问一句「这是什么级别的数据」—— 这是每个人都要建立的肌肉记忆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2524430" cy="37033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2524430" cy="640080"/>
          </a:xfrm>
          <a:prstGeom prst="roundRect">
            <a:avLst>
              <a:gd name="adj" fmla="val 12857"/>
            </a:avLst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221992"/>
            <a:ext cx="2524430" cy="228600"/>
          </a:xfrm>
          <a:prstGeom prst="rect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76656" y="1865376"/>
            <a:ext cx="2304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公开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6656" y="2176272"/>
            <a:ext cx="2304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可自由使用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" y="2715768"/>
            <a:ext cx="91440" cy="91440"/>
          </a:xfrm>
          <a:prstGeom prst="ellipse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9264" y="2615184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已公开的研报、公告、新闻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" y="3319272"/>
            <a:ext cx="91440" cy="91440"/>
          </a:xfrm>
          <a:prstGeom prst="ellipse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9264" y="3218688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公开标准 / 规程 / 手册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" y="3922776"/>
            <a:ext cx="91440" cy="91440"/>
          </a:xfrm>
          <a:prstGeom prst="ellipse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69264" y="3822192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对外宣传与营销材料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" y="4946904"/>
            <a:ext cx="2085518" cy="384048"/>
          </a:xfrm>
          <a:prstGeom prst="roundRect">
            <a:avLst>
              <a:gd name="adj" fmla="val 50000"/>
            </a:avLst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86384" y="4946904"/>
            <a:ext cx="20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放心用公有云 AI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411398" y="1810512"/>
            <a:ext cx="2524430" cy="37033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411398" y="1810512"/>
            <a:ext cx="2524430" cy="640080"/>
          </a:xfrm>
          <a:prstGeom prst="roundRect">
            <a:avLst>
              <a:gd name="adj" fmla="val 12857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411398" y="2221992"/>
            <a:ext cx="2524430" cy="228600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521126" y="1865376"/>
            <a:ext cx="2304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内部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21126" y="2176272"/>
            <a:ext cx="2304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脱敏后谨慎用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30854" y="2715768"/>
            <a:ext cx="91440" cy="9144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813734" y="2615184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内部制度、流程、模板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30854" y="3319272"/>
            <a:ext cx="91440" cy="9144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813734" y="3218688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非敏感的内部文档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30854" y="3922776"/>
            <a:ext cx="91440" cy="9144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813734" y="3822192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一般性经营与工作资料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30854" y="4946904"/>
            <a:ext cx="2085518" cy="384048"/>
          </a:xfrm>
          <a:prstGeom prst="roundRect">
            <a:avLst>
              <a:gd name="adj" fmla="val 50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630854" y="4946904"/>
            <a:ext cx="20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走可控环境 / 脱敏后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255868" y="1810512"/>
            <a:ext cx="2524430" cy="37033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255868" y="1810512"/>
            <a:ext cx="2524430" cy="640080"/>
          </a:xfrm>
          <a:prstGeom prst="roundRect">
            <a:avLst>
              <a:gd name="adj" fmla="val 12857"/>
            </a:avLst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6255868" y="2221992"/>
            <a:ext cx="2524430" cy="228600"/>
          </a:xfrm>
          <a:prstGeom prst="rect">
            <a:avLst/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365596" y="1865376"/>
            <a:ext cx="2304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敏感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65596" y="2176272"/>
            <a:ext cx="2304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仅私有化环境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75324" y="2715768"/>
            <a:ext cx="91440" cy="91440"/>
          </a:xfrm>
          <a:prstGeom prst="ellipse">
            <a:avLst/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658204" y="2615184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/ 投保人 / 旅客信息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75324" y="3319272"/>
            <a:ext cx="91440" cy="91440"/>
          </a:xfrm>
          <a:prstGeom prst="ellipse">
            <a:avLst/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658204" y="3218688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持仓交易、病历、账户数据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5324" y="3922776"/>
            <a:ext cx="91440" cy="91440"/>
          </a:xfrm>
          <a:prstGeom prst="ellipse">
            <a:avLst/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658204" y="3822192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电网生产、飞行运行数据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75324" y="4946904"/>
            <a:ext cx="2085518" cy="384048"/>
          </a:xfrm>
          <a:prstGeom prst="roundRect">
            <a:avLst>
              <a:gd name="adj" fmla="val 50000"/>
            </a:avLst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75324" y="4946904"/>
            <a:ext cx="20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禁公有云，私有化处理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9100337" y="1810512"/>
            <a:ext cx="2524430" cy="37033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9100337" y="1810512"/>
            <a:ext cx="2524430" cy="640080"/>
          </a:xfrm>
          <a:prstGeom prst="roundRect">
            <a:avLst>
              <a:gd name="adj" fmla="val 12857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9100337" y="2221992"/>
            <a:ext cx="2524430" cy="228600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210065" y="1865376"/>
            <a:ext cx="2304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核心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210065" y="2176272"/>
            <a:ext cx="23049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禁止接入 AI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19793" y="2715768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502673" y="2615184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内幕信息、未公开重大事项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319793" y="3319272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9502673" y="3218688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/ 核保 / 调度模型参数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319793" y="3922776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502673" y="3822192"/>
            <a:ext cx="19757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国家秘密 / 关基核心数据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319793" y="4946904"/>
            <a:ext cx="2085518" cy="384048"/>
          </a:xfrm>
          <a:prstGeom prst="roundRect">
            <a:avLst>
              <a:gd name="adj" fmla="val 50000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319793" y="4946904"/>
            <a:ext cx="20855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一律不得输入任何 AI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566928" y="5705856"/>
            <a:ext cx="11057839" cy="548640"/>
          </a:xfrm>
          <a:prstGeom prst="roundRect">
            <a:avLst>
              <a:gd name="adj" fmla="val 15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96112" y="5705856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一句话判断   </a:t>
            </a: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“这条信息要是登在公开网站上，会不会出问题？”—— 会，就绝不往 AI 里贴。拿不准，按高一级处理。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部署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怎么部署：本地 Agent + 本地模型 + 云端模型，按需搭配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做深度定制，但不为单客户私有化 S2 旗舰 —— 让本地与云端各司其职，能力与安全都不让步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19072"/>
            <a:ext cx="5346040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7780">
            <a:solidFill>
              <a:srgbClr val="3C8C68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41248" y="184708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我们能为你做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79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定制化  ·  场景定制化  ·  AI 助理本地私有化  ·  本地轻量 / 专用模型部署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1719072"/>
            <a:ext cx="5346040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7780">
            <a:solidFill>
              <a:srgbClr val="B43A3A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53048" y="184708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原则上不做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53048" y="2176272"/>
            <a:ext cx="479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S2 旗舰大模型整套私有化给单一客户 —— 投入大、迭代慢、性价比低，能力反而跟不上云端持续升级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344210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3442106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931365" y="310896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938" y="3301533"/>
            <a:ext cx="328087" cy="32808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9808" y="3913632"/>
            <a:ext cx="307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" y="4224528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始终在你的内网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9808" y="4480560"/>
            <a:ext cx="3076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 · 脱敏 · 权限 · 留痕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41248" y="4718304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86384" y="4791456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助理、流程、知识库都在本地；由它决定每件事「在哪算、用哪个模型」。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4027322" y="367588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4374794" y="2852928"/>
            <a:ext cx="344210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4374794" y="2852928"/>
            <a:ext cx="3442106" cy="7315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5739232" y="310896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804" y="3301533"/>
            <a:ext cx="328087" cy="32808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57674" y="3913632"/>
            <a:ext cx="307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本地部署模型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557674" y="4224528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处理敏感数据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557674" y="4480560"/>
            <a:ext cx="3076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可私有化的轻量 / 专用模型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649114" y="4718304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4594250" y="4791456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敏感数据只在内网算、不出域 —— 用可私有化的小模型 / 专用模型承接。</a:t>
            </a:r>
            <a:endParaRPr lang="en-US" sz="960" dirty="0"/>
          </a:p>
        </p:txBody>
      </p:sp>
      <p:sp>
        <p:nvSpPr>
          <p:cNvPr id="33" name="Text 29"/>
          <p:cNvSpPr/>
          <p:nvPr/>
        </p:nvSpPr>
        <p:spPr>
          <a:xfrm>
            <a:off x="7835189" y="367588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600" dirty="0"/>
          </a:p>
        </p:txBody>
      </p:sp>
      <p:sp>
        <p:nvSpPr>
          <p:cNvPr id="34" name="Shape 30"/>
          <p:cNvSpPr/>
          <p:nvPr/>
        </p:nvSpPr>
        <p:spPr>
          <a:xfrm>
            <a:off x="8182661" y="2852928"/>
            <a:ext cx="3442106" cy="2249424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1"/>
          <p:cNvSpPr/>
          <p:nvPr/>
        </p:nvSpPr>
        <p:spPr>
          <a:xfrm>
            <a:off x="8182661" y="2852928"/>
            <a:ext cx="3442106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2"/>
          <p:cNvSpPr/>
          <p:nvPr/>
        </p:nvSpPr>
        <p:spPr>
          <a:xfrm>
            <a:off x="9547098" y="3108960"/>
            <a:ext cx="713232" cy="71323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671" y="3301533"/>
            <a:ext cx="328087" cy="328087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365541" y="3913632"/>
            <a:ext cx="3076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云端更强模型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8365541" y="4224528"/>
            <a:ext cx="30763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处理公开 / 高难度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8365541" y="4480560"/>
            <a:ext cx="3076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旗舰等 · 能力领先免运维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8456981" y="4718304"/>
            <a:ext cx="2893466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8402117" y="4791456"/>
            <a:ext cx="3003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公开信息与高难度任务交给云端旗舰，能力最强、自动跟着迭代。</a:t>
            </a:r>
            <a:endParaRPr lang="en-US" sz="960" dirty="0"/>
          </a:p>
        </p:txBody>
      </p:sp>
      <p:sp>
        <p:nvSpPr>
          <p:cNvPr id="43" name="Shape 38"/>
          <p:cNvSpPr/>
          <p:nvPr/>
        </p:nvSpPr>
        <p:spPr>
          <a:xfrm>
            <a:off x="566928" y="528523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932688" y="5285232"/>
            <a:ext cx="103263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  </a:t>
            </a:r>
            <a:r>
              <a:rPr lang="en-US" sz="1300" b="1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敏感的留本地算、公开和复杂的上云端算 —— 按数据等级动态搭配，既不让数据出域，也不放弃云端最强能力。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部署矩阵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按数据保密等级，区别部署与使用（速查矩阵）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同一个助理，按数据等级自动决定「在哪算、用哪个模型、能否出域」—— 这是安全用 AI 的核心机制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1057839" cy="457200"/>
          </a:xfrm>
          <a:prstGeom prst="roundRect">
            <a:avLst>
              <a:gd name="adj" fmla="val 12000"/>
            </a:avLst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94944" y="1828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数据等级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9424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Agent（编排·脱敏·留痕）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模型怎么用 · 在哪算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44384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典型业务例子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41864" y="182880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37744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94944" y="2560320"/>
            <a:ext cx="1243584" cy="457200"/>
          </a:xfrm>
          <a:prstGeom prst="roundRect">
            <a:avLst>
              <a:gd name="adj" fmla="val 12000"/>
            </a:avLst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4944" y="237744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公开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9424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本地编排，可直接调云端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626864" y="2377440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云端更强模型（S2 旗舰）直接处理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7644384" y="237744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研报 / 公告速读 · 规程手册 · 对外文案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23576" y="260604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323576" y="260604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可上云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20040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94944" y="3383280"/>
            <a:ext cx="1243584" cy="457200"/>
          </a:xfrm>
          <a:prstGeom prst="roundRect">
            <a:avLst>
              <a:gd name="adj" fmla="val 12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4944" y="320040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内部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49424" y="320040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本地编排 + 敏感字段脱敏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626864" y="3200400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脱敏后上云端，或本地模型处理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644384" y="320040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内部制度问答 · 流程模板 · 一般文档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23576" y="342900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0323576" y="342900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02336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694944" y="4206240"/>
            <a:ext cx="1243584" cy="457200"/>
          </a:xfrm>
          <a:prstGeom prst="roundRect">
            <a:avLst>
              <a:gd name="adj" fmla="val 12000"/>
            </a:avLst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4944" y="402336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敏感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49424" y="402336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本地编排，全程留内网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4626864" y="4023360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仅本地部署模型，数据不出内网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7644384" y="402336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/ 病历 / 持仓 · 生产 / 飞行数据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323576" y="425196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C262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323576" y="425196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不出域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4846320"/>
            <a:ext cx="11057839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94944" y="5029200"/>
            <a:ext cx="1243584" cy="457200"/>
          </a:xfrm>
          <a:prstGeom prst="roundRect">
            <a:avLst>
              <a:gd name="adj" fmla="val 12000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94944" y="484632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核心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249424" y="48463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 / 物理隔离处理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4626864" y="4846320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不接入任何 AI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7644384" y="4846320"/>
            <a:ext cx="2478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内幕信息 · 核心模型参数 · 关基数据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323576" y="507492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323576" y="507492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724144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96112" y="5724144"/>
            <a:ext cx="104177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  </a:t>
            </a:r>
            <a:r>
              <a:rPr lang="en-US" sz="11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场景 / 助理可定制、可私有化；模型不为单客户私有化 S2，而是按等级在「本地模型 / 云端旗舰」间动态选择。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架构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安全架构一张图：一个入口、两条算路、三道防线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统一入口管身份权限、按数据等级分流本地与云端、全程审计留痕 —— 让 IT 看得懂、管得住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86384" y="1819656"/>
            <a:ext cx="438912" cy="438912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01" y="1933773"/>
            <a:ext cx="210678" cy="21067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· 岗位 · 身份与权限（统一入口）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89888" y="2084832"/>
            <a:ext cx="99605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谁能用什么模型、访问哪些数据，先在这里统一管控、按岗授权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12968" y="23774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66928" y="2670048"/>
            <a:ext cx="11057839" cy="804672"/>
          </a:xfrm>
          <a:prstGeom prst="roundRect">
            <a:avLst>
              <a:gd name="adj" fmla="val 1022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66928" y="2670048"/>
            <a:ext cx="91440" cy="80467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77824" y="2761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Agent 网关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401568" y="2889504"/>
            <a:ext cx="950976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3401568" y="288950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统一编排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17136" y="2889504"/>
            <a:ext cx="1243584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517136" y="288950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敏感字段脱敏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25312" y="2889504"/>
            <a:ext cx="2414016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5925312" y="288950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策略路由（按数据等级选模型）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503920" y="2889504"/>
            <a:ext cx="950976" cy="365760"/>
          </a:xfrm>
          <a:prstGeom prst="roundRect">
            <a:avLst>
              <a:gd name="adj" fmla="val 50000"/>
            </a:avLst>
          </a:prstGeom>
          <a:ln w="12700">
            <a:solidFill>
              <a:srgbClr val="3A5C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8503920" y="288950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401568" y="3200400"/>
            <a:ext cx="79488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由本地 Agent 决定每件事「在哪算、用哪个模型、能否出域」</a:t>
            </a:r>
            <a:endParaRPr lang="en-US" sz="940" dirty="0"/>
          </a:p>
        </p:txBody>
      </p:sp>
      <p:sp>
        <p:nvSpPr>
          <p:cNvPr id="26" name="Text 23"/>
          <p:cNvSpPr/>
          <p:nvPr/>
        </p:nvSpPr>
        <p:spPr>
          <a:xfrm>
            <a:off x="3057068" y="35112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768867" y="35112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566928" y="3803904"/>
            <a:ext cx="534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7780">
            <a:solidFill>
              <a:srgbClr val="B43A3A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841248" y="4041648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94" y="4204594"/>
            <a:ext cx="277612" cy="27761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591056" y="39867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内网域 · 敏感数据（L3+）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1591056" y="4315968"/>
            <a:ext cx="415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只在本地部署的轻量 / 专用模型上算，数据全程不出内网。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278728" y="3803904"/>
            <a:ext cx="53460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7780">
            <a:solidFill>
              <a:srgbClr val="C2A14B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0"/>
          <p:cNvSpPr/>
          <p:nvPr/>
        </p:nvSpPr>
        <p:spPr>
          <a:xfrm>
            <a:off x="6553048" y="4041648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994" y="4204594"/>
            <a:ext cx="277612" cy="27761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302856" y="3986784"/>
            <a:ext cx="415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C7E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· 公开 / 高难度（L1–L2，脱敏后）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7302856" y="4315968"/>
            <a:ext cx="415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 S2 旗舰等云端模型，能力最强、免运维、自动迭代。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5912968" y="504748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39" name="Shape 34"/>
          <p:cNvSpPr/>
          <p:nvPr/>
        </p:nvSpPr>
        <p:spPr>
          <a:xfrm>
            <a:off x="566928" y="5340096"/>
            <a:ext cx="11057839" cy="713232"/>
          </a:xfrm>
          <a:prstGeom prst="roundRect">
            <a:avLst>
              <a:gd name="adj" fmla="val 11538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5"/>
          <p:cNvSpPr/>
          <p:nvPr/>
        </p:nvSpPr>
        <p:spPr>
          <a:xfrm>
            <a:off x="566928" y="5340096"/>
            <a:ext cx="91440" cy="71323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932688" y="5340096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第三道防线 · 治理与审计   </a:t>
            </a:r>
            <a:r>
              <a:rPr lang="en-US" sz="11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审计留痕（谁·何时·用了什么数据）  ·  默认不训练、不留存业务数据  ·  重要产出人工复核把关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护栏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全链路安全护栏：六道关，把风险挡在外面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+ 管理双管齐下 —— 让员工能放心用，让管理者能安心推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226003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67786" y="2048256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1248" y="2779776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权限与身份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" y="3108960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按岗位授权，谁能用什么模型、访问哪些数据，统一管控。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74794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4649114" y="210312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25" y="2260031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75653" y="2048256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49114" y="2779776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49114" y="3108960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敏感字段进入处理前自动脱敏 / 打码，降低泄露风险。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82661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8456981" y="210312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892" y="2260031"/>
            <a:ext cx="289682" cy="28968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783519" y="2048256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456981" y="2779776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网络隔离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456981" y="3108960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私有化场景内网部署，敏感数据不出可控边界。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928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841248" y="410565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159" y="4262567"/>
            <a:ext cx="289682" cy="28968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167786" y="4050792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841248" y="4782312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默认不训练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41248" y="5111496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调用商汤模型默认不用于训练、不留存业务数据。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374794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7"/>
          <p:cNvSpPr/>
          <p:nvPr/>
        </p:nvSpPr>
        <p:spPr>
          <a:xfrm>
            <a:off x="4649114" y="410565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025" y="4262567"/>
            <a:ext cx="289682" cy="28968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75653" y="4050792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9"/>
          <p:cNvSpPr/>
          <p:nvPr/>
        </p:nvSpPr>
        <p:spPr>
          <a:xfrm>
            <a:off x="4649114" y="4782312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审计留痕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649114" y="5111496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全程日志：谁、何时、问了什么、用了哪些数据，可追溯。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182661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2"/>
          <p:cNvSpPr/>
          <p:nvPr/>
        </p:nvSpPr>
        <p:spPr>
          <a:xfrm>
            <a:off x="8456981" y="410565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92" y="4262567"/>
            <a:ext cx="289682" cy="28968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783519" y="4050792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EE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34"/>
          <p:cNvSpPr/>
          <p:nvPr/>
        </p:nvSpPr>
        <p:spPr>
          <a:xfrm>
            <a:off x="8456981" y="4782312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8456981" y="5111496"/>
            <a:ext cx="2930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重要产出与对外内容，必须经人工确认后方可使用。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红线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员工使用红线：Do &amp; Don't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记不住一堆条款没关系 —— 记住这两列，就守住了大部分底线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003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9050">
            <a:solidFill>
              <a:srgbClr val="3C8C68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5300320" cy="603504"/>
          </a:xfrm>
          <a:prstGeom prst="roundRect">
            <a:avLst>
              <a:gd name="adj" fmla="val 13636"/>
            </a:avLst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5300320" cy="237744"/>
          </a:xfrm>
          <a:prstGeom prst="rect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6112" y="1828800"/>
            <a:ext cx="466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应该这样做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6517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61518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用公开信息让 AI 帮你读、帮你写、帮你算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32918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5526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把任务讲清楚，把好用法存成技能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93192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89534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重要产出、对外内容，一定人工复核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45720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53542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不确定数据级别时，先问合规、按高级别处理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" y="521208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517550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用机构提供的合规工具与账号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24448" y="1828800"/>
            <a:ext cx="53003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9050">
            <a:solidFill>
              <a:srgbClr val="B43A3A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324448" y="1828800"/>
            <a:ext cx="5300320" cy="603504"/>
          </a:xfrm>
          <a:prstGeom prst="roundRect">
            <a:avLst>
              <a:gd name="adj" fmla="val 13636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324448" y="2194560"/>
            <a:ext cx="5300320" cy="237744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53632" y="1828800"/>
            <a:ext cx="466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绝对不要做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53632" y="26517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37680" y="261518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把客户 / 病历 / 持仓 / 旅客数据贴进公有云 AI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53632" y="32918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37680" y="325526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把内幕信息、未公开重大事项输入任何 AI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53632" y="393192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37680" y="389534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把核心模型、生产 / 关基数据外传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53632" y="45720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37680" y="453542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生成内容不加复核就直接对外发布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53632" y="521208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37680" y="517550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用私人账号 / 来路不明的工具处理工作数据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速查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AI 助理 · 安全使用守则（一页速查）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把这页存进收藏夹 —— 用 AI 前扫一眼，安全又安心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86384" y="2029968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86384" y="2020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08176" y="2029968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293" y="2144085"/>
            <a:ext cx="210678" cy="21067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93392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先判级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993392" y="2231136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用之前先想：这是 L1~L4 哪一级数据？拿不准按高一级。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278728" y="1828800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6498184" y="2029968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498184" y="2020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19976" y="2029968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093" y="2144085"/>
            <a:ext cx="210678" cy="21067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05192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先脱敏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7705192" y="2231136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姓名、账号、金额、证件等敏感字段，先打码再处理。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566928" y="2816352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786384" y="3017520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786384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408176" y="3017520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293" y="3131637"/>
            <a:ext cx="210678" cy="21067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93392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选对环境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993392" y="3218688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公开信息可上云；敏感业务只在私有化环境里用。</a:t>
            </a:r>
            <a:endParaRPr lang="en-US" sz="980" dirty="0"/>
          </a:p>
        </p:txBody>
      </p:sp>
      <p:sp>
        <p:nvSpPr>
          <p:cNvPr id="29" name="Shape 24"/>
          <p:cNvSpPr/>
          <p:nvPr/>
        </p:nvSpPr>
        <p:spPr>
          <a:xfrm>
            <a:off x="6278728" y="2816352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6498184" y="3017520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6498184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7119976" y="3017520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093" y="3131637"/>
            <a:ext cx="210678" cy="21067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705192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看出处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7705192" y="3218688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涉及制度/事实的回答，要求 AI 给出处，别全信。</a:t>
            </a:r>
            <a:endParaRPr lang="en-US" sz="980" dirty="0"/>
          </a:p>
        </p:txBody>
      </p:sp>
      <p:sp>
        <p:nvSpPr>
          <p:cNvPr id="36" name="Shape 30"/>
          <p:cNvSpPr/>
          <p:nvPr/>
        </p:nvSpPr>
        <p:spPr>
          <a:xfrm>
            <a:off x="566928" y="3803904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786384" y="4005072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786384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1408176" y="4005072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2293" y="4119189"/>
            <a:ext cx="210678" cy="21067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993392" y="3913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人把关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1993392" y="4206240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重要文稿、对外内容、关键决策，AI 出草稿、你来定。</a:t>
            </a:r>
            <a:endParaRPr lang="en-US" sz="980" dirty="0"/>
          </a:p>
        </p:txBody>
      </p:sp>
      <p:sp>
        <p:nvSpPr>
          <p:cNvPr id="43" name="Shape 36"/>
          <p:cNvSpPr/>
          <p:nvPr/>
        </p:nvSpPr>
        <p:spPr>
          <a:xfrm>
            <a:off x="6278728" y="3803904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37"/>
          <p:cNvSpPr/>
          <p:nvPr/>
        </p:nvSpPr>
        <p:spPr>
          <a:xfrm>
            <a:off x="6498184" y="4005072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38"/>
          <p:cNvSpPr/>
          <p:nvPr/>
        </p:nvSpPr>
        <p:spPr>
          <a:xfrm>
            <a:off x="6498184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7119976" y="4005072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4093" y="4119189"/>
            <a:ext cx="210678" cy="21067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7705192" y="3913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用对账号</a:t>
            </a:r>
            <a:endParaRPr lang="en-US" sz="1350" dirty="0"/>
          </a:p>
        </p:txBody>
      </p:sp>
      <p:sp>
        <p:nvSpPr>
          <p:cNvPr id="49" name="Text 41"/>
          <p:cNvSpPr/>
          <p:nvPr/>
        </p:nvSpPr>
        <p:spPr>
          <a:xfrm>
            <a:off x="7705192" y="4206240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只用机构提供的合规工具与账号，不用私人/野生工具。</a:t>
            </a:r>
            <a:endParaRPr lang="en-US" sz="980" dirty="0"/>
          </a:p>
        </p:txBody>
      </p:sp>
      <p:sp>
        <p:nvSpPr>
          <p:cNvPr id="50" name="Shape 42"/>
          <p:cNvSpPr/>
          <p:nvPr/>
        </p:nvSpPr>
        <p:spPr>
          <a:xfrm>
            <a:off x="566928" y="4791456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3"/>
          <p:cNvSpPr/>
          <p:nvPr/>
        </p:nvSpPr>
        <p:spPr>
          <a:xfrm>
            <a:off x="786384" y="4992624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4"/>
          <p:cNvSpPr/>
          <p:nvPr/>
        </p:nvSpPr>
        <p:spPr>
          <a:xfrm>
            <a:off x="786384" y="4983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53" name="Shape 45"/>
          <p:cNvSpPr/>
          <p:nvPr/>
        </p:nvSpPr>
        <p:spPr>
          <a:xfrm>
            <a:off x="1408176" y="49926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293" y="5106741"/>
            <a:ext cx="210678" cy="21067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993392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守红线</a:t>
            </a:r>
            <a:endParaRPr lang="en-US" sz="1350" dirty="0"/>
          </a:p>
        </p:txBody>
      </p:sp>
      <p:sp>
        <p:nvSpPr>
          <p:cNvPr id="56" name="Text 47"/>
          <p:cNvSpPr/>
          <p:nvPr/>
        </p:nvSpPr>
        <p:spPr>
          <a:xfrm>
            <a:off x="1993392" y="5193792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内幕信息、核心数据、关基数据 —— 一律不进 AI。</a:t>
            </a:r>
            <a:endParaRPr lang="en-US" sz="980" dirty="0"/>
          </a:p>
        </p:txBody>
      </p:sp>
      <p:sp>
        <p:nvSpPr>
          <p:cNvPr id="57" name="Shape 48"/>
          <p:cNvSpPr/>
          <p:nvPr/>
        </p:nvSpPr>
        <p:spPr>
          <a:xfrm>
            <a:off x="6278728" y="4791456"/>
            <a:ext cx="53460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49"/>
          <p:cNvSpPr/>
          <p:nvPr/>
        </p:nvSpPr>
        <p:spPr>
          <a:xfrm>
            <a:off x="6498184" y="4992624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0"/>
          <p:cNvSpPr/>
          <p:nvPr/>
        </p:nvSpPr>
        <p:spPr>
          <a:xfrm>
            <a:off x="6498184" y="4983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60" name="Shape 51"/>
          <p:cNvSpPr/>
          <p:nvPr/>
        </p:nvSpPr>
        <p:spPr>
          <a:xfrm>
            <a:off x="7119976" y="4992624"/>
            <a:ext cx="438912" cy="43891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4093" y="5106741"/>
            <a:ext cx="210678" cy="21067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7705192" y="4901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拿不准就问</a:t>
            </a:r>
            <a:endParaRPr lang="en-US" sz="1350" dirty="0"/>
          </a:p>
        </p:txBody>
      </p:sp>
      <p:sp>
        <p:nvSpPr>
          <p:cNvPr id="63" name="Text 53"/>
          <p:cNvSpPr/>
          <p:nvPr/>
        </p:nvSpPr>
        <p:spPr>
          <a:xfrm>
            <a:off x="7705192" y="5193792"/>
            <a:ext cx="370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有疑问先问合规与科技团队，别凭感觉操作。</a:t>
            </a:r>
            <a:endParaRPr lang="en-US" sz="9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ADOPTION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把「会用」变成组织级的「用得好、用得久」—— 你的团队怎么一步步推起来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从个人到组织 · 三步走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试点蓝图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治理与推广机制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分行业落地建议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天行动计划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路径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从个人到组织：三步走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落地不是一次性项目，而是「个人提效 → 团队复用 → 组织资产」的滚动复利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381146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338114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85416"/>
            <a:ext cx="676656" cy="67665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33" y="2368113"/>
            <a:ext cx="311262" cy="3112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82496" y="2258568"/>
            <a:ext cx="2100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82496" y="2496312"/>
            <a:ext cx="2100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 · 人人会用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59536" y="3081528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全员都能创建并用好自己的 AI 助理，把日常高频活交给它。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59536" y="3867912"/>
            <a:ext cx="279593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77824" y="4059936"/>
            <a:ext cx="91440" cy="9144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060704" y="395935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全员普及与培训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77824" y="4425696"/>
            <a:ext cx="91440" cy="9144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60704" y="432511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人手一个 AI 助理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77824" y="4791456"/>
            <a:ext cx="91440" cy="91440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1060704" y="469087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提示词四习惯成肌肉记忆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4002938" y="315468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4405274" y="1874520"/>
            <a:ext cx="3381146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4405274" y="1874520"/>
            <a:ext cx="338114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4697882" y="2185416"/>
            <a:ext cx="676656" cy="67665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580" y="2368113"/>
            <a:ext cx="311262" cy="31126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520842" y="2258568"/>
            <a:ext cx="2100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520842" y="2496312"/>
            <a:ext cx="2100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 · 团队共享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4697882" y="3081528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把好用的提示词、技能、知识库在团队内沉淀和复用。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4697882" y="3867912"/>
            <a:ext cx="279593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7"/>
          <p:cNvSpPr/>
          <p:nvPr/>
        </p:nvSpPr>
        <p:spPr>
          <a:xfrm>
            <a:off x="4716170" y="4059936"/>
            <a:ext cx="91440" cy="9144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8"/>
          <p:cNvSpPr/>
          <p:nvPr/>
        </p:nvSpPr>
        <p:spPr>
          <a:xfrm>
            <a:off x="4899050" y="395935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/ 知识库共享</a:t>
            </a:r>
            <a:endParaRPr lang="en-US" sz="1020" dirty="0"/>
          </a:p>
        </p:txBody>
      </p:sp>
      <p:sp>
        <p:nvSpPr>
          <p:cNvPr id="33" name="Shape 29"/>
          <p:cNvSpPr/>
          <p:nvPr/>
        </p:nvSpPr>
        <p:spPr>
          <a:xfrm>
            <a:off x="4716170" y="4425696"/>
            <a:ext cx="91440" cy="9144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0"/>
          <p:cNvSpPr/>
          <p:nvPr/>
        </p:nvSpPr>
        <p:spPr>
          <a:xfrm>
            <a:off x="4899050" y="432511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高频场景做成工作流</a:t>
            </a:r>
            <a:endParaRPr lang="en-US" sz="1020" dirty="0"/>
          </a:p>
        </p:txBody>
      </p:sp>
      <p:sp>
        <p:nvSpPr>
          <p:cNvPr id="35" name="Shape 31"/>
          <p:cNvSpPr/>
          <p:nvPr/>
        </p:nvSpPr>
        <p:spPr>
          <a:xfrm>
            <a:off x="4716170" y="4791456"/>
            <a:ext cx="91440" cy="91440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2"/>
          <p:cNvSpPr/>
          <p:nvPr/>
        </p:nvSpPr>
        <p:spPr>
          <a:xfrm>
            <a:off x="4899050" y="469087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 / 效能团队牵头</a:t>
            </a:r>
            <a:endParaRPr lang="en-US" sz="1020" dirty="0"/>
          </a:p>
        </p:txBody>
      </p:sp>
      <p:sp>
        <p:nvSpPr>
          <p:cNvPr id="37" name="Text 33"/>
          <p:cNvSpPr/>
          <p:nvPr/>
        </p:nvSpPr>
        <p:spPr>
          <a:xfrm>
            <a:off x="7841285" y="315468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38" name="Shape 34"/>
          <p:cNvSpPr/>
          <p:nvPr/>
        </p:nvSpPr>
        <p:spPr>
          <a:xfrm>
            <a:off x="8243621" y="1874520"/>
            <a:ext cx="3381146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5"/>
          <p:cNvSpPr/>
          <p:nvPr/>
        </p:nvSpPr>
        <p:spPr>
          <a:xfrm>
            <a:off x="8243621" y="1874520"/>
            <a:ext cx="338114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6"/>
          <p:cNvSpPr/>
          <p:nvPr/>
        </p:nvSpPr>
        <p:spPr>
          <a:xfrm>
            <a:off x="8536229" y="2185416"/>
            <a:ext cx="676656" cy="67665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926" y="2368113"/>
            <a:ext cx="311262" cy="31126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9359189" y="2258568"/>
            <a:ext cx="2100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9359189" y="2496312"/>
            <a:ext cx="2100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 · 组织资产</a:t>
            </a:r>
            <a:endParaRPr lang="en-US" sz="1550" dirty="0"/>
          </a:p>
        </p:txBody>
      </p:sp>
      <p:sp>
        <p:nvSpPr>
          <p:cNvPr id="44" name="Text 39"/>
          <p:cNvSpPr/>
          <p:nvPr/>
        </p:nvSpPr>
        <p:spPr>
          <a:xfrm>
            <a:off x="8536229" y="3081528"/>
            <a:ext cx="28325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形成机构专属的智能体资产、治理机制与安全规范。</a:t>
            </a:r>
            <a:endParaRPr lang="en-US" sz="1080" dirty="0"/>
          </a:p>
        </p:txBody>
      </p:sp>
      <p:sp>
        <p:nvSpPr>
          <p:cNvPr id="45" name="Shape 40"/>
          <p:cNvSpPr/>
          <p:nvPr/>
        </p:nvSpPr>
        <p:spPr>
          <a:xfrm>
            <a:off x="8536229" y="3867912"/>
            <a:ext cx="279593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1"/>
          <p:cNvSpPr/>
          <p:nvPr/>
        </p:nvSpPr>
        <p:spPr>
          <a:xfrm>
            <a:off x="8554517" y="4059936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2"/>
          <p:cNvSpPr/>
          <p:nvPr/>
        </p:nvSpPr>
        <p:spPr>
          <a:xfrm>
            <a:off x="8737397" y="395935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专属智能体资产沉淀</a:t>
            </a:r>
            <a:endParaRPr lang="en-US" sz="1020" dirty="0"/>
          </a:p>
        </p:txBody>
      </p:sp>
      <p:sp>
        <p:nvSpPr>
          <p:cNvPr id="48" name="Shape 43"/>
          <p:cNvSpPr/>
          <p:nvPr/>
        </p:nvSpPr>
        <p:spPr>
          <a:xfrm>
            <a:off x="8554517" y="4425696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4"/>
          <p:cNvSpPr/>
          <p:nvPr/>
        </p:nvSpPr>
        <p:spPr>
          <a:xfrm>
            <a:off x="8737397" y="432511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统一治理与安全规范</a:t>
            </a:r>
            <a:endParaRPr lang="en-US" sz="1020" dirty="0"/>
          </a:p>
        </p:txBody>
      </p:sp>
      <p:sp>
        <p:nvSpPr>
          <p:cNvPr id="50" name="Shape 45"/>
          <p:cNvSpPr/>
          <p:nvPr/>
        </p:nvSpPr>
        <p:spPr>
          <a:xfrm>
            <a:off x="8554517" y="4791456"/>
            <a:ext cx="91440" cy="91440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6"/>
          <p:cNvSpPr/>
          <p:nvPr/>
        </p:nvSpPr>
        <p:spPr>
          <a:xfrm>
            <a:off x="8737397" y="4690872"/>
            <a:ext cx="2649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科技团队持续运营</a:t>
            </a:r>
            <a:endParaRPr lang="en-US" sz="1020" dirty="0"/>
          </a:p>
        </p:txBody>
      </p:sp>
      <p:sp>
        <p:nvSpPr>
          <p:cNvPr id="52" name="Shape 47"/>
          <p:cNvSpPr/>
          <p:nvPr/>
        </p:nvSpPr>
        <p:spPr>
          <a:xfrm>
            <a:off x="566928" y="5340096"/>
            <a:ext cx="11057839" cy="694944"/>
          </a:xfrm>
          <a:prstGeom prst="roundRect">
            <a:avLst>
              <a:gd name="adj" fmla="val 11842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8"/>
          <p:cNvSpPr/>
          <p:nvPr/>
        </p:nvSpPr>
        <p:spPr>
          <a:xfrm>
            <a:off x="932688" y="5340096"/>
            <a:ext cx="103263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节奏建议   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不求一步到位 —— 先用 1~2 个月让大家用起来、尝到甜头，再谈团队复用与组织化，越往后复利越大。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试点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试点蓝图：选场景 · 定指标 · 跑通闭环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不贪大求全 —— 选一两个最痛的场景，30 天跑出实打实的效果，再复制推广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2490140" cy="2651760"/>
          </a:xfrm>
          <a:prstGeom prst="roundRect">
            <a:avLst>
              <a:gd name="adj" fmla="val 3305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473670" y="2148840"/>
            <a:ext cx="676656" cy="6766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67" y="2331537"/>
            <a:ext cx="311262" cy="3112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2953512"/>
            <a:ext cx="2124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选场景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8096" y="3319272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1~2 个高频、痛、可量化的场景</a:t>
            </a:r>
            <a:endParaRPr lang="en-US" sz="1030" dirty="0"/>
          </a:p>
        </p:txBody>
      </p:sp>
      <p:sp>
        <p:nvSpPr>
          <p:cNvPr id="13" name="Text 10"/>
          <p:cNvSpPr/>
          <p:nvPr/>
        </p:nvSpPr>
        <p:spPr>
          <a:xfrm>
            <a:off x="768096" y="3995928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如：资料速读、会议纪要、制度问答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3075356" y="28803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3422828" y="1874520"/>
            <a:ext cx="2490140" cy="2651760"/>
          </a:xfrm>
          <a:prstGeom prst="roundRect">
            <a:avLst>
              <a:gd name="adj" fmla="val 3305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329570" y="2148840"/>
            <a:ext cx="676656" cy="6766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267" y="2331537"/>
            <a:ext cx="311262" cy="3112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05708" y="2953512"/>
            <a:ext cx="2124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定指标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623996" y="3319272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明确「省多少时间 / 提多少质量」</a:t>
            </a:r>
            <a:endParaRPr lang="en-US" sz="1030" dirty="0"/>
          </a:p>
        </p:txBody>
      </p:sp>
      <p:sp>
        <p:nvSpPr>
          <p:cNvPr id="20" name="Text 16"/>
          <p:cNvSpPr/>
          <p:nvPr/>
        </p:nvSpPr>
        <p:spPr>
          <a:xfrm>
            <a:off x="3623996" y="3995928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试点前后对比，用数据说话</a:t>
            </a:r>
            <a:endParaRPr lang="en-US" sz="930" dirty="0"/>
          </a:p>
        </p:txBody>
      </p:sp>
      <p:sp>
        <p:nvSpPr>
          <p:cNvPr id="21" name="Text 17"/>
          <p:cNvSpPr/>
          <p:nvPr/>
        </p:nvSpPr>
        <p:spPr>
          <a:xfrm>
            <a:off x="5931256" y="28803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6278728" y="1874520"/>
            <a:ext cx="2490140" cy="2651760"/>
          </a:xfrm>
          <a:prstGeom prst="roundRect">
            <a:avLst>
              <a:gd name="adj" fmla="val 3305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7185470" y="2148840"/>
            <a:ext cx="676656" cy="6766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167" y="2331537"/>
            <a:ext cx="311262" cy="3112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61608" y="2953512"/>
            <a:ext cx="2124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跑闭环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9896" y="3319272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搭助理 → 用起来 → 收集反馈迭代</a:t>
            </a:r>
            <a:endParaRPr lang="en-US" sz="1030" dirty="0"/>
          </a:p>
        </p:txBody>
      </p:sp>
      <p:sp>
        <p:nvSpPr>
          <p:cNvPr id="27" name="Text 22"/>
          <p:cNvSpPr/>
          <p:nvPr/>
        </p:nvSpPr>
        <p:spPr>
          <a:xfrm>
            <a:off x="6479896" y="3995928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让真实用户用真实任务跑两周</a:t>
            </a:r>
            <a:endParaRPr lang="en-US" sz="930" dirty="0"/>
          </a:p>
        </p:txBody>
      </p:sp>
      <p:sp>
        <p:nvSpPr>
          <p:cNvPr id="28" name="Text 23"/>
          <p:cNvSpPr/>
          <p:nvPr/>
        </p:nvSpPr>
        <p:spPr>
          <a:xfrm>
            <a:off x="8787155" y="28803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9134627" y="1874520"/>
            <a:ext cx="2490140" cy="2651760"/>
          </a:xfrm>
          <a:prstGeom prst="roundRect">
            <a:avLst>
              <a:gd name="adj" fmla="val 3305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10041369" y="2148840"/>
            <a:ext cx="676656" cy="676656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4066" y="2331537"/>
            <a:ext cx="311262" cy="31126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317507" y="2953512"/>
            <a:ext cx="2124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再复制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335795" y="3319272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效果达标后，复制到相邻岗位</a:t>
            </a:r>
            <a:endParaRPr lang="en-US" sz="1030" dirty="0"/>
          </a:p>
        </p:txBody>
      </p:sp>
      <p:sp>
        <p:nvSpPr>
          <p:cNvPr id="34" name="Text 28"/>
          <p:cNvSpPr/>
          <p:nvPr/>
        </p:nvSpPr>
        <p:spPr>
          <a:xfrm>
            <a:off x="9335795" y="3995928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i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沉淀为技能与工作流，规模推广</a:t>
            </a:r>
            <a:endParaRPr lang="en-US" sz="930" dirty="0"/>
          </a:p>
        </p:txBody>
      </p:sp>
      <p:sp>
        <p:nvSpPr>
          <p:cNvPr id="35" name="Shape 29"/>
          <p:cNvSpPr/>
          <p:nvPr/>
        </p:nvSpPr>
        <p:spPr>
          <a:xfrm>
            <a:off x="566928" y="4791456"/>
            <a:ext cx="11057839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0"/>
          <p:cNvSpPr/>
          <p:nvPr/>
        </p:nvSpPr>
        <p:spPr>
          <a:xfrm>
            <a:off x="896112" y="4937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试点成功的三个标志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896112" y="5321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1316736" y="5321808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用得起来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1316736" y="5614416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目标用户真的天天在用，而不是用一次就放下</a:t>
            </a:r>
            <a:endParaRPr lang="en-US" sz="980" dirty="0"/>
          </a:p>
        </p:txBody>
      </p:sp>
      <p:sp>
        <p:nvSpPr>
          <p:cNvPr id="40" name="Text 34"/>
          <p:cNvSpPr/>
          <p:nvPr/>
        </p:nvSpPr>
        <p:spPr>
          <a:xfrm>
            <a:off x="4484522" y="5321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000" dirty="0"/>
          </a:p>
        </p:txBody>
      </p:sp>
      <p:sp>
        <p:nvSpPr>
          <p:cNvPr id="41" name="Text 35"/>
          <p:cNvSpPr/>
          <p:nvPr/>
        </p:nvSpPr>
        <p:spPr>
          <a:xfrm>
            <a:off x="4905146" y="5321808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省得出来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4905146" y="5614416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关键任务时间 / 工作量有可量化的下降</a:t>
            </a:r>
            <a:endParaRPr lang="en-US" sz="980" dirty="0"/>
          </a:p>
        </p:txBody>
      </p:sp>
      <p:sp>
        <p:nvSpPr>
          <p:cNvPr id="43" name="Text 37"/>
          <p:cNvSpPr/>
          <p:nvPr/>
        </p:nvSpPr>
        <p:spPr>
          <a:xfrm>
            <a:off x="8072933" y="5321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000" dirty="0"/>
          </a:p>
        </p:txBody>
      </p:sp>
      <p:sp>
        <p:nvSpPr>
          <p:cNvPr id="44" name="Text 38"/>
          <p:cNvSpPr/>
          <p:nvPr/>
        </p:nvSpPr>
        <p:spPr>
          <a:xfrm>
            <a:off x="8493557" y="5321808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想推出去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8493557" y="5614416"/>
            <a:ext cx="29483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用过的人主动愿意推荐给同事</a:t>
            </a:r>
            <a:endParaRPr lang="en-US" sz="9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治理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治理与推广机制：让 AI 用得好、管得住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技术之外，更需要机制 —— 三套机制让 AI 在你的机构可持续地用下去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442106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59536" y="2167128"/>
            <a:ext cx="676656" cy="67665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33" y="2349825"/>
            <a:ext cx="311262" cy="3112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82496" y="2258568"/>
            <a:ext cx="2161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谁来牵头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82496" y="2514600"/>
            <a:ext cx="2161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推进小组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59536" y="3172968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877824" y="3410712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078992" y="3300984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 / 效能 + 业务联合牵头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877824" y="3922776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078992" y="3813048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统筹场景、资源、安全与推广节奏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877824" y="4434840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78992" y="4325112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对接商汤等外部能力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4374794" y="1874520"/>
            <a:ext cx="3442106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4667402" y="2167128"/>
            <a:ext cx="676656" cy="67665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100" y="2349825"/>
            <a:ext cx="311262" cy="31126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90362" y="2258568"/>
            <a:ext cx="2161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谁来带动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490362" y="2514600"/>
            <a:ext cx="2161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AI 冠军</a:t>
            </a:r>
            <a:endParaRPr lang="en-US" sz="1650" dirty="0"/>
          </a:p>
        </p:txBody>
      </p:sp>
      <p:sp>
        <p:nvSpPr>
          <p:cNvPr id="25" name="Shape 21"/>
          <p:cNvSpPr/>
          <p:nvPr/>
        </p:nvSpPr>
        <p:spPr>
          <a:xfrm>
            <a:off x="4667402" y="3172968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4685690" y="3410712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4886858" y="3300984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各部门选 1 名「AI 冠军」种子用户</a:t>
            </a:r>
            <a:endParaRPr lang="en-US" sz="1060" dirty="0"/>
          </a:p>
        </p:txBody>
      </p:sp>
      <p:sp>
        <p:nvSpPr>
          <p:cNvPr id="28" name="Shape 24"/>
          <p:cNvSpPr/>
          <p:nvPr/>
        </p:nvSpPr>
        <p:spPr>
          <a:xfrm>
            <a:off x="4685690" y="3922776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4886858" y="3813048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带头实践、答疑、分享好用法</a:t>
            </a:r>
            <a:endParaRPr lang="en-US" sz="1060" dirty="0"/>
          </a:p>
        </p:txBody>
      </p:sp>
      <p:sp>
        <p:nvSpPr>
          <p:cNvPr id="30" name="Shape 26"/>
          <p:cNvSpPr/>
          <p:nvPr/>
        </p:nvSpPr>
        <p:spPr>
          <a:xfrm>
            <a:off x="4685690" y="4434840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4886858" y="4325112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形成由点到面的扩散网络</a:t>
            </a:r>
            <a:endParaRPr lang="en-US" sz="1060" dirty="0"/>
          </a:p>
        </p:txBody>
      </p:sp>
      <p:sp>
        <p:nvSpPr>
          <p:cNvPr id="32" name="Shape 28"/>
          <p:cNvSpPr/>
          <p:nvPr/>
        </p:nvSpPr>
        <p:spPr>
          <a:xfrm>
            <a:off x="8182661" y="1874520"/>
            <a:ext cx="3442106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9"/>
          <p:cNvSpPr/>
          <p:nvPr/>
        </p:nvSpPr>
        <p:spPr>
          <a:xfrm>
            <a:off x="8475269" y="2167128"/>
            <a:ext cx="676656" cy="67665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966" y="2349825"/>
            <a:ext cx="311262" cy="31126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298229" y="2258568"/>
            <a:ext cx="2161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9298229" y="2514600"/>
            <a:ext cx="2161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培训与分享</a:t>
            </a:r>
            <a:endParaRPr lang="en-US" sz="1650" dirty="0"/>
          </a:p>
        </p:txBody>
      </p:sp>
      <p:sp>
        <p:nvSpPr>
          <p:cNvPr id="37" name="Shape 32"/>
          <p:cNvSpPr/>
          <p:nvPr/>
        </p:nvSpPr>
        <p:spPr>
          <a:xfrm>
            <a:off x="8475269" y="3172968"/>
            <a:ext cx="285689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3"/>
          <p:cNvSpPr/>
          <p:nvPr/>
        </p:nvSpPr>
        <p:spPr>
          <a:xfrm>
            <a:off x="8493557" y="3410712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8694725" y="3300984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定期工作坊 + 案例分享会</a:t>
            </a:r>
            <a:endParaRPr lang="en-US" sz="1060" dirty="0"/>
          </a:p>
        </p:txBody>
      </p:sp>
      <p:sp>
        <p:nvSpPr>
          <p:cNvPr id="40" name="Shape 35"/>
          <p:cNvSpPr/>
          <p:nvPr/>
        </p:nvSpPr>
        <p:spPr>
          <a:xfrm>
            <a:off x="8493557" y="3922776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8694725" y="3813048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沉淀提示词库、技能库、最佳实践</a:t>
            </a:r>
            <a:endParaRPr lang="en-US" sz="1060" dirty="0"/>
          </a:p>
        </p:txBody>
      </p:sp>
      <p:sp>
        <p:nvSpPr>
          <p:cNvPr id="42" name="Shape 37"/>
          <p:cNvSpPr/>
          <p:nvPr/>
        </p:nvSpPr>
        <p:spPr>
          <a:xfrm>
            <a:off x="8493557" y="4434840"/>
            <a:ext cx="100584" cy="100584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8"/>
          <p:cNvSpPr/>
          <p:nvPr/>
        </p:nvSpPr>
        <p:spPr>
          <a:xfrm>
            <a:off x="8694725" y="4325112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把会用的人变成教别人的人</a:t>
            </a:r>
            <a:endParaRPr lang="en-US" sz="1060" dirty="0"/>
          </a:p>
        </p:txBody>
      </p:sp>
      <p:sp>
        <p:nvSpPr>
          <p:cNvPr id="44" name="Shape 39"/>
          <p:cNvSpPr/>
          <p:nvPr/>
        </p:nvSpPr>
        <p:spPr>
          <a:xfrm>
            <a:off x="566928" y="5138928"/>
            <a:ext cx="11057839" cy="896112"/>
          </a:xfrm>
          <a:prstGeom prst="roundRect">
            <a:avLst>
              <a:gd name="adj" fmla="val 918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0"/>
          <p:cNvSpPr/>
          <p:nvPr/>
        </p:nvSpPr>
        <p:spPr>
          <a:xfrm>
            <a:off x="566928" y="5138928"/>
            <a:ext cx="82296" cy="89611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932688" y="5138928"/>
            <a:ext cx="1032631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  </a:t>
            </a:r>
            <a:r>
              <a:rPr lang="en-US" sz="12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落地「三分技术、七分推广」—— 有人牵头、有人带动、有人分享，AI 才不会停在「试过一次」，而是长成组织的能力。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分行业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分行业落地建议：先做哪一件、怎么控风险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行业不同、起点不同 —— 给在座每个行业一句最务实的「从哪开始」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91440" cy="749808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77824" y="1975104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44" y="2108424"/>
            <a:ext cx="227137" cy="22713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27632" y="199339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627632" y="1993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01568" y="1847088"/>
            <a:ext cx="7948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  </a:t>
            </a: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先从内部知识问答、合规审查试点；核心数据走本地私有化，分级管控。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272491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66928" y="2724912"/>
            <a:ext cx="91440" cy="749808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77824" y="285292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44" y="2986248"/>
            <a:ext cx="227137" cy="22713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627632" y="287121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1627632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农商行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01568" y="2724912"/>
            <a:ext cx="7948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  </a:t>
            </a: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从网点客服、信贷材料整理切入；轻量模型本地部署，控成本控风险。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66928" y="3602736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566928" y="3602736"/>
            <a:ext cx="91440" cy="749808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877824" y="3730752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144" y="3864072"/>
            <a:ext cx="227137" cy="227137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627632" y="37490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2"/>
          <p:cNvSpPr/>
          <p:nvPr/>
        </p:nvSpPr>
        <p:spPr>
          <a:xfrm>
            <a:off x="1627632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401568" y="3602736"/>
            <a:ext cx="7948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  </a:t>
            </a: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先做核保理赔材料审阅、坐席辅助；敏感保单数据本地化，逐级放开。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66928" y="4480560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566928" y="4480560"/>
            <a:ext cx="91440" cy="74980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6"/>
          <p:cNvSpPr/>
          <p:nvPr/>
        </p:nvSpPr>
        <p:spPr>
          <a:xfrm>
            <a:off x="877824" y="4608576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144" y="4741896"/>
            <a:ext cx="227137" cy="227137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1627632" y="462686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1627632" y="46268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3401568" y="4480560"/>
            <a:ext cx="7948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  </a:t>
            </a: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从运控简报、机务手册问答起步；关键运行数据私有化部署，稳字优先。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566928" y="5358384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566928" y="5358384"/>
            <a:ext cx="91440" cy="749808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2"/>
          <p:cNvSpPr/>
          <p:nvPr/>
        </p:nvSpPr>
        <p:spPr>
          <a:xfrm>
            <a:off x="877824" y="5486400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144" y="5619720"/>
            <a:ext cx="227137" cy="227137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1627632" y="550468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4"/>
          <p:cNvSpPr/>
          <p:nvPr/>
        </p:nvSpPr>
        <p:spPr>
          <a:xfrm>
            <a:off x="1627632" y="5504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能源电网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401568" y="5358384"/>
            <a:ext cx="7948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  </a:t>
            </a: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先做调度值班辅助、设备台账问答；生产网数据本地隔离，先内网试点。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计划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天行动计划：从今天到见效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一个务实、可执行的起步节奏 —— 三个月，让 AI 从「试一试」到「用起来」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3381146" cy="3611880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74520"/>
            <a:ext cx="3381146" cy="786384"/>
          </a:xfrm>
          <a:prstGeom prst="roundRect">
            <a:avLst>
              <a:gd name="adj" fmla="val 10465"/>
            </a:avLst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331720"/>
            <a:ext cx="3381146" cy="329184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1248" y="1984248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个月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35000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0–30 天 · 点燃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9536" y="2953512"/>
            <a:ext cx="109728" cy="109728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78992" y="284378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举办 1~2 场实战工作坊，全员上手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" y="3593592"/>
            <a:ext cx="109728" cy="109728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78992" y="348386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各部门选出「AI 冠军」种子用户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9536" y="4233672"/>
            <a:ext cx="109728" cy="109728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078992" y="412394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 2~3 个首批试点场景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9536" y="4873752"/>
            <a:ext cx="109728" cy="109728"/>
          </a:xfrm>
          <a:prstGeom prst="ellipse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78992" y="476402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明确数据分级与使用红线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05274" y="1874520"/>
            <a:ext cx="3381146" cy="3611880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405274" y="1874520"/>
            <a:ext cx="3381146" cy="786384"/>
          </a:xfrm>
          <a:prstGeom prst="roundRect">
            <a:avLst>
              <a:gd name="adj" fmla="val 10465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405274" y="2331720"/>
            <a:ext cx="3381146" cy="32918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679594" y="1984248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个月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79594" y="235000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30–60 天 · 跑通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97882" y="2953512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917338" y="284378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试点场景搭出助理并投入使用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97882" y="3593592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17338" y="348386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收集真实反馈，迭代提示词与技能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97882" y="4233672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17338" y="412394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沉淀首批可复用技能 / 知识库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97882" y="4873752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17338" y="476402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用数据评估提效效果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3621" y="1874520"/>
            <a:ext cx="3381146" cy="3611880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43621" y="1874520"/>
            <a:ext cx="3381146" cy="786384"/>
          </a:xfrm>
          <a:prstGeom prst="roundRect">
            <a:avLst>
              <a:gd name="adj" fmla="val 10465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43621" y="2331720"/>
            <a:ext cx="3381146" cy="329184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17941" y="1984248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个月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517941" y="235000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60–90 天 · 扩面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36229" y="2953512"/>
            <a:ext cx="109728" cy="109728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755685" y="284378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把验证成功的场景复制到相邻岗位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36229" y="3593592"/>
            <a:ext cx="109728" cy="109728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755685" y="348386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高频场景升级为自动化工作流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36229" y="4233672"/>
            <a:ext cx="109728" cy="109728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755685" y="412394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建立治理机制与安全规范 v1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36229" y="4873752"/>
            <a:ext cx="109728" cy="109728"/>
          </a:xfrm>
          <a:prstGeom prst="ellipse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755685" y="4764024"/>
            <a:ext cx="26313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形成机构 AI 应用案例集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与商汤同行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SENSETIME BRINGS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从算力、模型到 Agent 与服务 —— 商汤能给你的完整能力与开放承诺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完整能力栈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产品与能力清单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为什么选商汤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多行业落地方向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 · 不锁定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能力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商汤：从算力到落地，一条完整的 AI 能力栈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国内少见同时握有「算力 + 自研多模态大模型 + Agent 生态 + 落地服务」四层能力的厂商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109728" cy="93268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969264" y="2029968"/>
            <a:ext cx="566928" cy="566928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5" y="2183039"/>
            <a:ext cx="260787" cy="2607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01368" y="1993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落地服务层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30368" y="2029968"/>
            <a:ext cx="0" cy="566928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5458968" y="1847088"/>
            <a:ext cx="59371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前置部署工程师驻场陪跑 · 场景共建 · 培训赋能 · 对「用起来」负责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2907792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66928" y="2907792"/>
            <a:ext cx="109728" cy="932688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969264" y="3090672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335" y="3243743"/>
            <a:ext cx="260787" cy="26078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01368" y="30540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· 应用层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230368" y="3090672"/>
            <a:ext cx="0" cy="56692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7"/>
          <p:cNvSpPr/>
          <p:nvPr/>
        </p:nvSpPr>
        <p:spPr>
          <a:xfrm>
            <a:off x="5458968" y="2907792"/>
            <a:ext cx="59371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桌面端 · X-Agent 浏览器端 · X-Design 云端编排 · 技能 Skill · 知识库 RAG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66928" y="3968496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566928" y="3968496"/>
            <a:ext cx="109728" cy="932688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969264" y="4151376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335" y="4304447"/>
            <a:ext cx="260787" cy="26078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801368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· 日日新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230368" y="4151376"/>
            <a:ext cx="0" cy="56692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5458968" y="3968496"/>
            <a:ext cx="59371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旗舰大模型 · 多模态（语言/视觉/语音）· 可私有化的轻量 / 专用模型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66928" y="5029200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566928" y="5029200"/>
            <a:ext cx="109728" cy="932688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6"/>
          <p:cNvSpPr/>
          <p:nvPr/>
        </p:nvSpPr>
        <p:spPr>
          <a:xfrm>
            <a:off x="969264" y="5212080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335" y="5365151"/>
            <a:ext cx="260787" cy="26078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801368" y="51755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算力层 · SenseCore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5230368" y="5212080"/>
            <a:ext cx="0" cy="56692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5458968" y="5029200"/>
            <a:ext cx="593719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自建大装置算力底座 · 训练与推理一体 · 支撑云端与本地部署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清单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商汤产品与能力清单：一页看全能给你什么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从算力、模型到 Agent、平台、供给与服务 —— 一套完整能力，按需取用、灵活组合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82296" cy="62179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11680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26464" y="181051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· 日日新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310128" y="1938528"/>
            <a:ext cx="0" cy="3657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529584" y="1929384"/>
            <a:ext cx="1517904" cy="38404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529584" y="19293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 旗舰大模型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30368" y="1929384"/>
            <a:ext cx="2226564" cy="38404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5230368" y="1929384"/>
            <a:ext cx="2226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多模态（语言/视觉/语音）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39812" y="1929384"/>
            <a:ext cx="2368296" cy="384048"/>
          </a:xfrm>
          <a:prstGeom prst="roundRect">
            <a:avLst>
              <a:gd name="adj" fmla="val 50000"/>
            </a:avLst>
          </a:prstGeom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639812" y="1929384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可私有化 轻量 / 专用模型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2505456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566928" y="2505456"/>
            <a:ext cx="82296" cy="62179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822960" y="2587752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06624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426464" y="250545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 · Agent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3310128" y="2633472"/>
            <a:ext cx="0" cy="3657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3529584" y="2624328"/>
            <a:ext cx="1801368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3"/>
          <p:cNvSpPr/>
          <p:nvPr/>
        </p:nvSpPr>
        <p:spPr>
          <a:xfrm>
            <a:off x="3529584" y="262432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桌面端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513832" y="2624328"/>
            <a:ext cx="2084832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5"/>
          <p:cNvSpPr/>
          <p:nvPr/>
        </p:nvSpPr>
        <p:spPr>
          <a:xfrm>
            <a:off x="5513832" y="26243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X-Agent 浏览器端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781544" y="2624328"/>
            <a:ext cx="2226564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7781544" y="2624328"/>
            <a:ext cx="2226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X-Design 云端编排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6928" y="3200400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9"/>
          <p:cNvSpPr/>
          <p:nvPr/>
        </p:nvSpPr>
        <p:spPr>
          <a:xfrm>
            <a:off x="566928" y="3200400"/>
            <a:ext cx="82296" cy="62179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0"/>
          <p:cNvSpPr/>
          <p:nvPr/>
        </p:nvSpPr>
        <p:spPr>
          <a:xfrm>
            <a:off x="822960" y="3282696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401568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426464" y="32004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</a:t>
            </a:r>
            <a:endParaRPr lang="en-US" sz="1350" dirty="0"/>
          </a:p>
        </p:txBody>
      </p:sp>
      <p:sp>
        <p:nvSpPr>
          <p:cNvPr id="37" name="Shape 32"/>
          <p:cNvSpPr/>
          <p:nvPr/>
        </p:nvSpPr>
        <p:spPr>
          <a:xfrm>
            <a:off x="3310128" y="3328416"/>
            <a:ext cx="0" cy="3657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3"/>
          <p:cNvSpPr/>
          <p:nvPr/>
        </p:nvSpPr>
        <p:spPr>
          <a:xfrm>
            <a:off x="3529584" y="3319272"/>
            <a:ext cx="1376172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4"/>
          <p:cNvSpPr/>
          <p:nvPr/>
        </p:nvSpPr>
        <p:spPr>
          <a:xfrm>
            <a:off x="3529584" y="3319272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RAG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088636" y="3319272"/>
            <a:ext cx="1517904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5088636" y="331927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Skill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789420" y="3319272"/>
            <a:ext cx="1517904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8"/>
          <p:cNvSpPr/>
          <p:nvPr/>
        </p:nvSpPr>
        <p:spPr>
          <a:xfrm>
            <a:off x="6789420" y="331927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工具连接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490204" y="3319272"/>
            <a:ext cx="1517904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80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0"/>
          <p:cNvSpPr/>
          <p:nvPr/>
        </p:nvSpPr>
        <p:spPr>
          <a:xfrm>
            <a:off x="8490204" y="331927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编排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6928" y="3895344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2"/>
          <p:cNvSpPr/>
          <p:nvPr/>
        </p:nvSpPr>
        <p:spPr>
          <a:xfrm>
            <a:off x="566928" y="3895344"/>
            <a:ext cx="82296" cy="62179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3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096512"/>
            <a:ext cx="219456" cy="219456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426464" y="38953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模型供给</a:t>
            </a:r>
            <a:endParaRPr lang="en-US" sz="1350" dirty="0"/>
          </a:p>
        </p:txBody>
      </p:sp>
      <p:sp>
        <p:nvSpPr>
          <p:cNvPr id="51" name="Shape 45"/>
          <p:cNvSpPr/>
          <p:nvPr/>
        </p:nvSpPr>
        <p:spPr>
          <a:xfrm>
            <a:off x="3310128" y="4023360"/>
            <a:ext cx="0" cy="3657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46"/>
          <p:cNvSpPr/>
          <p:nvPr/>
        </p:nvSpPr>
        <p:spPr>
          <a:xfrm>
            <a:off x="3529584" y="4014216"/>
            <a:ext cx="4777740" cy="384048"/>
          </a:xfrm>
          <a:prstGeom prst="roundRect">
            <a:avLst>
              <a:gd name="adj" fmla="val 50000"/>
            </a:avLst>
          </a:prstGeom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7"/>
          <p:cNvSpPr/>
          <p:nvPr/>
        </p:nvSpPr>
        <p:spPr>
          <a:xfrm>
            <a:off x="3529584" y="4014216"/>
            <a:ext cx="4777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Plan：一份接入 · 按量计费 · 云 + 本地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8490204" y="4014216"/>
            <a:ext cx="1092708" cy="384048"/>
          </a:xfrm>
          <a:prstGeom prst="roundRect">
            <a:avLst>
              <a:gd name="adj" fmla="val 50000"/>
            </a:avLst>
          </a:prstGeom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9"/>
          <p:cNvSpPr/>
          <p:nvPr/>
        </p:nvSpPr>
        <p:spPr>
          <a:xfrm>
            <a:off x="8490204" y="4014216"/>
            <a:ext cx="1092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566928" y="4590288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1"/>
          <p:cNvSpPr/>
          <p:nvPr/>
        </p:nvSpPr>
        <p:spPr>
          <a:xfrm>
            <a:off x="566928" y="4590288"/>
            <a:ext cx="82296" cy="62179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2"/>
          <p:cNvSpPr/>
          <p:nvPr/>
        </p:nvSpPr>
        <p:spPr>
          <a:xfrm>
            <a:off x="822960" y="4672584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791456"/>
            <a:ext cx="219456" cy="219456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1426464" y="45902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落地服务</a:t>
            </a:r>
            <a:endParaRPr lang="en-US" sz="1350" dirty="0"/>
          </a:p>
        </p:txBody>
      </p:sp>
      <p:sp>
        <p:nvSpPr>
          <p:cNvPr id="61" name="Shape 54"/>
          <p:cNvSpPr/>
          <p:nvPr/>
        </p:nvSpPr>
        <p:spPr>
          <a:xfrm>
            <a:off x="3310128" y="4718304"/>
            <a:ext cx="0" cy="3657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5"/>
          <p:cNvSpPr/>
          <p:nvPr/>
        </p:nvSpPr>
        <p:spPr>
          <a:xfrm>
            <a:off x="3529584" y="4709160"/>
            <a:ext cx="1943100" cy="384048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56"/>
          <p:cNvSpPr/>
          <p:nvPr/>
        </p:nvSpPr>
        <p:spPr>
          <a:xfrm>
            <a:off x="3529584" y="4709160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前置部署工程师</a:t>
            </a:r>
            <a:endParaRPr lang="en-US" sz="1000" dirty="0"/>
          </a:p>
        </p:txBody>
      </p:sp>
      <p:sp>
        <p:nvSpPr>
          <p:cNvPr id="64" name="Shape 57"/>
          <p:cNvSpPr/>
          <p:nvPr/>
        </p:nvSpPr>
        <p:spPr>
          <a:xfrm>
            <a:off x="5655564" y="4709160"/>
            <a:ext cx="950976" cy="384048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58"/>
          <p:cNvSpPr/>
          <p:nvPr/>
        </p:nvSpPr>
        <p:spPr>
          <a:xfrm>
            <a:off x="5655564" y="470916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场景共建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6789420" y="4709160"/>
            <a:ext cx="1659636" cy="384048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0"/>
          <p:cNvSpPr/>
          <p:nvPr/>
        </p:nvSpPr>
        <p:spPr>
          <a:xfrm>
            <a:off x="6789420" y="4709160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培训赋能与运营陪跑</a:t>
            </a:r>
            <a:endParaRPr lang="en-US" sz="1000" dirty="0"/>
          </a:p>
        </p:txBody>
      </p:sp>
      <p:sp>
        <p:nvSpPr>
          <p:cNvPr id="68" name="Shape 61"/>
          <p:cNvSpPr/>
          <p:nvPr/>
        </p:nvSpPr>
        <p:spPr>
          <a:xfrm>
            <a:off x="566928" y="5285232"/>
            <a:ext cx="11057839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2"/>
          <p:cNvSpPr/>
          <p:nvPr/>
        </p:nvSpPr>
        <p:spPr>
          <a:xfrm>
            <a:off x="566928" y="5285232"/>
            <a:ext cx="82296" cy="62179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3"/>
          <p:cNvSpPr/>
          <p:nvPr/>
        </p:nvSpPr>
        <p:spPr>
          <a:xfrm>
            <a:off x="822960" y="53675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5486400"/>
            <a:ext cx="219456" cy="219456"/>
          </a:xfrm>
          <a:prstGeom prst="rect">
            <a:avLst/>
          </a:prstGeom>
        </p:spPr>
      </p:pic>
      <p:sp>
        <p:nvSpPr>
          <p:cNvPr id="72" name="Text 64"/>
          <p:cNvSpPr/>
          <p:nvPr/>
        </p:nvSpPr>
        <p:spPr>
          <a:xfrm>
            <a:off x="1426464" y="528523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算力底座</a:t>
            </a:r>
            <a:endParaRPr lang="en-US" sz="1350" dirty="0"/>
          </a:p>
        </p:txBody>
      </p:sp>
      <p:sp>
        <p:nvSpPr>
          <p:cNvPr id="73" name="Shape 65"/>
          <p:cNvSpPr/>
          <p:nvPr/>
        </p:nvSpPr>
        <p:spPr>
          <a:xfrm>
            <a:off x="3310128" y="5413248"/>
            <a:ext cx="0" cy="36576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66"/>
          <p:cNvSpPr/>
          <p:nvPr/>
        </p:nvSpPr>
        <p:spPr>
          <a:xfrm>
            <a:off x="3529584" y="5404104"/>
            <a:ext cx="2226564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67"/>
          <p:cNvSpPr/>
          <p:nvPr/>
        </p:nvSpPr>
        <p:spPr>
          <a:xfrm>
            <a:off x="3529584" y="5404104"/>
            <a:ext cx="22265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SenseCore 大装置</a:t>
            </a:r>
            <a:endParaRPr lang="en-US" sz="1000" dirty="0"/>
          </a:p>
        </p:txBody>
      </p:sp>
      <p:sp>
        <p:nvSpPr>
          <p:cNvPr id="76" name="Shape 68"/>
          <p:cNvSpPr/>
          <p:nvPr/>
        </p:nvSpPr>
        <p:spPr>
          <a:xfrm>
            <a:off x="5939028" y="5404104"/>
            <a:ext cx="1234440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69"/>
          <p:cNvSpPr/>
          <p:nvPr/>
        </p:nvSpPr>
        <p:spPr>
          <a:xfrm>
            <a:off x="5939028" y="5404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训练推理一体</a:t>
            </a:r>
            <a:endParaRPr lang="en-US" sz="1000" dirty="0"/>
          </a:p>
        </p:txBody>
      </p:sp>
      <p:sp>
        <p:nvSpPr>
          <p:cNvPr id="78" name="Shape 70"/>
          <p:cNvSpPr/>
          <p:nvPr/>
        </p:nvSpPr>
        <p:spPr>
          <a:xfrm>
            <a:off x="7356348" y="5404104"/>
            <a:ext cx="1659636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1"/>
          <p:cNvSpPr/>
          <p:nvPr/>
        </p:nvSpPr>
        <p:spPr>
          <a:xfrm>
            <a:off x="7356348" y="5404104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支撑云端与本地部署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差异化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为什么是商汤：四点让你放心把 AI 用起来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能力、部署、开放、陪跑 —— 每一点都对着你最真实的顾虑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2524430" cy="292608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445095" y="2157984"/>
            <a:ext cx="768096" cy="76809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481" y="2365370"/>
            <a:ext cx="353324" cy="3533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3072384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" y="3291840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全栈闭环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" y="3694176"/>
            <a:ext cx="20855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算力+自研多模态大模型+Agent生态+落地服务，国内少见完整闭环。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411398" y="1828800"/>
            <a:ext cx="2524430" cy="292608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341139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289565" y="2157984"/>
            <a:ext cx="768096" cy="76809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951" y="2365370"/>
            <a:ext cx="353324" cy="3533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94278" y="3072384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94278" y="3291840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按级搭配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630854" y="3694176"/>
            <a:ext cx="20855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云端S2旗舰+可本地私有化轻量/专用模型，按数据等级灵活组合。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6255868" y="1828800"/>
            <a:ext cx="2524430" cy="292608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6255868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7134035" y="2157984"/>
            <a:ext cx="768096" cy="76809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420" y="2365370"/>
            <a:ext cx="353324" cy="3533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38748" y="3072384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38748" y="3291840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开放不锁定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475324" y="3694176"/>
            <a:ext cx="20855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Agent深度定制、助理可私有化，接现有Agent，底层只供Token。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100337" y="1828800"/>
            <a:ext cx="2524430" cy="292608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5"/>
          <p:cNvSpPr/>
          <p:nvPr/>
        </p:nvSpPr>
        <p:spPr>
          <a:xfrm>
            <a:off x="9100337" y="1828800"/>
            <a:ext cx="2524430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6"/>
          <p:cNvSpPr/>
          <p:nvPr/>
        </p:nvSpPr>
        <p:spPr>
          <a:xfrm>
            <a:off x="9978504" y="2157984"/>
            <a:ext cx="768096" cy="76809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5890" y="2365370"/>
            <a:ext cx="353324" cy="35332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83217" y="3072384"/>
            <a:ext cx="21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9283217" y="3291840"/>
            <a:ext cx="21586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FDE陪跑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19793" y="3694176"/>
            <a:ext cx="20855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前置部署工程师驻场，对用起来、用得好负责到底。</a:t>
            </a:r>
            <a:endParaRPr lang="en-US" sz="1020" dirty="0"/>
          </a:p>
        </p:txBody>
      </p:sp>
      <p:sp>
        <p:nvSpPr>
          <p:cNvPr id="36" name="Shape 30"/>
          <p:cNvSpPr/>
          <p:nvPr/>
        </p:nvSpPr>
        <p:spPr>
          <a:xfrm>
            <a:off x="566928" y="4956048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566928" y="4956048"/>
            <a:ext cx="91440" cy="107899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932688" y="5084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932688" y="5431536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你不用在「要能力」和「要安全」之间二选一 —— 商汤把最强的云端能力、可私有化的本地方案和贴身陪跑一起交给你，还不锁定你已有的投入。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实践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商汤大模型 · 多行业落地方向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不是概念 —— 这些方向，商汤的模型与 Agent 已在真实业务里落地，并在持续规模化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2260031"/>
            <a:ext cx="289682" cy="2896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72768" y="215798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2816352"/>
            <a:ext cx="2911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投研速读 · 合规问答 · 智能客服 · 研发提效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374794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649114" y="210312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25" y="2260031"/>
            <a:ext cx="289682" cy="2896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80634" y="215798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能源电网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49114" y="2816352"/>
            <a:ext cx="2911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设备缺陷视觉识别 · 规程问答 · 安监作业管控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8182661" y="1828800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8456981" y="2103120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892" y="2260031"/>
            <a:ext cx="289682" cy="2896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8501" y="2157984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56981" y="2816352"/>
            <a:ext cx="2911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质检视觉 · 工艺知识问答 · 产线运维辅助</a:t>
            </a:r>
            <a:endParaRPr lang="en-US" sz="1060" dirty="0"/>
          </a:p>
        </p:txBody>
      </p:sp>
      <p:sp>
        <p:nvSpPr>
          <p:cNvPr id="23" name="Shape 18"/>
          <p:cNvSpPr/>
          <p:nvPr/>
        </p:nvSpPr>
        <p:spPr>
          <a:xfrm>
            <a:off x="566928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9"/>
          <p:cNvSpPr/>
          <p:nvPr/>
        </p:nvSpPr>
        <p:spPr>
          <a:xfrm>
            <a:off x="841248" y="410565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159" y="4262567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72768" y="4160520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政务 · 公共服务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41248" y="4818888"/>
            <a:ext cx="2911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政策问答 · 公文起草 · 12345 工单辅助</a:t>
            </a:r>
            <a:endParaRPr lang="en-US" sz="1060" dirty="0"/>
          </a:p>
        </p:txBody>
      </p:sp>
      <p:sp>
        <p:nvSpPr>
          <p:cNvPr id="28" name="Shape 22"/>
          <p:cNvSpPr/>
          <p:nvPr/>
        </p:nvSpPr>
        <p:spPr>
          <a:xfrm>
            <a:off x="4374794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3"/>
          <p:cNvSpPr/>
          <p:nvPr/>
        </p:nvSpPr>
        <p:spPr>
          <a:xfrm>
            <a:off x="4649114" y="410565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6025" y="4262567"/>
            <a:ext cx="289682" cy="28968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80634" y="4160520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 · 航空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649114" y="4818888"/>
            <a:ext cx="2911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手册问答 · 运行辅助 · 客服与投诉提速</a:t>
            </a:r>
            <a:endParaRPr lang="en-US" sz="1060" dirty="0"/>
          </a:p>
        </p:txBody>
      </p:sp>
      <p:sp>
        <p:nvSpPr>
          <p:cNvPr id="33" name="Shape 26"/>
          <p:cNvSpPr/>
          <p:nvPr/>
        </p:nvSpPr>
        <p:spPr>
          <a:xfrm>
            <a:off x="8182661" y="3831336"/>
            <a:ext cx="344210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7"/>
          <p:cNvSpPr/>
          <p:nvPr/>
        </p:nvSpPr>
        <p:spPr>
          <a:xfrm>
            <a:off x="8456981" y="4105656"/>
            <a:ext cx="603504" cy="60350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92" y="4262567"/>
            <a:ext cx="289682" cy="28968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88501" y="4160520"/>
            <a:ext cx="2253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医疗健康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8456981" y="4818888"/>
            <a:ext cx="291175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/ 病历理解 · 随访辅助 · 健康知识问答</a:t>
            </a:r>
            <a:endParaRPr lang="en-US" sz="1060" dirty="0"/>
          </a:p>
        </p:txBody>
      </p:sp>
      <p:sp>
        <p:nvSpPr>
          <p:cNvPr id="38" name="Shape 30"/>
          <p:cNvSpPr/>
          <p:nvPr/>
        </p:nvSpPr>
        <p:spPr>
          <a:xfrm>
            <a:off x="566928" y="5797296"/>
            <a:ext cx="11057839" cy="457200"/>
          </a:xfrm>
          <a:prstGeom prst="roundRect">
            <a:avLst>
              <a:gd name="adj" fmla="val 18000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1"/>
          <p:cNvSpPr/>
          <p:nvPr/>
        </p:nvSpPr>
        <p:spPr>
          <a:xfrm>
            <a:off x="566928" y="5797296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   </a:t>
            </a:r>
            <a:r>
              <a:rPr lang="en-US" sz="11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都是把海量非结构化信息（文档 / 图像 / 语音）变成即时可用的结论 —— 且始终守住数据安全底线。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开放不锁定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更开放：你现有的 Agent 照用，商汤只供底层 Token Plan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 Agent —— 满足合规与业务的任意 Agent（你现有的 / 自研的 / 第三方的）都能接 Token Plan 用起来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层 · 你自选（开放）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975104"/>
            <a:ext cx="25587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1562824" y="215798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894" y="2311055"/>
            <a:ext cx="260787" cy="26078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2779776"/>
            <a:ext cx="226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 Agent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3232" y="3017520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Sowork / X-Agent，开箱即用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566928" y="3291840"/>
            <a:ext cx="255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399968" y="1975104"/>
            <a:ext cx="25587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4395864" y="215798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934" y="2311055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46272" y="2779776"/>
            <a:ext cx="226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你自研 Agent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46272" y="3017520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科技团队自己搭的智能体</a:t>
            </a:r>
            <a:endParaRPr lang="en-US" sz="930" dirty="0"/>
          </a:p>
        </p:txBody>
      </p:sp>
      <p:sp>
        <p:nvSpPr>
          <p:cNvPr id="20" name="Text 16"/>
          <p:cNvSpPr/>
          <p:nvPr/>
        </p:nvSpPr>
        <p:spPr>
          <a:xfrm>
            <a:off x="3399968" y="3291840"/>
            <a:ext cx="255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33008" y="1975104"/>
            <a:ext cx="25587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7228904" y="215798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974" y="2311055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9312" y="2779776"/>
            <a:ext cx="226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 Agent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79312" y="3017520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满足合规的成熟产品</a:t>
            </a:r>
            <a:endParaRPr lang="en-US" sz="930" dirty="0"/>
          </a:p>
        </p:txBody>
      </p:sp>
      <p:sp>
        <p:nvSpPr>
          <p:cNvPr id="26" name="Text 21"/>
          <p:cNvSpPr/>
          <p:nvPr/>
        </p:nvSpPr>
        <p:spPr>
          <a:xfrm>
            <a:off x="6233008" y="3291840"/>
            <a:ext cx="255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9066047" y="1975104"/>
            <a:ext cx="25587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3"/>
          <p:cNvSpPr/>
          <p:nvPr/>
        </p:nvSpPr>
        <p:spPr>
          <a:xfrm>
            <a:off x="10061943" y="2157984"/>
            <a:ext cx="566928" cy="56692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5014" y="2311055"/>
            <a:ext cx="260787" cy="26078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12351" y="2779776"/>
            <a:ext cx="226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内部已在用的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212351" y="3017520"/>
            <a:ext cx="226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现有、已合规的系统 / 工具</a:t>
            </a:r>
            <a:endParaRPr lang="en-US" sz="930" dirty="0"/>
          </a:p>
        </p:txBody>
      </p:sp>
      <p:sp>
        <p:nvSpPr>
          <p:cNvPr id="32" name="Text 26"/>
          <p:cNvSpPr/>
          <p:nvPr/>
        </p:nvSpPr>
        <p:spPr>
          <a:xfrm>
            <a:off x="9066047" y="3291840"/>
            <a:ext cx="255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566928" y="3694176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8"/>
          <p:cNvSpPr/>
          <p:nvPr/>
        </p:nvSpPr>
        <p:spPr>
          <a:xfrm>
            <a:off x="566928" y="3694176"/>
            <a:ext cx="11057839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9"/>
          <p:cNvSpPr/>
          <p:nvPr/>
        </p:nvSpPr>
        <p:spPr>
          <a:xfrm>
            <a:off x="932688" y="3877056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 · 商汤 Token Plan</a:t>
            </a:r>
            <a:r>
              <a:rPr lang="en-US" sz="16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统一按量供给模型能力</a:t>
            </a:r>
            <a:endParaRPr lang="en-US" sz="1650" dirty="0"/>
          </a:p>
        </p:txBody>
      </p:sp>
      <p:sp>
        <p:nvSpPr>
          <p:cNvPr id="36" name="Shape 30"/>
          <p:cNvSpPr/>
          <p:nvPr/>
        </p:nvSpPr>
        <p:spPr>
          <a:xfrm>
            <a:off x="932688" y="4297680"/>
            <a:ext cx="2458136" cy="603504"/>
          </a:xfrm>
          <a:prstGeom prst="roundRect">
            <a:avLst>
              <a:gd name="adj" fmla="val 9091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1"/>
          <p:cNvSpPr/>
          <p:nvPr/>
        </p:nvSpPr>
        <p:spPr>
          <a:xfrm>
            <a:off x="1078992" y="4370832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一份接入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1078992" y="4608576"/>
            <a:ext cx="218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多模型一个 Key</a:t>
            </a:r>
            <a:endParaRPr lang="en-US" sz="980" dirty="0"/>
          </a:p>
        </p:txBody>
      </p:sp>
      <p:sp>
        <p:nvSpPr>
          <p:cNvPr id="39" name="Shape 33"/>
          <p:cNvSpPr/>
          <p:nvPr/>
        </p:nvSpPr>
        <p:spPr>
          <a:xfrm>
            <a:off x="3555416" y="4297680"/>
            <a:ext cx="2458136" cy="603504"/>
          </a:xfrm>
          <a:prstGeom prst="roundRect">
            <a:avLst>
              <a:gd name="adj" fmla="val 9091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4"/>
          <p:cNvSpPr/>
          <p:nvPr/>
        </p:nvSpPr>
        <p:spPr>
          <a:xfrm>
            <a:off x="3701720" y="4370832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按量计费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3701720" y="4608576"/>
            <a:ext cx="218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用多少付多少</a:t>
            </a:r>
            <a:endParaRPr lang="en-US" sz="980" dirty="0"/>
          </a:p>
        </p:txBody>
      </p:sp>
      <p:sp>
        <p:nvSpPr>
          <p:cNvPr id="42" name="Shape 36"/>
          <p:cNvSpPr/>
          <p:nvPr/>
        </p:nvSpPr>
        <p:spPr>
          <a:xfrm>
            <a:off x="6178144" y="4297680"/>
            <a:ext cx="2458136" cy="603504"/>
          </a:xfrm>
          <a:prstGeom prst="roundRect">
            <a:avLst>
              <a:gd name="adj" fmla="val 9091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37"/>
          <p:cNvSpPr/>
          <p:nvPr/>
        </p:nvSpPr>
        <p:spPr>
          <a:xfrm>
            <a:off x="6324448" y="4370832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+ 本地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324448" y="4608576"/>
            <a:ext cx="218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旗舰 + 可私有化模型</a:t>
            </a:r>
            <a:endParaRPr lang="en-US" sz="980" dirty="0"/>
          </a:p>
        </p:txBody>
      </p:sp>
      <p:sp>
        <p:nvSpPr>
          <p:cNvPr id="45" name="Shape 39"/>
          <p:cNvSpPr/>
          <p:nvPr/>
        </p:nvSpPr>
        <p:spPr>
          <a:xfrm>
            <a:off x="8800871" y="4297680"/>
            <a:ext cx="2458136" cy="603504"/>
          </a:xfrm>
          <a:prstGeom prst="roundRect">
            <a:avLst>
              <a:gd name="adj" fmla="val 9091"/>
            </a:avLst>
          </a:prstGeom>
          <a:solidFill>
            <a:srgbClr val="11305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0"/>
          <p:cNvSpPr/>
          <p:nvPr/>
        </p:nvSpPr>
        <p:spPr>
          <a:xfrm>
            <a:off x="8947175" y="4370832"/>
            <a:ext cx="218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只供模型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8947175" y="4608576"/>
            <a:ext cx="218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不绑定 Agent 层</a:t>
            </a:r>
            <a:endParaRPr lang="en-US" sz="980" dirty="0"/>
          </a:p>
        </p:txBody>
      </p:sp>
      <p:sp>
        <p:nvSpPr>
          <p:cNvPr id="48" name="Shape 42"/>
          <p:cNvSpPr/>
          <p:nvPr/>
        </p:nvSpPr>
        <p:spPr>
          <a:xfrm>
            <a:off x="566928" y="5193792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3"/>
          <p:cNvSpPr/>
          <p:nvPr/>
        </p:nvSpPr>
        <p:spPr>
          <a:xfrm>
            <a:off x="566928" y="5193792"/>
            <a:ext cx="82296" cy="8412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4"/>
          <p:cNvSpPr/>
          <p:nvPr/>
        </p:nvSpPr>
        <p:spPr>
          <a:xfrm>
            <a:off x="896112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对你的意义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2258568" y="5248656"/>
            <a:ext cx="909187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不锁定、保护已有投入、平滑演进 —— 科技团队可自主选型，业务侧可沿用顺手的工具；商汤只把底层模型能力做好，按量供给。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486400" cy="54864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052560" y="731520"/>
            <a:ext cx="4206240" cy="420624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03504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847088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0" dirty="0"/>
          </a:p>
        </p:txBody>
      </p:sp>
      <p:sp>
        <p:nvSpPr>
          <p:cNvPr id="7" name="Shape 5"/>
          <p:cNvSpPr/>
          <p:nvPr/>
        </p:nvSpPr>
        <p:spPr>
          <a:xfrm>
            <a:off x="621792" y="4114800"/>
            <a:ext cx="137160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85216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7AA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 WITH YOU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53766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真正落地的关键一环 —— 前置部署工程师，驻场陪你用起来、用得好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1965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430768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FDE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30768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各行业的价值与必须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83880" y="28803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30768" y="27614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六步陪跑落地法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33375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30768" y="32186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落地案例 · 电网/银行+更多行业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7947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30768" y="3675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的边界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83880" y="4251960"/>
            <a:ext cx="109728" cy="109728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30768" y="41330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合作模式与起步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什么是 FDE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FDE：住在你身边的「AI 落地工程师」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Forward Deployed Engineer 前置部署工程师 —— 不是交付完就走的乙方，而是驻场陪你把 AI 用起来的人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66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5346040" cy="1024128"/>
          </a:xfrm>
          <a:prstGeom prst="roundRect">
            <a:avLst>
              <a:gd name="adj" fmla="val 8036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9536" y="188366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传统交付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9536" y="2231136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给工具、做培训、签验收 → 交付即走，用不用得起来是你自己的事。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78728" y="1737360"/>
            <a:ext cx="5346040" cy="1024128"/>
          </a:xfrm>
          <a:prstGeom prst="roundRect">
            <a:avLst>
              <a:gd name="adj" fmla="val 80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278728" y="1737360"/>
            <a:ext cx="82296" cy="102412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71336" y="188366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71336" y="2231136"/>
            <a:ext cx="479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D7E2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驻场共建、陪你跑通、对结果负责 → 交付的是「用起来」，不是「交付完」。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66928" y="2926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一人多角：把「买了 AI」变成「用好 AI」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273552"/>
            <a:ext cx="2524430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499959" y="3511296"/>
            <a:ext cx="658368" cy="65836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718" y="3689055"/>
            <a:ext cx="302849" cy="30284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3232" y="4242816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业务翻译官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9808" y="4572000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把你的业务语言翻译成 AI 能干的活，也把 AI 能力翻译成业务价值。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3411398" y="3273552"/>
            <a:ext cx="2524430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4344429" y="3511296"/>
            <a:ext cx="658368" cy="65836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188" y="3689055"/>
            <a:ext cx="302849" cy="30284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57702" y="4242816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方案搭建者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594278" y="4572000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现场搭助理、接知识库与系统、把效果调准 —— 动手交付可用的东西。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255868" y="3273552"/>
            <a:ext cx="2524430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3"/>
          <p:cNvSpPr/>
          <p:nvPr/>
        </p:nvSpPr>
        <p:spPr>
          <a:xfrm>
            <a:off x="7188899" y="3511296"/>
            <a:ext cx="658368" cy="65836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658" y="3689055"/>
            <a:ext cx="302849" cy="30284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2172" y="4242816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落地教练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38748" y="4572000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手把手带你的团队用起来、养成习惯，把会用的人教成教别人的人。</a:t>
            </a:r>
            <a:endParaRPr lang="en-US" sz="940" dirty="0"/>
          </a:p>
        </p:txBody>
      </p:sp>
      <p:sp>
        <p:nvSpPr>
          <p:cNvPr id="31" name="Shape 26"/>
          <p:cNvSpPr/>
          <p:nvPr/>
        </p:nvSpPr>
        <p:spPr>
          <a:xfrm>
            <a:off x="9100337" y="3273552"/>
            <a:ext cx="2524430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7"/>
          <p:cNvSpPr/>
          <p:nvPr/>
        </p:nvSpPr>
        <p:spPr>
          <a:xfrm>
            <a:off x="10033368" y="3511296"/>
            <a:ext cx="658368" cy="65836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1128" y="3689055"/>
            <a:ext cx="302849" cy="30284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46641" y="4242816"/>
            <a:ext cx="223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持续运营者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283217" y="4572000"/>
            <a:ext cx="215867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跑通后持续迭代、扩场景、看数据，让提效可量化、可持续。</a:t>
            </a:r>
            <a:endParaRPr lang="en-US" sz="940" dirty="0"/>
          </a:p>
        </p:txBody>
      </p:sp>
      <p:sp>
        <p:nvSpPr>
          <p:cNvPr id="36" name="Shape 30"/>
          <p:cNvSpPr/>
          <p:nvPr/>
        </p:nvSpPr>
        <p:spPr>
          <a:xfrm>
            <a:off x="566928" y="5358384"/>
            <a:ext cx="11057839" cy="676656"/>
          </a:xfrm>
          <a:prstGeom prst="roundRect">
            <a:avLst>
              <a:gd name="adj" fmla="val 12162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1"/>
          <p:cNvSpPr/>
          <p:nvPr/>
        </p:nvSpPr>
        <p:spPr>
          <a:xfrm>
            <a:off x="566928" y="5358384"/>
            <a:ext cx="82296" cy="67665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932688" y="5358384"/>
            <a:ext cx="103263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  </a:t>
            </a:r>
            <a:r>
              <a:rPr lang="en-US" sz="1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对「你用起来、用得好」负责，而不是对「我交付了」负责 —— 这是把 AI 用出价值的关键一环。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行业价值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为什么各行业都离不开 FDE：价值与必须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行业越专、数据越敏感、系统越复杂 —— 越需要有人贴着业务，把通用 AI 变成你能用的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10512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3442106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2960" y="2048256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97" y="2181393"/>
            <a:ext cx="245791" cy="2457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44752" y="2084832"/>
            <a:ext cx="2344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2670048"/>
            <a:ext cx="293004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22960" y="2743200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 </a:t>
            </a:r>
            <a:r>
              <a:rPr lang="en-US" sz="94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核心系统 / 监管严 / 数据不出行，通用方案接不进去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22960" y="3145536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 </a:t>
            </a: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懂合规做私有化集成、接 DevOps，把提效落到岗位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4374794" y="1810512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374794" y="1810512"/>
            <a:ext cx="3442106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630826" y="2048256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963" y="2181393"/>
            <a:ext cx="245791" cy="24579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2618" y="2084832"/>
            <a:ext cx="2344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农商行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630826" y="2670048"/>
            <a:ext cx="293004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4630826" y="2743200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 </a:t>
            </a:r>
            <a:r>
              <a:rPr lang="en-US" sz="94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人手少、预算紧，缺把 AI 落地的专职能力</a:t>
            </a:r>
            <a:endParaRPr lang="en-US" sz="940" dirty="0"/>
          </a:p>
        </p:txBody>
      </p:sp>
      <p:sp>
        <p:nvSpPr>
          <p:cNvPr id="23" name="Text 19"/>
          <p:cNvSpPr/>
          <p:nvPr/>
        </p:nvSpPr>
        <p:spPr>
          <a:xfrm>
            <a:off x="4630826" y="3145536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 </a:t>
            </a: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补上缺口、轻量起步、手把手带教，投入小见效快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8182661" y="1810512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182661" y="1810512"/>
            <a:ext cx="3442106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8438693" y="2048256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829" y="2181393"/>
            <a:ext cx="245791" cy="24579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060485" y="2084832"/>
            <a:ext cx="2344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438693" y="2670048"/>
            <a:ext cx="293004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8438693" y="2743200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 </a:t>
            </a:r>
            <a:r>
              <a:rPr lang="en-US" sz="94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 / 病历 / 核保规则又专业又长，通用 AI 读不准</a:t>
            </a:r>
            <a:endParaRPr lang="en-US" sz="940" dirty="0"/>
          </a:p>
        </p:txBody>
      </p:sp>
      <p:sp>
        <p:nvSpPr>
          <p:cNvPr id="31" name="Text 26"/>
          <p:cNvSpPr/>
          <p:nvPr/>
        </p:nvSpPr>
        <p:spPr>
          <a:xfrm>
            <a:off x="8438693" y="3145536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 </a:t>
            </a: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把行业知识喂进知识库，调准核保理赔规则与口径</a:t>
            </a:r>
            <a:endParaRPr lang="en-US" sz="940" dirty="0"/>
          </a:p>
        </p:txBody>
      </p:sp>
      <p:sp>
        <p:nvSpPr>
          <p:cNvPr id="32" name="Shape 27"/>
          <p:cNvSpPr/>
          <p:nvPr/>
        </p:nvSpPr>
        <p:spPr>
          <a:xfrm>
            <a:off x="566928" y="384048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566928" y="3840480"/>
            <a:ext cx="3442106" cy="73152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9"/>
          <p:cNvSpPr/>
          <p:nvPr/>
        </p:nvSpPr>
        <p:spPr>
          <a:xfrm>
            <a:off x="822960" y="4078224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97" y="4211361"/>
            <a:ext cx="245791" cy="24579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444752" y="4114800"/>
            <a:ext cx="2344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822960" y="4700016"/>
            <a:ext cx="293004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2"/>
          <p:cNvSpPr/>
          <p:nvPr/>
        </p:nvSpPr>
        <p:spPr>
          <a:xfrm>
            <a:off x="822960" y="4773168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 </a:t>
            </a:r>
            <a:r>
              <a:rPr lang="en-US" sz="94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运行安全零妥协、手册海量，不能拿来就上</a:t>
            </a:r>
            <a:endParaRPr lang="en-US" sz="940" dirty="0"/>
          </a:p>
        </p:txBody>
      </p:sp>
      <p:sp>
        <p:nvSpPr>
          <p:cNvPr id="39" name="Text 33"/>
          <p:cNvSpPr/>
          <p:nvPr/>
        </p:nvSpPr>
        <p:spPr>
          <a:xfrm>
            <a:off x="822960" y="5175504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 </a:t>
            </a: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在安全边界内做手册问答 / MRO，验证可靠再上线</a:t>
            </a:r>
            <a:endParaRPr lang="en-US" sz="940" dirty="0"/>
          </a:p>
        </p:txBody>
      </p:sp>
      <p:sp>
        <p:nvSpPr>
          <p:cNvPr id="40" name="Shape 34"/>
          <p:cNvSpPr/>
          <p:nvPr/>
        </p:nvSpPr>
        <p:spPr>
          <a:xfrm>
            <a:off x="4374794" y="384048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5"/>
          <p:cNvSpPr/>
          <p:nvPr/>
        </p:nvSpPr>
        <p:spPr>
          <a:xfrm>
            <a:off x="4374794" y="3840480"/>
            <a:ext cx="3442106" cy="73152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6"/>
          <p:cNvSpPr/>
          <p:nvPr/>
        </p:nvSpPr>
        <p:spPr>
          <a:xfrm>
            <a:off x="4630826" y="4078224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3963" y="4211361"/>
            <a:ext cx="245791" cy="245791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252618" y="4114800"/>
            <a:ext cx="2344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能源电网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4630826" y="4700016"/>
            <a:ext cx="293004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9"/>
          <p:cNvSpPr/>
          <p:nvPr/>
        </p:nvSpPr>
        <p:spPr>
          <a:xfrm>
            <a:off x="4630826" y="4773168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 </a:t>
            </a:r>
            <a:r>
              <a:rPr lang="en-US" sz="94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关基 / 生产网隔离，经验在老师傅脑子里</a:t>
            </a:r>
            <a:endParaRPr lang="en-US" sz="940" dirty="0"/>
          </a:p>
        </p:txBody>
      </p:sp>
      <p:sp>
        <p:nvSpPr>
          <p:cNvPr id="47" name="Text 40"/>
          <p:cNvSpPr/>
          <p:nvPr/>
        </p:nvSpPr>
        <p:spPr>
          <a:xfrm>
            <a:off x="4630826" y="5175504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 </a:t>
            </a: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内网私有化部署，把现场经验沉淀成可复用知识</a:t>
            </a:r>
            <a:endParaRPr lang="en-US" sz="940" dirty="0"/>
          </a:p>
        </p:txBody>
      </p:sp>
      <p:sp>
        <p:nvSpPr>
          <p:cNvPr id="48" name="Shape 41"/>
          <p:cNvSpPr/>
          <p:nvPr/>
        </p:nvSpPr>
        <p:spPr>
          <a:xfrm>
            <a:off x="8182661" y="3840480"/>
            <a:ext cx="344210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2"/>
          <p:cNvSpPr/>
          <p:nvPr/>
        </p:nvSpPr>
        <p:spPr>
          <a:xfrm>
            <a:off x="8182661" y="3840480"/>
            <a:ext cx="3442106" cy="73152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3"/>
          <p:cNvSpPr/>
          <p:nvPr/>
        </p:nvSpPr>
        <p:spPr>
          <a:xfrm>
            <a:off x="8438693" y="4078224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1829" y="4211361"/>
            <a:ext cx="245791" cy="245791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9060485" y="4114800"/>
            <a:ext cx="23448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科技研发</a:t>
            </a:r>
            <a:endParaRPr lang="en-US" sz="1600" dirty="0"/>
          </a:p>
        </p:txBody>
      </p:sp>
      <p:sp>
        <p:nvSpPr>
          <p:cNvPr id="53" name="Shape 45"/>
          <p:cNvSpPr/>
          <p:nvPr/>
        </p:nvSpPr>
        <p:spPr>
          <a:xfrm>
            <a:off x="8438693" y="4700016"/>
            <a:ext cx="2930042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46"/>
          <p:cNvSpPr/>
          <p:nvPr/>
        </p:nvSpPr>
        <p:spPr>
          <a:xfrm>
            <a:off x="8438693" y="4773168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 </a:t>
            </a:r>
            <a:r>
              <a:rPr lang="en-US" sz="94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要接现有流水线、提效必须可度量</a:t>
            </a:r>
            <a:endParaRPr lang="en-US" sz="940" dirty="0"/>
          </a:p>
        </p:txBody>
      </p:sp>
      <p:sp>
        <p:nvSpPr>
          <p:cNvPr id="55" name="Text 47"/>
          <p:cNvSpPr/>
          <p:nvPr/>
        </p:nvSpPr>
        <p:spPr>
          <a:xfrm>
            <a:off x="8438693" y="5175504"/>
            <a:ext cx="29483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 </a:t>
            </a:r>
            <a:r>
              <a:rPr lang="en-US" sz="94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结对编程 / AIOps 接进 CI/CD，度量提效</a:t>
            </a:r>
            <a:endParaRPr lang="en-US" sz="9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怎么帮落地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怎么帮你落地：六步陪跑，从选场景到用出习惯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把每一次落地都跑成同一套可复制的闭环 —— FDE 全程在场，每一步都动手、都交付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1248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12922" y="2084832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059" y="2217969"/>
            <a:ext cx="245791" cy="24579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267004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场景诊断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41248" y="2980944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陪你选高频高量、可量化、能立刻见效的场景。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27322" y="2286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374794" y="1828800"/>
            <a:ext cx="3442106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649114" y="2103120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4649114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920789" y="2084832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925" y="2217969"/>
            <a:ext cx="245791" cy="24579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49114" y="267004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选型验证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4649114" y="2980944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按场景选模型、做 PoC，用数据验证真实效果。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835189" y="2286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8182661" y="1828800"/>
            <a:ext cx="3442106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456981" y="2103120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8456981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10728655" y="2084832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1792" y="2217969"/>
            <a:ext cx="245791" cy="24579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56981" y="2670048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搭建集成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8456981" y="2980944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现场搭助理、接知识库与系统（RAG / MCP）。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66928" y="3529584"/>
            <a:ext cx="3442106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7"/>
          <p:cNvSpPr/>
          <p:nvPr/>
        </p:nvSpPr>
        <p:spPr>
          <a:xfrm>
            <a:off x="841248" y="3803904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841248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3112922" y="3785616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059" y="3918753"/>
            <a:ext cx="245791" cy="24579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41248" y="4370832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</a:t>
            </a:r>
            <a:endParaRPr lang="en-US" sz="1550" dirty="0"/>
          </a:p>
        </p:txBody>
      </p:sp>
      <p:sp>
        <p:nvSpPr>
          <p:cNvPr id="37" name="Text 31"/>
          <p:cNvSpPr/>
          <p:nvPr/>
        </p:nvSpPr>
        <p:spPr>
          <a:xfrm>
            <a:off x="841248" y="4681728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落数据分级、私有化部署、安全护栏与审计。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027322" y="398678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3"/>
          <p:cNvSpPr/>
          <p:nvPr/>
        </p:nvSpPr>
        <p:spPr>
          <a:xfrm>
            <a:off x="4374794" y="3529584"/>
            <a:ext cx="3442106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4"/>
          <p:cNvSpPr/>
          <p:nvPr/>
        </p:nvSpPr>
        <p:spPr>
          <a:xfrm>
            <a:off x="4649114" y="3803904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5"/>
          <p:cNvSpPr/>
          <p:nvPr/>
        </p:nvSpPr>
        <p:spPr>
          <a:xfrm>
            <a:off x="4649114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6920789" y="3785616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925" y="3918753"/>
            <a:ext cx="245791" cy="245791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649114" y="4370832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陪跑赋能</a:t>
            </a:r>
            <a:endParaRPr lang="en-US" sz="1550" dirty="0"/>
          </a:p>
        </p:txBody>
      </p:sp>
      <p:sp>
        <p:nvSpPr>
          <p:cNvPr id="45" name="Text 38"/>
          <p:cNvSpPr/>
          <p:nvPr/>
        </p:nvSpPr>
        <p:spPr>
          <a:xfrm>
            <a:off x="4649114" y="4681728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驻场带教、把使用变成习惯，扶你的团队上手。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7835189" y="3986784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47" name="Shape 40"/>
          <p:cNvSpPr/>
          <p:nvPr/>
        </p:nvSpPr>
        <p:spPr>
          <a:xfrm>
            <a:off x="8182661" y="3529584"/>
            <a:ext cx="3442106" cy="1517904"/>
          </a:xfrm>
          <a:prstGeom prst="roundRect">
            <a:avLst>
              <a:gd name="adj" fmla="val 5422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1"/>
          <p:cNvSpPr/>
          <p:nvPr/>
        </p:nvSpPr>
        <p:spPr>
          <a:xfrm>
            <a:off x="8456981" y="3803904"/>
            <a:ext cx="457200" cy="457200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2"/>
          <p:cNvSpPr/>
          <p:nvPr/>
        </p:nvSpPr>
        <p:spPr>
          <a:xfrm>
            <a:off x="8456981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50" name="Shape 43"/>
          <p:cNvSpPr/>
          <p:nvPr/>
        </p:nvSpPr>
        <p:spPr>
          <a:xfrm>
            <a:off x="10728655" y="3785616"/>
            <a:ext cx="512064" cy="512064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1792" y="3918753"/>
            <a:ext cx="245791" cy="245791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8456981" y="4370832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规模沉淀</a:t>
            </a:r>
            <a:endParaRPr lang="en-US" sz="1550" dirty="0"/>
          </a:p>
        </p:txBody>
      </p:sp>
      <p:sp>
        <p:nvSpPr>
          <p:cNvPr id="53" name="Text 45"/>
          <p:cNvSpPr/>
          <p:nvPr/>
        </p:nvSpPr>
        <p:spPr>
          <a:xfrm>
            <a:off x="8456981" y="4681728"/>
            <a:ext cx="29300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复制到相邻岗位，沉淀技能与组织资产。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566928" y="5394960"/>
            <a:ext cx="11057839" cy="658368"/>
          </a:xfrm>
          <a:prstGeom prst="roundRect">
            <a:avLst>
              <a:gd name="adj" fmla="val 12500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47"/>
          <p:cNvSpPr/>
          <p:nvPr/>
        </p:nvSpPr>
        <p:spPr>
          <a:xfrm>
            <a:off x="566928" y="5394960"/>
            <a:ext cx="91440" cy="65836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48"/>
          <p:cNvSpPr/>
          <p:nvPr/>
        </p:nvSpPr>
        <p:spPr>
          <a:xfrm>
            <a:off x="932688" y="539496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不是给你一份顾问 PPT   </a:t>
            </a:r>
            <a:r>
              <a:rPr lang="en-US" sz="12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每一步都在你现场动手、交付、陪你验证 —— 对「跑通、用起来」负责，而不是对「讲清楚」负责。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案例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FDE 陪跑，把 AI 装进电网生产一线（示意）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某省级电网公司 · 生产技术部 / 数据中心（示意）—— 关基与生产网隔离场景下，FDE 怎么把 AI 真正落地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69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82296" cy="6035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7824" y="1737360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 · 挑战   </a:t>
            </a:r>
            <a:r>
              <a:rPr lang="en-US" sz="11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规程预案上千册、缺陷研判靠老师傅、生产网与外网物理隔离 —— 通用云端 AI 用不了，试点一直落不了地。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怎么落地 · 8 周跑通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2743200"/>
            <a:ext cx="2490140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4672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70684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66" y="3072750"/>
            <a:ext cx="237012" cy="2370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4672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进场诊断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4672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驻场选定「规程问答 + 缺陷研判」两个高频场景，划清内网边界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309364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422828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3422828" y="2743200"/>
            <a:ext cx="2490140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3660572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660572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26584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965" y="3072750"/>
            <a:ext cx="237012" cy="2370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660572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私有化搭建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3660572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生产网内网部署轻量 / 专用模型，规程台账灌进知识库、接巡检系统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594954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278728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7"/>
          <p:cNvSpPr/>
          <p:nvPr/>
        </p:nvSpPr>
        <p:spPr>
          <a:xfrm>
            <a:off x="6278728" y="2743200"/>
            <a:ext cx="2490140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8"/>
          <p:cNvSpPr/>
          <p:nvPr/>
        </p:nvSpPr>
        <p:spPr>
          <a:xfrm>
            <a:off x="6516472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6516472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7982483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865" y="3072750"/>
            <a:ext cx="237012" cy="23701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516472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调优陪跑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6516472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对着一线真实工单调准效果，带教运维 / 安监班组每天用</a:t>
            </a:r>
            <a:endParaRPr lang="en-US" sz="920" dirty="0"/>
          </a:p>
        </p:txBody>
      </p:sp>
      <p:sp>
        <p:nvSpPr>
          <p:cNvPr id="38" name="Text 33"/>
          <p:cNvSpPr/>
          <p:nvPr/>
        </p:nvSpPr>
        <p:spPr>
          <a:xfrm>
            <a:off x="8805443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9134627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5"/>
          <p:cNvSpPr/>
          <p:nvPr/>
        </p:nvSpPr>
        <p:spPr>
          <a:xfrm>
            <a:off x="9134627" y="2743200"/>
            <a:ext cx="2490140" cy="73152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6"/>
          <p:cNvSpPr/>
          <p:nvPr/>
        </p:nvSpPr>
        <p:spPr>
          <a:xfrm>
            <a:off x="9372371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9372371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10838383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765" y="3072750"/>
            <a:ext cx="237012" cy="23701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372371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沉淀扩面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9372371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把老师傅经验沉淀成可复用知识，复制到相邻变电站与班组</a:t>
            </a:r>
            <a:endParaRPr lang="en-US" sz="920" dirty="0"/>
          </a:p>
        </p:txBody>
      </p:sp>
      <p:sp>
        <p:nvSpPr>
          <p:cNvPr id="47" name="Shape 41"/>
          <p:cNvSpPr/>
          <p:nvPr/>
        </p:nvSpPr>
        <p:spPr>
          <a:xfrm>
            <a:off x="566928" y="4517136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2"/>
          <p:cNvSpPr/>
          <p:nvPr/>
        </p:nvSpPr>
        <p:spPr>
          <a:xfrm>
            <a:off x="566928" y="4517136"/>
            <a:ext cx="82296" cy="93268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877824" y="4517136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成效（示意）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2615184" y="4681728"/>
            <a:ext cx="0" cy="603504"/>
          </a:xfrm>
          <a:prstGeom prst="line">
            <a:avLst/>
          </a:prstGeom>
          <a:noFill/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5"/>
          <p:cNvSpPr/>
          <p:nvPr/>
        </p:nvSpPr>
        <p:spPr>
          <a:xfrm>
            <a:off x="2852928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70%+</a:t>
            </a:r>
            <a:endParaRPr lang="en-US" sz="2200" dirty="0"/>
          </a:p>
        </p:txBody>
      </p:sp>
      <p:sp>
        <p:nvSpPr>
          <p:cNvPr id="52" name="Text 46"/>
          <p:cNvSpPr/>
          <p:nvPr/>
        </p:nvSpPr>
        <p:spPr>
          <a:xfrm>
            <a:off x="2852928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规程查阅提速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4977308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周</a:t>
            </a:r>
            <a:endParaRPr lang="en-US" sz="2200" dirty="0"/>
          </a:p>
        </p:txBody>
      </p:sp>
      <p:sp>
        <p:nvSpPr>
          <p:cNvPr id="54" name="Text 48"/>
          <p:cNvSpPr/>
          <p:nvPr/>
        </p:nvSpPr>
        <p:spPr>
          <a:xfrm>
            <a:off x="4977308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 → 内网上线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7101688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漏判↓</a:t>
            </a:r>
            <a:endParaRPr lang="en-US" sz="2200" dirty="0"/>
          </a:p>
        </p:txBody>
      </p:sp>
      <p:sp>
        <p:nvSpPr>
          <p:cNvPr id="56" name="Text 50"/>
          <p:cNvSpPr/>
          <p:nvPr/>
        </p:nvSpPr>
        <p:spPr>
          <a:xfrm>
            <a:off x="7101688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缺陷研判更稳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9226067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2200" dirty="0"/>
          </a:p>
        </p:txBody>
      </p:sp>
      <p:sp>
        <p:nvSpPr>
          <p:cNvPr id="58" name="Text 52"/>
          <p:cNvSpPr/>
          <p:nvPr/>
        </p:nvSpPr>
        <p:spPr>
          <a:xfrm>
            <a:off x="9226067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经验沉淀成知识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66928" y="5541264"/>
            <a:ext cx="11057839" cy="493776"/>
          </a:xfrm>
          <a:prstGeom prst="roundRect">
            <a:avLst>
              <a:gd name="adj" fmla="val 1666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4"/>
          <p:cNvSpPr/>
          <p:nvPr/>
        </p:nvSpPr>
        <p:spPr>
          <a:xfrm>
            <a:off x="566928" y="5541264"/>
            <a:ext cx="11057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最难的不是模型，是能不能在我们内网里、贴着现场用起来 —— FDE 把这件事真正落了地。</a:t>
            </a:r>
            <a:r>
              <a:rPr lang="en-US" sz="115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」  —— 生产技术部负责人（示意）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案例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· FDE 陪跑，把 AI 推到全行每个业务岗（示意）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某全国性股份制银行 · 科技部牵头（示意）—— 从科技部试点到全行铺开，FDE 怎么把 AI 推得动、管得住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57839" cy="603504"/>
          </a:xfrm>
          <a:prstGeom prst="roundRect">
            <a:avLst>
              <a:gd name="adj" fmla="val 13636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737360"/>
            <a:ext cx="82296" cy="603504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7824" y="1737360"/>
            <a:ext cx="1041775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 · 挑战   </a:t>
            </a:r>
            <a:r>
              <a:rPr lang="en-US" sz="110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想全行推 AI，但科技部忙不过来、业务岗不会用、合规怕出事 —— 试点停在几个部门，推不开。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432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怎么落地 · 12 周从试点到全行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6928" y="2743200"/>
            <a:ext cx="2490140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04672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4672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70684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066" y="3072750"/>
            <a:ext cx="237012" cy="2370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4672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盘点选场景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4672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驻场盘点全行高频活，选投研速读 / 合规问答 / 信贷材料先推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309364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422828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3422828" y="2743200"/>
            <a:ext cx="2490140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3660572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3660572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26584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965" y="3072750"/>
            <a:ext cx="237012" cy="23701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660572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私有化搭建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3660572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行内私有化部署 + 制度研报知识库，按岗分级授权、数据不出行</a:t>
            </a:r>
            <a:endParaRPr lang="en-US" sz="920" dirty="0"/>
          </a:p>
        </p:txBody>
      </p:sp>
      <p:sp>
        <p:nvSpPr>
          <p:cNvPr id="29" name="Text 25"/>
          <p:cNvSpPr/>
          <p:nvPr/>
        </p:nvSpPr>
        <p:spPr>
          <a:xfrm>
            <a:off x="5949544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6278728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7"/>
          <p:cNvSpPr/>
          <p:nvPr/>
        </p:nvSpPr>
        <p:spPr>
          <a:xfrm>
            <a:off x="6278728" y="2743200"/>
            <a:ext cx="2490140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8"/>
          <p:cNvSpPr/>
          <p:nvPr/>
        </p:nvSpPr>
        <p:spPr>
          <a:xfrm>
            <a:off x="6516472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6516472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7982483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865" y="3072750"/>
            <a:ext cx="237012" cy="23701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516472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带教陪跑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6516472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培训各条线「AI 冠军」、手把手带业务岗每天用，沉淀提示词库</a:t>
            </a:r>
            <a:endParaRPr lang="en-US" sz="920" dirty="0"/>
          </a:p>
        </p:txBody>
      </p:sp>
      <p:sp>
        <p:nvSpPr>
          <p:cNvPr id="38" name="Text 33"/>
          <p:cNvSpPr/>
          <p:nvPr/>
        </p:nvSpPr>
        <p:spPr>
          <a:xfrm>
            <a:off x="8805443" y="32918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4"/>
          <p:cNvSpPr/>
          <p:nvPr/>
        </p:nvSpPr>
        <p:spPr>
          <a:xfrm>
            <a:off x="9134627" y="2743200"/>
            <a:ext cx="249014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5"/>
          <p:cNvSpPr/>
          <p:nvPr/>
        </p:nvSpPr>
        <p:spPr>
          <a:xfrm>
            <a:off x="9134627" y="2743200"/>
            <a:ext cx="2490140" cy="73152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6"/>
          <p:cNvSpPr/>
          <p:nvPr/>
        </p:nvSpPr>
        <p:spPr>
          <a:xfrm>
            <a:off x="9372371" y="2962656"/>
            <a:ext cx="438912" cy="438912"/>
          </a:xfrm>
          <a:prstGeom prst="ellipse">
            <a:avLst/>
          </a:prstGeom>
          <a:solidFill>
            <a:srgbClr val="0C254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9372371" y="2953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10838383" y="2944368"/>
            <a:ext cx="493776" cy="493776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765" y="3072750"/>
            <a:ext cx="237012" cy="23701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372371" y="3511296"/>
            <a:ext cx="203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治理扩面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9372371" y="3803904"/>
            <a:ext cx="20329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立数据分级红线与审计，把跑通的场景复制到全行各条线</a:t>
            </a:r>
            <a:endParaRPr lang="en-US" sz="920" dirty="0"/>
          </a:p>
        </p:txBody>
      </p:sp>
      <p:sp>
        <p:nvSpPr>
          <p:cNvPr id="47" name="Shape 41"/>
          <p:cNvSpPr/>
          <p:nvPr/>
        </p:nvSpPr>
        <p:spPr>
          <a:xfrm>
            <a:off x="566928" y="4517136"/>
            <a:ext cx="11057839" cy="932688"/>
          </a:xfrm>
          <a:prstGeom prst="roundRect">
            <a:avLst>
              <a:gd name="adj" fmla="val 8824"/>
            </a:avLst>
          </a:prstGeom>
          <a:solidFill>
            <a:srgbClr val="EEF3F9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2"/>
          <p:cNvSpPr/>
          <p:nvPr/>
        </p:nvSpPr>
        <p:spPr>
          <a:xfrm>
            <a:off x="566928" y="4517136"/>
            <a:ext cx="82296" cy="93268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3"/>
          <p:cNvSpPr/>
          <p:nvPr/>
        </p:nvSpPr>
        <p:spPr>
          <a:xfrm>
            <a:off x="877824" y="4517136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成效（示意）</a:t>
            </a:r>
            <a:endParaRPr lang="en-US" sz="1250" dirty="0"/>
          </a:p>
        </p:txBody>
      </p:sp>
      <p:sp>
        <p:nvSpPr>
          <p:cNvPr id="50" name="Shape 44"/>
          <p:cNvSpPr/>
          <p:nvPr/>
        </p:nvSpPr>
        <p:spPr>
          <a:xfrm>
            <a:off x="2615184" y="4681728"/>
            <a:ext cx="0" cy="603504"/>
          </a:xfrm>
          <a:prstGeom prst="line">
            <a:avLst/>
          </a:prstGeom>
          <a:noFill/>
          <a:ln w="12700">
            <a:solidFill>
              <a:srgbClr val="DEE7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5"/>
          <p:cNvSpPr/>
          <p:nvPr/>
        </p:nvSpPr>
        <p:spPr>
          <a:xfrm>
            <a:off x="2852928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30%+</a:t>
            </a:r>
            <a:endParaRPr lang="en-US" sz="2200" dirty="0"/>
          </a:p>
        </p:txBody>
      </p:sp>
      <p:sp>
        <p:nvSpPr>
          <p:cNvPr id="52" name="Text 46"/>
          <p:cNvSpPr/>
          <p:nvPr/>
        </p:nvSpPr>
        <p:spPr>
          <a:xfrm>
            <a:off x="2852928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材料与问答提效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4977308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周</a:t>
            </a:r>
            <a:endParaRPr lang="en-US" sz="2200" dirty="0"/>
          </a:p>
        </p:txBody>
      </p:sp>
      <p:sp>
        <p:nvSpPr>
          <p:cNvPr id="54" name="Text 48"/>
          <p:cNvSpPr/>
          <p:nvPr/>
        </p:nvSpPr>
        <p:spPr>
          <a:xfrm>
            <a:off x="4977308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 → 全行推开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7101688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多条线</a:t>
            </a:r>
            <a:endParaRPr lang="en-US" sz="2200" dirty="0"/>
          </a:p>
        </p:txBody>
      </p:sp>
      <p:sp>
        <p:nvSpPr>
          <p:cNvPr id="56" name="Text 50"/>
          <p:cNvSpPr/>
          <p:nvPr/>
        </p:nvSpPr>
        <p:spPr>
          <a:xfrm>
            <a:off x="7101688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科技部到业务岗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9226067" y="4626864"/>
            <a:ext cx="194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零外泄</a:t>
            </a:r>
            <a:endParaRPr lang="en-US" sz="2200" dirty="0"/>
          </a:p>
        </p:txBody>
      </p:sp>
      <p:sp>
        <p:nvSpPr>
          <p:cNvPr id="58" name="Text 52"/>
          <p:cNvSpPr/>
          <p:nvPr/>
        </p:nvSpPr>
        <p:spPr>
          <a:xfrm>
            <a:off x="9226067" y="5084064"/>
            <a:ext cx="203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分级管控不出域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66928" y="5541264"/>
            <a:ext cx="11057839" cy="493776"/>
          </a:xfrm>
          <a:prstGeom prst="roundRect">
            <a:avLst>
              <a:gd name="adj" fmla="val 1666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4"/>
          <p:cNvSpPr/>
          <p:nvPr/>
        </p:nvSpPr>
        <p:spPr>
          <a:xfrm>
            <a:off x="566928" y="5541264"/>
            <a:ext cx="11057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 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买模型只是第一步 —— FDE 帮我们把「全行都用起来」这件难事，一个岗位一个岗位地啃下来。</a:t>
            </a:r>
            <a:r>
              <a:rPr lang="en-US" sz="115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」  —— 科技部负责人（示意）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更多案例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更多行业 · FDE 落地速览（示意）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同一套六步陪跑，换个行业照样跑通 —— 这些方向 FDE 也已把 AI 落到一线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91440" cy="950976"/>
          </a:xfrm>
          <a:prstGeom prst="rect">
            <a:avLst/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7824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23774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核保理赔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35808" y="1993392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273552" y="1847088"/>
            <a:ext cx="65224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  </a:t>
            </a: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把核保规则 / 病历要素喂进知识库，私有化调准、带教核保员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60559" y="2084832"/>
            <a:ext cx="1463040" cy="475488"/>
          </a:xfrm>
          <a:prstGeom prst="roundRect">
            <a:avLst>
              <a:gd name="adj" fmla="val 50000"/>
            </a:avLst>
          </a:prstGeom>
          <a:solidFill>
            <a:srgbClr val="1A4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960559" y="20848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件均提效 60%+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926080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66928" y="2926080"/>
            <a:ext cx="91440" cy="95097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77824" y="3090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7824" y="34564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机务放行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35808" y="3072384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273552" y="2926080"/>
            <a:ext cx="65224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  </a:t>
            </a: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在安全边界内做手册问答 / MRO，跨手册验证可靠再上线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60559" y="3163824"/>
            <a:ext cx="1463040" cy="47548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960559" y="31638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查阅提速 65%+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005072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66928" y="4005072"/>
            <a:ext cx="91440" cy="950976"/>
          </a:xfrm>
          <a:prstGeom prst="rect">
            <a:avLst/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7824" y="4169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农商行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" y="45354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支农支小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35808" y="4151376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273552" y="4005072"/>
            <a:ext cx="65224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8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  </a:t>
            </a: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轻量本地部署、把授信政策灌库，手把手带客户经理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60559" y="4242816"/>
            <a:ext cx="1463040" cy="475488"/>
          </a:xfrm>
          <a:prstGeom prst="roundRect">
            <a:avLst>
              <a:gd name="adj" fmla="val 50000"/>
            </a:avLst>
          </a:prstGeom>
          <a:solidFill>
            <a:srgbClr val="2C80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960559" y="42428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初审快 5 倍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084064"/>
            <a:ext cx="11057839" cy="950976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66928" y="5084064"/>
            <a:ext cx="91440" cy="95097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7824" y="52486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科技研发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77824" y="56144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研发提效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035808" y="5230368"/>
            <a:ext cx="0" cy="658368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273552" y="5084064"/>
            <a:ext cx="65224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  </a:t>
            </a: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结对编程 / AIOps 接进 CI/CD 流水线，度量提效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60559" y="5321808"/>
            <a:ext cx="1463040" cy="475488"/>
          </a:xfrm>
          <a:prstGeom prst="roundRect">
            <a:avLst>
              <a:gd name="adj" fmla="val 50000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960559" y="53218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研发提效 30%+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边界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的边界：做什么、不做什么、和你怎么分工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边界清晰，合作才长久 —— FDE 补位不越位；扶上马、送一程，最终让你自己能跑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53003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3C8C68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5300320" cy="566928"/>
          </a:xfrm>
          <a:prstGeom prst="roundRect">
            <a:avLst>
              <a:gd name="adj" fmla="val 14516"/>
            </a:avLst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66928" y="2176272"/>
            <a:ext cx="5300320" cy="219456"/>
          </a:xfrm>
          <a:prstGeom prst="rect">
            <a:avLst/>
          </a:prstGeom>
          <a:solidFill>
            <a:srgbClr val="3C8C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6112" y="1828800"/>
            <a:ext cx="466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FDE 负责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96112" y="261518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596896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诊断场景、选型验证、搭建集成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32918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273552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调优知识库与效果、接你的系统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39684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950208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培训陪跑，把使用变成习惯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46451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8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62686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把经验沉淀成你的资产、教会你的团队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24448" y="1828800"/>
            <a:ext cx="53003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B43A3A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324448" y="1828800"/>
            <a:ext cx="5300320" cy="566928"/>
          </a:xfrm>
          <a:prstGeom prst="roundRect">
            <a:avLst>
              <a:gd name="adj" fmla="val 14516"/>
            </a:avLst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324448" y="2176272"/>
            <a:ext cx="5300320" cy="21945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53632" y="1828800"/>
            <a:ext cx="466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 FDE 不做（边界）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53632" y="261518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37680" y="2596896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不替你做业务决策与拍板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53632" y="329184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37680" y="3273552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不碰你未授权的数据、不越安全红线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53632" y="39684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37680" y="3950208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不锁定你只能用商汤（Agent 开放、Token 按量）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53632" y="46451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37680" y="4626864"/>
            <a:ext cx="429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不无限期驻场当外包、不替代你的团队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541264"/>
            <a:ext cx="11057839" cy="493776"/>
          </a:xfrm>
          <a:prstGeom prst="roundRect">
            <a:avLst>
              <a:gd name="adj" fmla="val 16667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566928" y="5541264"/>
            <a:ext cx="91440" cy="49377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932688" y="5541264"/>
            <a:ext cx="1032631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分工原则   </a:t>
            </a:r>
            <a:r>
              <a:rPr lang="en-US" sz="1150" dirty="0">
                <a:solidFill>
                  <a:srgbClr val="E6ED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「扶上马、送一程」—— FDE 是加速器，不是长期拐杖；最终你的团队能独立驾驭 AI。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合作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77724" cy="420624"/>
          </a:xfrm>
          <a:prstGeom prst="roundRect">
            <a:avLst>
              <a:gd name="adj" fmla="val 47059"/>
            </a:avLst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" y="640080"/>
            <a:ext cx="108566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三种合作模式，从一个场景起步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68096" y="1225296"/>
            <a:ext cx="10856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E7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无论你想先轻量试水、还是深度共建、还是私有化规模化 —— 都有一条对应的路径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r>
              <a:rPr lang="en-US" sz="900" dirty="0">
                <a:solidFill>
                  <a:srgbClr val="9AA6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344210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3442106" cy="82296"/>
          </a:xfrm>
          <a:prstGeom prst="rect">
            <a:avLst/>
          </a:prstGeom>
          <a:solidFill>
            <a:srgbClr val="2C649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536" y="2139696"/>
            <a:ext cx="658368" cy="65836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95" y="2317455"/>
            <a:ext cx="302849" cy="3028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64208" y="2286000"/>
            <a:ext cx="2161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轻量起步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9536" y="3054096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开通账号 / Token，按量计费，先把 AI 用起来。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9536" y="3730752"/>
            <a:ext cx="2856890" cy="384048"/>
          </a:xfrm>
          <a:prstGeom prst="roundRect">
            <a:avLst>
              <a:gd name="adj" fmla="val 50000"/>
            </a:avLst>
          </a:prstGeom>
          <a:ln w="12700">
            <a:solidFill>
              <a:srgbClr val="2C649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9536" y="3730752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64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最低门槛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74794" y="1828800"/>
            <a:ext cx="3442106" cy="2468880"/>
          </a:xfrm>
          <a:prstGeom prst="roundRect">
            <a:avLst>
              <a:gd name="adj" fmla="val 3333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374794" y="1828800"/>
            <a:ext cx="3442106" cy="82296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4667402" y="2139696"/>
            <a:ext cx="658368" cy="658368"/>
          </a:xfrm>
          <a:prstGeom prst="ellipse">
            <a:avLst/>
          </a:prstGeom>
          <a:solidFill>
            <a:srgbClr val="16365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162" y="2317455"/>
            <a:ext cx="302849" cy="30284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72074" y="2286000"/>
            <a:ext cx="2161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场景共建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667402" y="3054096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陪跑，选 1–2 个场景搭助理、跑通闭环。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67402" y="3730752"/>
            <a:ext cx="2856890" cy="384048"/>
          </a:xfrm>
          <a:prstGeom prst="roundRect">
            <a:avLst>
              <a:gd name="adj" fmla="val 50000"/>
            </a:avLst>
          </a:prstGeom>
          <a:solidFill>
            <a:srgbClr val="C2A14B"/>
          </a:solidFill>
          <a:ln w="12700">
            <a:solidFill>
              <a:srgbClr val="C2A1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9"/>
          <p:cNvSpPr/>
          <p:nvPr/>
        </p:nvSpPr>
        <p:spPr>
          <a:xfrm>
            <a:off x="4667402" y="3730752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最快见效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82661" y="1828800"/>
            <a:ext cx="344210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EE7F1"/>
            </a:solidFill>
            <a:prstDash val="solid"/>
          </a:ln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8182661" y="1828800"/>
            <a:ext cx="3442106" cy="82296"/>
          </a:xfrm>
          <a:prstGeom prst="rect">
            <a:avLst/>
          </a:prstGeom>
          <a:solidFill>
            <a:srgbClr val="B43A3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2"/>
          <p:cNvSpPr/>
          <p:nvPr/>
        </p:nvSpPr>
        <p:spPr>
          <a:xfrm>
            <a:off x="8475269" y="2139696"/>
            <a:ext cx="658368" cy="658368"/>
          </a:xfrm>
          <a:prstGeom prst="ellipse">
            <a:avLst/>
          </a:prstGeom>
          <a:solidFill>
            <a:srgbClr val="EEF3F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028" y="2317455"/>
            <a:ext cx="302849" cy="30284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279941" y="2286000"/>
            <a:ext cx="21619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2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 · 规模化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8475269" y="3054096"/>
            <a:ext cx="28934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3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本地私有化部署 + 组织级治理，规模化推广。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475269" y="3730752"/>
            <a:ext cx="2856890" cy="384048"/>
          </a:xfrm>
          <a:prstGeom prst="roundRect">
            <a:avLst>
              <a:gd name="adj" fmla="val 50000"/>
            </a:avLst>
          </a:prstGeom>
          <a:ln w="12700">
            <a:solidFill>
              <a:srgbClr val="B43A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6"/>
          <p:cNvSpPr/>
          <p:nvPr/>
        </p:nvSpPr>
        <p:spPr>
          <a:xfrm>
            <a:off x="8475269" y="3730752"/>
            <a:ext cx="28568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安全可控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66928" y="4572000"/>
            <a:ext cx="11057839" cy="1463040"/>
          </a:xfrm>
          <a:prstGeom prst="roundRect">
            <a:avLst>
              <a:gd name="adj" fmla="val 5625"/>
            </a:avLst>
          </a:prstGeom>
          <a:solidFill>
            <a:srgbClr val="0C2545"/>
          </a:solidFill>
          <a:ln/>
          <a:effectLst>
            <a:outerShdw blurRad="114300" dist="38100" dir="5400000" algn="bl" rotWithShape="0">
              <a:srgbClr val="0C254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566928" y="4572000"/>
            <a:ext cx="91440" cy="146304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/>
        </p:nvSpPr>
        <p:spPr>
          <a:xfrm>
            <a:off x="932688" y="4736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 · 三步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932688" y="5175504"/>
            <a:ext cx="402336" cy="40233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932688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1463040" y="5138928"/>
            <a:ext cx="185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选一个场景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1463040" y="5468112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挑一个最痛的高频高量场景</a:t>
            </a:r>
            <a:endParaRPr lang="en-US" sz="960" dirty="0"/>
          </a:p>
        </p:txBody>
      </p:sp>
      <p:sp>
        <p:nvSpPr>
          <p:cNvPr id="39" name="Text 34"/>
          <p:cNvSpPr/>
          <p:nvPr/>
        </p:nvSpPr>
        <p:spPr>
          <a:xfrm>
            <a:off x="3377184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5"/>
          <p:cNvSpPr/>
          <p:nvPr/>
        </p:nvSpPr>
        <p:spPr>
          <a:xfrm>
            <a:off x="3706368" y="5175504"/>
            <a:ext cx="402336" cy="40233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6"/>
          <p:cNvSpPr/>
          <p:nvPr/>
        </p:nvSpPr>
        <p:spPr>
          <a:xfrm>
            <a:off x="3706368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4236720" y="5138928"/>
            <a:ext cx="185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两周试点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4236720" y="5468112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搭助理、跑通、用数据验证</a:t>
            </a:r>
            <a:endParaRPr lang="en-US" sz="960" dirty="0"/>
          </a:p>
        </p:txBody>
      </p:sp>
      <p:sp>
        <p:nvSpPr>
          <p:cNvPr id="44" name="Text 39"/>
          <p:cNvSpPr/>
          <p:nvPr/>
        </p:nvSpPr>
        <p:spPr>
          <a:xfrm>
            <a:off x="6150864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A1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0"/>
          <p:cNvSpPr/>
          <p:nvPr/>
        </p:nvSpPr>
        <p:spPr>
          <a:xfrm>
            <a:off x="6480048" y="5175504"/>
            <a:ext cx="402336" cy="402336"/>
          </a:xfrm>
          <a:prstGeom prst="ellipse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6480048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7010400" y="5138928"/>
            <a:ext cx="185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达标即扩面</a:t>
            </a:r>
            <a:endParaRPr lang="en-US" sz="1350" dirty="0"/>
          </a:p>
        </p:txBody>
      </p:sp>
      <p:sp>
        <p:nvSpPr>
          <p:cNvPr id="48" name="Text 43"/>
          <p:cNvSpPr/>
          <p:nvPr/>
        </p:nvSpPr>
        <p:spPr>
          <a:xfrm>
            <a:off x="7010400" y="5468112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复制到相邻岗位，规模推广</a:t>
            </a:r>
            <a:endParaRPr lang="en-US" sz="960" dirty="0"/>
          </a:p>
        </p:txBody>
      </p:sp>
      <p:sp>
        <p:nvSpPr>
          <p:cNvPr id="49" name="Shape 44"/>
          <p:cNvSpPr/>
          <p:nvPr/>
        </p:nvSpPr>
        <p:spPr>
          <a:xfrm>
            <a:off x="9162288" y="4828032"/>
            <a:ext cx="0" cy="100584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5"/>
          <p:cNvSpPr/>
          <p:nvPr/>
        </p:nvSpPr>
        <p:spPr>
          <a:xfrm>
            <a:off x="9436608" y="4864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与我们联系</a:t>
            </a:r>
            <a:endParaRPr lang="en-US" sz="1250" dirty="0"/>
          </a:p>
        </p:txBody>
      </p:sp>
      <p:sp>
        <p:nvSpPr>
          <p:cNvPr id="51" name="Text 46"/>
          <p:cNvSpPr/>
          <p:nvPr/>
        </p:nvSpPr>
        <p:spPr>
          <a:xfrm>
            <a:off x="9436608" y="517550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商汤科技 · 大模型事业群 —— 一起选场景、搭助理、把 AI 跑起来。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2C6498">
              <a:alpha val="14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4023360" cy="4023360"/>
          </a:xfrm>
          <a:prstGeom prst="ellipse">
            <a:avLst/>
          </a:prstGeom>
          <a:solidFill>
            <a:srgbClr val="C2A14B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66928" y="6455664"/>
            <a:ext cx="9594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用好 AI   |   商汤科技 · 大模型事业群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0253167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r>
              <a:rPr lang="en-US" sz="90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74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868680"/>
            <a:ext cx="1554480" cy="41148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 AI，是这个时代最划算的投资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它不要求你成为技术专家 —— 只要求你愿意开始、愿意每天用一点点。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3442106" cy="1371600"/>
          </a:xfrm>
          <a:prstGeom prst="roundRect">
            <a:avLst>
              <a:gd name="adj" fmla="val 600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73152" cy="13716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9536" y="3236976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59536" y="3712464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把它当随叫随到的实习生，从今天用起来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4794" y="3017520"/>
            <a:ext cx="3442106" cy="1371600"/>
          </a:xfrm>
          <a:prstGeom prst="roundRect">
            <a:avLst>
              <a:gd name="adj" fmla="val 600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374794" y="3017520"/>
            <a:ext cx="73152" cy="13716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667402" y="3236976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事事都能更高效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7402" y="3712464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围绕你的真实业务，先跑通一两个场景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2661" y="3017520"/>
            <a:ext cx="3442106" cy="1371600"/>
          </a:xfrm>
          <a:prstGeom prst="roundRect">
            <a:avLst>
              <a:gd name="adj" fmla="val 6000"/>
            </a:avLst>
          </a:prstGeom>
          <a:solidFill>
            <a:srgbClr val="12365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182661" y="3017520"/>
            <a:ext cx="73152" cy="137160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475269" y="3236976"/>
            <a:ext cx="28934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处处守住安全线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75269" y="3712464"/>
            <a:ext cx="28934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在合规底线内用 —— 安全，才能用得久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736592"/>
            <a:ext cx="11057839" cy="1024128"/>
          </a:xfrm>
          <a:prstGeom prst="roundRect">
            <a:avLst>
              <a:gd name="adj" fmla="val 8036"/>
            </a:avLst>
          </a:prstGeom>
          <a:solidFill>
            <a:srgbClr val="0A1F3A"/>
          </a:solidFill>
          <a:ln w="12700">
            <a:solidFill>
              <a:srgbClr val="2C4A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32688" y="4736592"/>
            <a:ext cx="1032631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0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在座的 </a:t>
            </a: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· 农商行 · 保险 · 航空 · 能源电网 与 科技研发 团队 —— </a:t>
            </a:r>
            <a:r>
              <a:rPr lang="en-US" sz="1250" dirty="0">
                <a:solidFill>
                  <a:srgbClr val="C9D6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行业各异，但把 AI 用好的方法相通。期待与各位一起，把它真正用进你的每一天。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377440"/>
            <a:ext cx="7315200" cy="7315200"/>
          </a:xfrm>
          <a:prstGeom prst="ellipse">
            <a:avLst/>
          </a:prstGeom>
          <a:solidFill>
            <a:srgbClr val="2C6498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9692640" y="2926080"/>
            <a:ext cx="4572000" cy="4572000"/>
          </a:xfrm>
          <a:prstGeom prst="ellipse">
            <a:avLst/>
          </a:prstGeom>
          <a:solidFill>
            <a:srgbClr val="C2A14B">
              <a:alpha val="11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778240" y="640080"/>
            <a:ext cx="4389120" cy="4389120"/>
          </a:xfrm>
          <a:prstGeom prst="ellipse">
            <a:avLst/>
          </a:prstGeom>
          <a:noFill/>
          <a:ln w="12700">
            <a:solidFill>
              <a:srgbClr val="7AA0C4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85216" y="2468880"/>
            <a:ext cx="1554480" cy="45720"/>
          </a:xfrm>
          <a:prstGeom prst="rect">
            <a:avLst/>
          </a:prstGeom>
          <a:solidFill>
            <a:srgbClr val="C2A1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66928" y="26700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4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312724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66928" y="41696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D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现在，打开你的 AI 助理 —— 把今天的第一个任务，交给它。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11057839" cy="0"/>
          </a:xfrm>
          <a:prstGeom prst="line">
            <a:avLst/>
          </a:prstGeom>
          <a:noFill/>
          <a:ln w="12700">
            <a:solidFill>
              <a:srgbClr val="2946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66928" y="51755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韩启微 · 商汤科技 副总裁 / 大模型商业化及生态负责人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5595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 AI 助理 —— 看清趋势 · 选对工具 · 亲手搭建 · </a:t>
            </a:r>
            <a:r>
              <a:rPr lang="en-US" sz="1050" dirty="0" err="1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</a:t>
            </a:r>
            <a:r>
              <a:rPr lang="en-US" sz="1050" dirty="0">
                <a:solidFill>
                  <a:srgbClr val="7F96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   ·   2026.07</a:t>
            </a:r>
            <a:endParaRPr lang="en-US" sz="1050" dirty="0"/>
          </a:p>
        </p:txBody>
      </p:sp>
      <p:pic>
        <p:nvPicPr>
          <p:cNvPr id="1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5486400"/>
            <a:ext cx="1828800" cy="51428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DC38F81-E4F8-7589-72AE-5C9082725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6700" y="1816862"/>
            <a:ext cx="1816100" cy="181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8329</Words>
  <Application>Microsoft Macintosh PowerPoint</Application>
  <PresentationFormat>宽屏</PresentationFormat>
  <Paragraphs>1918</Paragraphs>
  <Slides>76</Slides>
  <Notes>76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79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商汤科技 SenseTime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人人都有 AI 助理 —— 看清趋势 · 选对工具 · 亲手搭建 · 用好 AI</dc:title>
  <dc:subject>PptxGenJS Presentation</dc:subject>
  <dc:creator>商汤科技 · 大模型事业群</dc:creator>
  <cp:lastModifiedBy>韩启微</cp:lastModifiedBy>
  <cp:revision>5</cp:revision>
  <dcterms:created xsi:type="dcterms:W3CDTF">2026-07-01T13:47:30Z</dcterms:created>
  <dcterms:modified xsi:type="dcterms:W3CDTF">2026-07-09T02:01:18Z</dcterms:modified>
</cp:coreProperties>
</file>